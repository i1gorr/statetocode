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50b010f-0230-cba9-0e0d-758295282b2c}">
          <p14:sldIdLst>
            <p14:sldId id="256"/>
          </p14:sldIdLst>
        </p14:section>
        <p14:section name="Problem" id="{d6d946d9-7e19-eef2-20d3-d62bded30adf}">
          <p14:sldIdLst>
            <p14:sldId id="257"/>
          </p14:sldIdLst>
        </p14:section>
        <p14:section name="System" id="{b43b2cc7-bbcc-8f21-0cb1-a9693fdeaa32}">
          <p14:sldIdLst>
            <p14:sldId id="258"/>
            <p14:sldId id="259"/>
          </p14:sldIdLst>
        </p14:section>
        <p14:section name="Detection" id="{e78e5925-b708-a31d-0818-13eac073744e}">
          <p14:sldIdLst>
            <p14:sldId id="260"/>
            <p14:sldId id="261"/>
          </p14:sldIdLst>
        </p14:section>
        <p14:section name="Strokes" id="{05db93cc-b301-22e0-7f19-641352d2b3e7}">
          <p14:sldIdLst>
            <p14:sldId id="262"/>
            <p14:sldId id="263"/>
          </p14:sldIdLst>
        </p14:section>
        <p14:section name="Meaning" id="{6de25559-8764-1d0f-fb4e-12a5b2389421}">
          <p14:sldIdLst>
            <p14:sldId id="264"/>
            <p14:sldId id="265"/>
            <p14:sldId id="266"/>
          </p14:sldIdLst>
        </p14:section>
        <p14:section name="Code" id="{59d8cf32-8c3f-1a5a-df8c-95986e1b4d20}">
          <p14:sldIdLst>
            <p14:sldId id="267"/>
            <p14:sldId id="268"/>
            <p14:sldId id="269"/>
          </p14:sldIdLst>
        </p14:section>
        <p14:section name="Data and scoring" id="{4ddf473d-5480-d260-7495-79652adf7beb}">
          <p14:sldIdLst>
            <p14:sldId id="270"/>
            <p14:sldId id="271"/>
          </p14:sldIdLst>
        </p14:section>
        <p14:section name="Precision and recall" id="{1f3f72f3-349e-c484-abe8-ed5e1635a26c}">
          <p14:sldIdLst>
            <p14:sldId id="272"/>
            <p14:sldId id="273"/>
          </p14:sldIdLst>
        </p14:section>
        <p14:section name="Classes" id="{c2bccab2-77c1-af97-7662-68544a8ebaec}">
          <p14:sldIdLst>
            <p14:sldId id="274"/>
            <p14:sldId id="275"/>
          </p14:sldIdLst>
        </p14:section>
        <p14:section name="Training" id="{a85e5831-f093-5745-3b98-a70ff7e1b92a}">
          <p14:sldIdLst>
            <p14:sldId id="276"/>
            <p14:sldId id="277"/>
          </p14:sldIdLst>
        </p14:section>
        <p14:section name="Graph results" id="{a82b02cb-71d8-9730-ef5f-8ad3a2145de4}">
          <p14:sldIdLst>
            <p14:sldId id="278"/>
            <p14:sldId id="279"/>
            <p14:sldId id="280"/>
            <p14:sldId id="281"/>
            <p14:sldId id="282"/>
          </p14:sldIdLst>
        </p14:section>
        <p14:section name="Editor" id="{76072d3a-19e9-d79e-da9b-58560847006c}">
          <p14:sldIdLst>
            <p14:sldId id="283"/>
          </p14:sldIdLst>
        </p14:section>
        <p14:section name="Wrap-up" id="{4e8f96dd-3f9f-6dd4-40ad-7a2fbc5c627e}">
          <p14:sldIdLst>
            <p14:sldId id="284"/>
            <p14:sldId id="285"/>
            <p14:sldId id="286"/>
          </p14:sldIdLst>
        </p14:section>
        <p14:section name="Questions" id="{bfa64ab2-5c71-c60d-b324-32df2609ad15}">
          <p14:sldIdLst>
            <p14:sldId id="287"/>
            <p14:sldId id="288"/>
            <p14:sldId id="289"/>
            <p14:sldId id="290"/>
            <p14:sldId id="291"/>
            <p14:sldId id="292"/>
            <p14:sldId id="293"/>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Precision against recall</a:t>
            </a:r>
          </a:p>
        </c:rich>
      </c:tx>
      <c:layout/>
      <c:overlay val="0"/>
    </c:title>
    <c:autoTitleDeleted val="0"/>
    <c:plotArea>
      <c:layout/>
      <c:lineChart>
        <c:varyColors val="0"/>
        <c:ser>
          <c:idx val="0"/>
          <c:order val="0"/>
          <c:tx>
            <c:strRef>
              <c:f>Sheet1!$B$1</c:f>
              <c:strCache>
                <c:ptCount val="1"/>
                <c:pt idx="0">
                  <c:v>state</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Sheet1!$B$2:$B$22</c:f>
              <c:numCache>
                <c:formatCode>General</c:formatCode>
                <c:ptCount val="2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0</c:v>
                </c:pt>
              </c:numCache>
            </c:numRef>
          </c:val>
          <c:smooth val="0"/>
        </c:ser>
        <c:ser>
          <c:idx val="1"/>
          <c:order val="1"/>
          <c:tx>
            <c:strRef>
              <c:f>Sheet1!$C$1</c:f>
              <c:strCache>
                <c:ptCount val="1"/>
                <c:pt idx="0">
                  <c:v>arrow</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Sheet1!$C$2:$C$22</c:f>
              <c:numCache>
                <c:formatCode>General</c:formatCode>
                <c:ptCount val="21"/>
                <c:pt idx="0">
                  <c:v>0.9991</c:v>
                </c:pt>
                <c:pt idx="1">
                  <c:v>0.9991</c:v>
                </c:pt>
                <c:pt idx="2">
                  <c:v>0.9991</c:v>
                </c:pt>
                <c:pt idx="3">
                  <c:v>0.9991</c:v>
                </c:pt>
                <c:pt idx="4">
                  <c:v>0.9991</c:v>
                </c:pt>
                <c:pt idx="5">
                  <c:v>0.9991</c:v>
                </c:pt>
                <c:pt idx="6">
                  <c:v>0.9991</c:v>
                </c:pt>
                <c:pt idx="7">
                  <c:v>0.9991</c:v>
                </c:pt>
                <c:pt idx="8">
                  <c:v>0.9991</c:v>
                </c:pt>
                <c:pt idx="9">
                  <c:v>0.9983</c:v>
                </c:pt>
                <c:pt idx="10">
                  <c:v>0.9983</c:v>
                </c:pt>
                <c:pt idx="11">
                  <c:v>0.9967</c:v>
                </c:pt>
                <c:pt idx="12">
                  <c:v>0.9967</c:v>
                </c:pt>
                <c:pt idx="13">
                  <c:v>0.9967</c:v>
                </c:pt>
                <c:pt idx="14">
                  <c:v>0.9967</c:v>
                </c:pt>
                <c:pt idx="15">
                  <c:v>0.9967</c:v>
                </c:pt>
                <c:pt idx="16">
                  <c:v>0.9943</c:v>
                </c:pt>
                <c:pt idx="17">
                  <c:v>0.9943</c:v>
                </c:pt>
                <c:pt idx="18">
                  <c:v>0.9928</c:v>
                </c:pt>
                <c:pt idx="19">
                  <c:v>0.9699</c:v>
                </c:pt>
                <c:pt idx="20">
                  <c:v>0</c:v>
                </c:pt>
              </c:numCache>
            </c:numRef>
          </c:val>
          <c:smooth val="0"/>
        </c:ser>
        <c:ser>
          <c:idx val="2"/>
          <c:order val="2"/>
          <c:tx>
            <c:strRef>
              <c:f>Sheet1!$D$1</c:f>
              <c:strCache>
                <c:ptCount val="1"/>
                <c:pt idx="0">
                  <c:v>final_state</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Sheet1!$D$2:$D$22</c:f>
              <c:numCache>
                <c:formatCode>General</c:formatCode>
                <c:ptCount val="2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0</c:v>
                </c:pt>
              </c:numCache>
            </c:numRef>
          </c:val>
          <c:smooth val="0"/>
        </c:ser>
        <c:ser>
          <c:idx val="3"/>
          <c:order val="3"/>
          <c:tx>
            <c:strRef>
              <c:f>Sheet1!$E$1</c:f>
              <c:strCache>
                <c:ptCount val="1"/>
                <c:pt idx="0">
                  <c:v>arrowhead</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Sheet1!$E$2:$E$22</c:f>
              <c:numCache>
                <c:formatCode>General</c:formatCode>
                <c:ptCount val="21"/>
                <c:pt idx="0">
                  <c:v>0.9954</c:v>
                </c:pt>
                <c:pt idx="1">
                  <c:v>0.9954</c:v>
                </c:pt>
                <c:pt idx="2">
                  <c:v>0.9954</c:v>
                </c:pt>
                <c:pt idx="3">
                  <c:v>0.9954</c:v>
                </c:pt>
                <c:pt idx="4">
                  <c:v>0.9954</c:v>
                </c:pt>
                <c:pt idx="5">
                  <c:v>0.9954</c:v>
                </c:pt>
                <c:pt idx="6">
                  <c:v>0.9948</c:v>
                </c:pt>
                <c:pt idx="7">
                  <c:v>0.9948</c:v>
                </c:pt>
                <c:pt idx="8">
                  <c:v>0.9948</c:v>
                </c:pt>
                <c:pt idx="9">
                  <c:v>0.9948</c:v>
                </c:pt>
                <c:pt idx="10">
                  <c:v>0.9948</c:v>
                </c:pt>
                <c:pt idx="11">
                  <c:v>0.9948</c:v>
                </c:pt>
                <c:pt idx="12">
                  <c:v>0.9943</c:v>
                </c:pt>
                <c:pt idx="13">
                  <c:v>0.9943</c:v>
                </c:pt>
                <c:pt idx="14">
                  <c:v>0.9943</c:v>
                </c:pt>
                <c:pt idx="15">
                  <c:v>0.9943</c:v>
                </c:pt>
                <c:pt idx="16">
                  <c:v>0.9911</c:v>
                </c:pt>
                <c:pt idx="17">
                  <c:v>0.9856</c:v>
                </c:pt>
                <c:pt idx="18">
                  <c:v>0.941</c:v>
                </c:pt>
                <c:pt idx="19">
                  <c:v>0</c:v>
                </c:pt>
                <c:pt idx="20">
                  <c:v>0</c:v>
                </c:pt>
              </c:numCache>
            </c:numRef>
          </c:val>
          <c:smooth val="0"/>
        </c:ser>
        <c:ser>
          <c:idx val="4"/>
          <c:order val="4"/>
          <c:tx>
            <c:strRef>
              <c:f>Sheet1!$F$1</c:f>
              <c:strCache>
                <c:ptCount val="1"/>
                <c:pt idx="0">
                  <c:v>initial_marker</c:v>
                </c:pt>
              </c:strCache>
            </c:strRef>
          </c:tx>
          <c:spPr>
            <a:solidFill>
              <a:srgbClr val="E87BA4"/>
            </a:solidFill>
            <a:ln w="2540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87BA4"/>
              </a:solidFill>
              <a:ln w="9525" cap="flat">
                <a:solidFill>
                  <a:srgbClr val="E87BA4"/>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Sheet1!$F$2:$F$22</c:f>
              <c:numCache>
                <c:formatCode>General</c:formatCode>
                <c:ptCount val="21"/>
                <c:pt idx="0">
                  <c:v>0.9971</c:v>
                </c:pt>
                <c:pt idx="1">
                  <c:v>0.9971</c:v>
                </c:pt>
                <c:pt idx="2">
                  <c:v>0.9971</c:v>
                </c:pt>
                <c:pt idx="3">
                  <c:v>0.9971</c:v>
                </c:pt>
                <c:pt idx="4">
                  <c:v>0.9971</c:v>
                </c:pt>
                <c:pt idx="5">
                  <c:v>0.9971</c:v>
                </c:pt>
                <c:pt idx="6">
                  <c:v>0.9971</c:v>
                </c:pt>
                <c:pt idx="7">
                  <c:v>0.9971</c:v>
                </c:pt>
                <c:pt idx="8">
                  <c:v>0.9971</c:v>
                </c:pt>
                <c:pt idx="9">
                  <c:v>0.9971</c:v>
                </c:pt>
                <c:pt idx="10">
                  <c:v>0.9971</c:v>
                </c:pt>
                <c:pt idx="11">
                  <c:v>0.9971</c:v>
                </c:pt>
                <c:pt idx="12">
                  <c:v>0.9971</c:v>
                </c:pt>
                <c:pt idx="13">
                  <c:v>0.9971</c:v>
                </c:pt>
                <c:pt idx="14">
                  <c:v>0.9971</c:v>
                </c:pt>
                <c:pt idx="15">
                  <c:v>0.9971</c:v>
                </c:pt>
                <c:pt idx="16">
                  <c:v>0.9971</c:v>
                </c:pt>
                <c:pt idx="17">
                  <c:v>0.9943</c:v>
                </c:pt>
                <c:pt idx="18">
                  <c:v>0.9806</c:v>
                </c:pt>
                <c:pt idx="19">
                  <c:v>0.9203</c:v>
                </c:pt>
                <c:pt idx="20">
                  <c:v>0</c:v>
                </c:pt>
              </c:numCache>
            </c:numRef>
          </c:val>
          <c:smooth val="0"/>
        </c:ser>
        <c:ser>
          <c:idx val="5"/>
          <c:order val="5"/>
          <c:tx>
            <c:strRef>
              <c:f>Sheet1!$G$1</c:f>
              <c:strCache>
                <c:ptCount val="1"/>
                <c:pt idx="0">
                  <c:v>label</c:v>
                </c:pt>
              </c:strCache>
            </c:strRef>
          </c:tx>
          <c:spPr>
            <a:solidFill>
              <a:srgbClr val="008300"/>
            </a:solidFill>
            <a:ln w="25400" cap="flat">
              <a:solidFill>
                <a:srgbClr val="0083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08300"/>
              </a:solidFill>
              <a:ln w="9525" cap="flat">
                <a:solidFill>
                  <a:srgbClr val="008300"/>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Sheet1!$G$2:$G$22</c:f>
              <c:numCache>
                <c:formatCode>General</c:formatCode>
                <c:ptCount val="2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0</c:v>
                </c:pt>
              </c:numCache>
            </c:numRef>
          </c:val>
          <c:smooth val="0"/>
        </c:ser>
        <c:ser>
          <c:idx val="6"/>
          <c:order val="6"/>
          <c:tx>
            <c:strRef>
              <c:f>Sheet1!$H$1</c:f>
              <c:strCache>
                <c:ptCount val="1"/>
                <c:pt idx="0">
                  <c:v>Mean of classes</c:v>
                </c:pt>
              </c:strCache>
            </c:strRef>
          </c:tx>
          <c:spPr>
            <a:solidFill>
              <a:srgbClr val="0B0B0B"/>
            </a:solidFill>
            <a:ln w="25400" cap="flat">
              <a:solidFill>
                <a:srgbClr val="0B0B0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B0B0B"/>
              </a:solidFill>
              <a:ln w="9525" cap="flat">
                <a:solidFill>
                  <a:srgbClr val="0B0B0B"/>
                </a:solidFill>
                <a:prstDash val="solid"/>
                <a:round/>
              </a:ln>
              <a:effectLst/>
            </c:spPr>
          </c:marker>
          <c:cat>
            <c:multiLvlStrRef>
              <c:f>Sheet1!$A$2:$A$22</c:f>
              <c:multiLvlStrCache>
                <c:ptCount val="21"/>
                <c:lvl>
                  <c:pt idx="0">
                    <c:v>0.80</c:v>
                  </c:pt>
                  <c:pt idx="1">
                    <c:v>0.81</c:v>
                  </c:pt>
                  <c:pt idx="2">
                    <c:v>0.82</c:v>
                  </c:pt>
                  <c:pt idx="3">
                    <c:v>0.83</c:v>
                  </c:pt>
                  <c:pt idx="4">
                    <c:v>0.84</c:v>
                  </c:pt>
                  <c:pt idx="5">
                    <c:v>0.85</c:v>
                  </c:pt>
                  <c:pt idx="6">
                    <c:v>0.86</c:v>
                  </c:pt>
                  <c:pt idx="7">
                    <c:v>0.87</c:v>
                  </c:pt>
                  <c:pt idx="8">
                    <c:v>0.88</c:v>
                  </c:pt>
                  <c:pt idx="9">
                    <c:v>0.89</c:v>
                  </c:pt>
                  <c:pt idx="10">
                    <c:v>0.90</c:v>
                  </c:pt>
                  <c:pt idx="11">
                    <c:v>0.91</c:v>
                  </c:pt>
                  <c:pt idx="12">
                    <c:v>0.92</c:v>
                  </c:pt>
                  <c:pt idx="13">
                    <c:v>0.93</c:v>
                  </c:pt>
                  <c:pt idx="14">
                    <c:v>0.94</c:v>
                  </c:pt>
                  <c:pt idx="15">
                    <c:v>0.95</c:v>
                  </c:pt>
                  <c:pt idx="16">
                    <c:v>0.96</c:v>
                  </c:pt>
                  <c:pt idx="17">
                    <c:v>0.97</c:v>
                  </c:pt>
                  <c:pt idx="18">
                    <c:v>0.98</c:v>
                  </c:pt>
                  <c:pt idx="19">
                    <c:v>0.99</c:v>
                  </c:pt>
                  <c:pt idx="20">
                    <c:v>1.00</c:v>
                  </c:pt>
                </c:lvl>
              </c:multiLvlStrCache>
            </c:multiLvlStrRef>
          </c:cat>
          <c:val>
            <c:numRef>
              <c:f>Sheet1!$H$2:$H$22</c:f>
              <c:numCache>
                <c:formatCode>General</c:formatCode>
                <c:ptCount val="21"/>
                <c:pt idx="0">
                  <c:v>0.9986</c:v>
                </c:pt>
                <c:pt idx="1">
                  <c:v>0.9986</c:v>
                </c:pt>
                <c:pt idx="2">
                  <c:v>0.9986</c:v>
                </c:pt>
                <c:pt idx="3">
                  <c:v>0.9986</c:v>
                </c:pt>
                <c:pt idx="4">
                  <c:v>0.9986</c:v>
                </c:pt>
                <c:pt idx="5">
                  <c:v>0.9986</c:v>
                </c:pt>
                <c:pt idx="6">
                  <c:v>0.9984999999999999</c:v>
                </c:pt>
                <c:pt idx="7">
                  <c:v>0.9984999999999999</c:v>
                </c:pt>
                <c:pt idx="8">
                  <c:v>0.9984999999999999</c:v>
                </c:pt>
                <c:pt idx="9">
                  <c:v>0.9983666666666666</c:v>
                </c:pt>
                <c:pt idx="10">
                  <c:v>0.9983666666666666</c:v>
                </c:pt>
                <c:pt idx="11">
                  <c:v>0.9981</c:v>
                </c:pt>
                <c:pt idx="12">
                  <c:v>0.9980166666666667</c:v>
                </c:pt>
                <c:pt idx="13">
                  <c:v>0.9980166666666667</c:v>
                </c:pt>
                <c:pt idx="14">
                  <c:v>0.9980166666666667</c:v>
                </c:pt>
                <c:pt idx="15">
                  <c:v>0.9980166666666667</c:v>
                </c:pt>
                <c:pt idx="16">
                  <c:v>0.9970833333333333</c:v>
                </c:pt>
                <c:pt idx="17">
                  <c:v>0.9956999999999999</c:v>
                </c:pt>
                <c:pt idx="18">
                  <c:v>0.9857333333333332</c:v>
                </c:pt>
                <c:pt idx="19">
                  <c:v>0.8150333333333334</c:v>
                </c:pt>
                <c:pt idx="20">
                  <c:v>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Recall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4"/>
      </c:catAx>
      <c:valAx>
        <c:axId val="2094734552"/>
        <c:scaling>
          <c:orientation val="minMax"/>
          <c:max val="1"/>
          <c:min val="0.8"/>
        </c:scaling>
        <c:delete val="0"/>
        <c:axPos val="l"/>
        <c:majorGridlines>
          <c:spPr>
            <a:ln w="9525" cap="flat">
              <a:solidFill>
                <a:srgbClr val="E1E0D9"/>
              </a:solidFill>
              <a:prstDash val="solid"/>
              <a:round/>
            </a:ln>
          </c:spPr>
        </c:majorGridlines>
        <c:title>
          <c:tx>
            <c:rich>
              <a:bodyPr/>
              <a:lstStyle/>
              <a:p>
                <a:pPr>
                  <a:defRPr sz="1200" b="0" i="0" u="none" strike="noStrike">
                    <a:solidFill>
                      <a:srgbClr val="52514E"/>
                    </a:solidFill>
                    <a:latin typeface="+mn-lt"/>
                  </a:defRPr>
                </a:pPr>
                <a:r>
                  <a:rPr sz="1200" b="0" i="0" u="none" strike="noStrike">
                    <a:solidFill>
                      <a:srgbClr val="52514E"/>
                    </a:solidFill>
                    <a:latin typeface="+mn-lt"/>
                  </a:rPr>
                  <a:t>Precision</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Against confidence (mean of classes)</a:t>
            </a:r>
          </a:p>
        </c:rich>
      </c:tx>
      <c:layout/>
      <c:overlay val="0"/>
    </c:title>
    <c:autoTitleDeleted val="0"/>
    <c:plotArea>
      <c:layout/>
      <c:lineChart>
        <c:varyColors val="0"/>
        <c:ser>
          <c:idx val="0"/>
          <c:order val="0"/>
          <c:tx>
            <c:strRef>
              <c:f>Sheet1!$B$1</c:f>
              <c:strCache>
                <c:ptCount val="1"/>
                <c:pt idx="0">
                  <c:v>Precision</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Sheet1!$A$2:$A$102</c:f>
              <c:multiLvlStrCache>
                <c:ptCount val="1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lvl>
              </c:multiLvlStrCache>
            </c:multiLvlStrRef>
          </c:cat>
          <c:val>
            <c:numRef>
              <c:f>Sheet1!$B$2:$B$102</c:f>
              <c:numCache>
                <c:formatCode>General</c:formatCode>
                <c:ptCount val="101"/>
                <c:pt idx="0">
                  <c:v>0.7934166666666668</c:v>
                </c:pt>
                <c:pt idx="1">
                  <c:v>0.9155666666666669</c:v>
                </c:pt>
                <c:pt idx="2">
                  <c:v>0.9376166666666669</c:v>
                </c:pt>
                <c:pt idx="3">
                  <c:v>0.9463</c:v>
                </c:pt>
                <c:pt idx="4">
                  <c:v>0.9509666666666666</c:v>
                </c:pt>
                <c:pt idx="5">
                  <c:v>0.9552833333333332</c:v>
                </c:pt>
                <c:pt idx="6">
                  <c:v>0.9570166666666666</c:v>
                </c:pt>
                <c:pt idx="7">
                  <c:v>0.9591</c:v>
                </c:pt>
                <c:pt idx="8">
                  <c:v>0.9634999999999999</c:v>
                </c:pt>
                <c:pt idx="9">
                  <c:v>0.9663</c:v>
                </c:pt>
                <c:pt idx="10">
                  <c:v>0.9679666666666668</c:v>
                </c:pt>
                <c:pt idx="11">
                  <c:v>0.9694333333333334</c:v>
                </c:pt>
                <c:pt idx="12">
                  <c:v>0.9703833333333334</c:v>
                </c:pt>
                <c:pt idx="13">
                  <c:v>0.9716166666666668</c:v>
                </c:pt>
                <c:pt idx="14">
                  <c:v>0.9727666666666667</c:v>
                </c:pt>
                <c:pt idx="15">
                  <c:v>0.9732833333333334</c:v>
                </c:pt>
                <c:pt idx="16">
                  <c:v>0.9744333333333334</c:v>
                </c:pt>
                <c:pt idx="17">
                  <c:v>0.9757000000000001</c:v>
                </c:pt>
                <c:pt idx="18">
                  <c:v>0.9766833333333333</c:v>
                </c:pt>
                <c:pt idx="19">
                  <c:v>0.9778666666666668</c:v>
                </c:pt>
                <c:pt idx="20">
                  <c:v>0.9787</c:v>
                </c:pt>
                <c:pt idx="21">
                  <c:v>0.9795000000000001</c:v>
                </c:pt>
                <c:pt idx="22">
                  <c:v>0.9802333333333334</c:v>
                </c:pt>
                <c:pt idx="23">
                  <c:v>0.9809333333333333</c:v>
                </c:pt>
                <c:pt idx="24">
                  <c:v>0.9811166666666667</c:v>
                </c:pt>
                <c:pt idx="25">
                  <c:v>0.9819</c:v>
                </c:pt>
                <c:pt idx="26">
                  <c:v>0.98245</c:v>
                </c:pt>
                <c:pt idx="27">
                  <c:v>0.9830333333333333</c:v>
                </c:pt>
                <c:pt idx="28">
                  <c:v>0.9833500000000001</c:v>
                </c:pt>
                <c:pt idx="29">
                  <c:v>0.9835833333333333</c:v>
                </c:pt>
                <c:pt idx="30">
                  <c:v>0.9838833333333333</c:v>
                </c:pt>
                <c:pt idx="31">
                  <c:v>0.9841833333333332</c:v>
                </c:pt>
                <c:pt idx="32">
                  <c:v>0.9846</c:v>
                </c:pt>
                <c:pt idx="33">
                  <c:v>0.9849833333333332</c:v>
                </c:pt>
                <c:pt idx="34">
                  <c:v>0.9853500000000001</c:v>
                </c:pt>
                <c:pt idx="35">
                  <c:v>0.9855833333333335</c:v>
                </c:pt>
                <c:pt idx="36">
                  <c:v>0.98575</c:v>
                </c:pt>
                <c:pt idx="37">
                  <c:v>0.9860333333333333</c:v>
                </c:pt>
                <c:pt idx="38">
                  <c:v>0.9862500000000001</c:v>
                </c:pt>
                <c:pt idx="39">
                  <c:v>0.9865833333333334</c:v>
                </c:pt>
                <c:pt idx="40">
                  <c:v>0.9871333333333333</c:v>
                </c:pt>
                <c:pt idx="41">
                  <c:v>0.9873333333333333</c:v>
                </c:pt>
                <c:pt idx="42">
                  <c:v>0.9874999999999999</c:v>
                </c:pt>
                <c:pt idx="43">
                  <c:v>0.9879333333333333</c:v>
                </c:pt>
                <c:pt idx="44">
                  <c:v>0.9883833333333333</c:v>
                </c:pt>
                <c:pt idx="45">
                  <c:v>0.9886000000000003</c:v>
                </c:pt>
                <c:pt idx="46">
                  <c:v>0.9891500000000001</c:v>
                </c:pt>
                <c:pt idx="47">
                  <c:v>0.9896500000000001</c:v>
                </c:pt>
                <c:pt idx="48">
                  <c:v>0.9900500000000001</c:v>
                </c:pt>
                <c:pt idx="49">
                  <c:v>0.9907500000000001</c:v>
                </c:pt>
                <c:pt idx="50">
                  <c:v>0.9910833333333334</c:v>
                </c:pt>
                <c:pt idx="51">
                  <c:v>0.9914333333333333</c:v>
                </c:pt>
                <c:pt idx="52">
                  <c:v>0.9917333333333334</c:v>
                </c:pt>
                <c:pt idx="53">
                  <c:v>0.9919333333333333</c:v>
                </c:pt>
                <c:pt idx="54">
                  <c:v>0.9920666666666667</c:v>
                </c:pt>
                <c:pt idx="55">
                  <c:v>0.9921666666666668</c:v>
                </c:pt>
                <c:pt idx="56">
                  <c:v>0.9926166666666667</c:v>
                </c:pt>
                <c:pt idx="57">
                  <c:v>0.9930833333333333</c:v>
                </c:pt>
                <c:pt idx="58">
                  <c:v>0.9933833333333332</c:v>
                </c:pt>
                <c:pt idx="59">
                  <c:v>0.9935166666666667</c:v>
                </c:pt>
                <c:pt idx="60">
                  <c:v>0.9938499999999998</c:v>
                </c:pt>
                <c:pt idx="61">
                  <c:v>0.9943833333333334</c:v>
                </c:pt>
                <c:pt idx="62">
                  <c:v>0.9946833333333335</c:v>
                </c:pt>
                <c:pt idx="63">
                  <c:v>0.99505</c:v>
                </c:pt>
                <c:pt idx="64">
                  <c:v>0.9953166666666666</c:v>
                </c:pt>
                <c:pt idx="65">
                  <c:v>0.99545</c:v>
                </c:pt>
                <c:pt idx="66">
                  <c:v>0.9956333333333333</c:v>
                </c:pt>
                <c:pt idx="67">
                  <c:v>0.99575</c:v>
                </c:pt>
                <c:pt idx="68">
                  <c:v>0.9960166666666667</c:v>
                </c:pt>
                <c:pt idx="69">
                  <c:v>0.99615</c:v>
                </c:pt>
                <c:pt idx="70">
                  <c:v>0.9963833333333333</c:v>
                </c:pt>
                <c:pt idx="71">
                  <c:v>0.9967666666666667</c:v>
                </c:pt>
                <c:pt idx="72">
                  <c:v>0.9969833333333332</c:v>
                </c:pt>
                <c:pt idx="73">
                  <c:v>0.9970333333333333</c:v>
                </c:pt>
                <c:pt idx="74">
                  <c:v>0.9971833333333332</c:v>
                </c:pt>
                <c:pt idx="75">
                  <c:v>0.9973666666666666</c:v>
                </c:pt>
                <c:pt idx="76">
                  <c:v>0.9973833333333334</c:v>
                </c:pt>
                <c:pt idx="77">
                  <c:v>0.9976999999999999</c:v>
                </c:pt>
                <c:pt idx="78">
                  <c:v>0.99775</c:v>
                </c:pt>
                <c:pt idx="79">
                  <c:v>0.9977666666666667</c:v>
                </c:pt>
                <c:pt idx="80">
                  <c:v>0.9977833333333334</c:v>
                </c:pt>
                <c:pt idx="81">
                  <c:v>0.9977833333333334</c:v>
                </c:pt>
                <c:pt idx="82">
                  <c:v>0.9977833333333334</c:v>
                </c:pt>
                <c:pt idx="83">
                  <c:v>0.9979</c:v>
                </c:pt>
                <c:pt idx="84">
                  <c:v>0.9979</c:v>
                </c:pt>
                <c:pt idx="85">
                  <c:v>0.9983166666666666</c:v>
                </c:pt>
                <c:pt idx="86">
                  <c:v>0.99825</c:v>
                </c:pt>
                <c:pt idx="87">
                  <c:v>0.9988666666666667</c:v>
                </c:pt>
                <c:pt idx="88">
                  <c:v>0.9987666666666666</c:v>
                </c:pt>
                <c:pt idx="89">
                  <c:v>0.9985</c:v>
                </c:pt>
                <c:pt idx="90">
                  <c:v>0.99785</c:v>
                </c:pt>
                <c:pt idx="91">
                  <c:v>0.9991333333333333</c:v>
                </c:pt>
                <c:pt idx="92">
                  <c:v>0.9989666666666666</c:v>
                </c:pt>
                <c:pt idx="93">
                  <c:v>0.99975</c:v>
                </c:pt>
                <c:pt idx="94">
                  <c:v>0.9999833333333333</c:v>
                </c:pt>
                <c:pt idx="95">
                  <c:v>0.9999833333333333</c:v>
                </c:pt>
                <c:pt idx="96">
                  <c:v>1</c:v>
                </c:pt>
                <c:pt idx="97">
                  <c:v>1</c:v>
                </c:pt>
                <c:pt idx="98">
                  <c:v>1</c:v>
                </c:pt>
                <c:pt idx="99">
                  <c:v>1</c:v>
                </c:pt>
                <c:pt idx="100">
                  <c:v>1</c:v>
                </c:pt>
              </c:numCache>
            </c:numRef>
          </c:val>
          <c:smooth val="0"/>
        </c:ser>
        <c:ser>
          <c:idx val="1"/>
          <c:order val="1"/>
          <c:tx>
            <c:strRef>
              <c:f>Sheet1!$C$1</c:f>
              <c:strCache>
                <c:ptCount val="1"/>
                <c:pt idx="0">
                  <c:v>Recall</c:v>
                </c:pt>
              </c:strCache>
            </c:strRef>
          </c:tx>
          <c:spPr>
            <a:solidFill>
              <a:srgbClr val="EB6834"/>
            </a:solidFill>
            <a:ln w="28575"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Sheet1!$A$2:$A$102</c:f>
              <c:multiLvlStrCache>
                <c:ptCount val="1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lvl>
              </c:multiLvlStrCache>
            </c:multiLvlStrRef>
          </c:cat>
          <c:val>
            <c:numRef>
              <c:f>Sheet1!$C$2:$C$102</c:f>
              <c:numCache>
                <c:formatCode>General</c:formatCode>
                <c:ptCount val="101"/>
                <c:pt idx="0">
                  <c:v>0.9972333333333333</c:v>
                </c:pt>
                <c:pt idx="1">
                  <c:v>0.9965</c:v>
                </c:pt>
                <c:pt idx="2">
                  <c:v>0.9958999999999999</c:v>
                </c:pt>
                <c:pt idx="3">
                  <c:v>0.9944666666666667</c:v>
                </c:pt>
                <c:pt idx="4">
                  <c:v>0.9944666666666667</c:v>
                </c:pt>
                <c:pt idx="5">
                  <c:v>0.9944500000000001</c:v>
                </c:pt>
                <c:pt idx="6">
                  <c:v>0.99435</c:v>
                </c:pt>
                <c:pt idx="7">
                  <c:v>0.99435</c:v>
                </c:pt>
                <c:pt idx="8">
                  <c:v>0.99435</c:v>
                </c:pt>
                <c:pt idx="9">
                  <c:v>0.9941166666666666</c:v>
                </c:pt>
                <c:pt idx="10">
                  <c:v>0.9932833333333333</c:v>
                </c:pt>
                <c:pt idx="11">
                  <c:v>0.9930166666666667</c:v>
                </c:pt>
                <c:pt idx="12">
                  <c:v>0.9930166666666667</c:v>
                </c:pt>
                <c:pt idx="13">
                  <c:v>0.9930166666666667</c:v>
                </c:pt>
                <c:pt idx="14">
                  <c:v>0.9930166666666667</c:v>
                </c:pt>
                <c:pt idx="15">
                  <c:v>0.9930166666666667</c:v>
                </c:pt>
                <c:pt idx="16">
                  <c:v>0.9928833333333333</c:v>
                </c:pt>
                <c:pt idx="17">
                  <c:v>0.9926666666666666</c:v>
                </c:pt>
                <c:pt idx="18">
                  <c:v>0.9924499999999999</c:v>
                </c:pt>
                <c:pt idx="19">
                  <c:v>0.9921666666666668</c:v>
                </c:pt>
                <c:pt idx="20">
                  <c:v>0.9921666666666668</c:v>
                </c:pt>
                <c:pt idx="21">
                  <c:v>0.9920333333333334</c:v>
                </c:pt>
                <c:pt idx="22">
                  <c:v>0.9920333333333334</c:v>
                </c:pt>
                <c:pt idx="23">
                  <c:v>0.9920333333333334</c:v>
                </c:pt>
                <c:pt idx="24">
                  <c:v>0.9915666666666666</c:v>
                </c:pt>
                <c:pt idx="25">
                  <c:v>0.9915666666666666</c:v>
                </c:pt>
                <c:pt idx="26">
                  <c:v>0.9914833333333334</c:v>
                </c:pt>
                <c:pt idx="27">
                  <c:v>0.9914333333333333</c:v>
                </c:pt>
                <c:pt idx="28">
                  <c:v>0.9914333333333333</c:v>
                </c:pt>
                <c:pt idx="29">
                  <c:v>0.99125</c:v>
                </c:pt>
                <c:pt idx="30">
                  <c:v>0.9910333333333333</c:v>
                </c:pt>
                <c:pt idx="31">
                  <c:v>0.9910333333333333</c:v>
                </c:pt>
                <c:pt idx="32">
                  <c:v>0.9910333333333333</c:v>
                </c:pt>
                <c:pt idx="33">
                  <c:v>0.9908833333333334</c:v>
                </c:pt>
                <c:pt idx="34">
                  <c:v>0.9906333333333334</c:v>
                </c:pt>
                <c:pt idx="35">
                  <c:v>0.9905499999999999</c:v>
                </c:pt>
                <c:pt idx="36">
                  <c:v>0.9903833333333334</c:v>
                </c:pt>
                <c:pt idx="37">
                  <c:v>0.9903833333333334</c:v>
                </c:pt>
                <c:pt idx="38">
                  <c:v>0.9903833333333334</c:v>
                </c:pt>
                <c:pt idx="39">
                  <c:v>0.9903833333333334</c:v>
                </c:pt>
                <c:pt idx="40">
                  <c:v>0.9903833333333334</c:v>
                </c:pt>
                <c:pt idx="41">
                  <c:v>0.9903333333333334</c:v>
                </c:pt>
                <c:pt idx="42">
                  <c:v>0.9901333333333334</c:v>
                </c:pt>
                <c:pt idx="43">
                  <c:v>0.9898666666666666</c:v>
                </c:pt>
                <c:pt idx="44">
                  <c:v>0.9898333333333333</c:v>
                </c:pt>
                <c:pt idx="45">
                  <c:v>0.9895999999999999</c:v>
                </c:pt>
                <c:pt idx="46">
                  <c:v>0.9895166666666667</c:v>
                </c:pt>
                <c:pt idx="47">
                  <c:v>0.9894666666666666</c:v>
                </c:pt>
                <c:pt idx="48">
                  <c:v>0.9893333333333333</c:v>
                </c:pt>
                <c:pt idx="49">
                  <c:v>0.9893333333333333</c:v>
                </c:pt>
                <c:pt idx="50">
                  <c:v>0.9893333333333333</c:v>
                </c:pt>
                <c:pt idx="51">
                  <c:v>0.9893333333333333</c:v>
                </c:pt>
                <c:pt idx="52">
                  <c:v>0.9892666666666666</c:v>
                </c:pt>
                <c:pt idx="53">
                  <c:v>0.9890333333333334</c:v>
                </c:pt>
                <c:pt idx="54">
                  <c:v>0.9888833333333333</c:v>
                </c:pt>
                <c:pt idx="55">
                  <c:v>0.9886666666666666</c:v>
                </c:pt>
                <c:pt idx="56">
                  <c:v>0.9884666666666666</c:v>
                </c:pt>
                <c:pt idx="57">
                  <c:v>0.9884666666666666</c:v>
                </c:pt>
                <c:pt idx="58">
                  <c:v>0.9882833333333333</c:v>
                </c:pt>
                <c:pt idx="59">
                  <c:v>0.9879333333333333</c:v>
                </c:pt>
                <c:pt idx="60">
                  <c:v>0.9873833333333333</c:v>
                </c:pt>
                <c:pt idx="61">
                  <c:v>0.9871166666666666</c:v>
                </c:pt>
                <c:pt idx="62">
                  <c:v>0.9869833333333333</c:v>
                </c:pt>
                <c:pt idx="63">
                  <c:v>0.9868166666666668</c:v>
                </c:pt>
                <c:pt idx="64">
                  <c:v>0.9863666666666666</c:v>
                </c:pt>
                <c:pt idx="65">
                  <c:v>0.9857999999999999</c:v>
                </c:pt>
                <c:pt idx="66">
                  <c:v>0.9851833333333334</c:v>
                </c:pt>
                <c:pt idx="67">
                  <c:v>0.9848666666666667</c:v>
                </c:pt>
                <c:pt idx="68">
                  <c:v>0.9841500000000001</c:v>
                </c:pt>
                <c:pt idx="69">
                  <c:v>0.9834999999999999</c:v>
                </c:pt>
                <c:pt idx="70">
                  <c:v>0.9830500000000001</c:v>
                </c:pt>
                <c:pt idx="71">
                  <c:v>0.9819</c:v>
                </c:pt>
                <c:pt idx="72">
                  <c:v>0.9811833333333334</c:v>
                </c:pt>
                <c:pt idx="73">
                  <c:v>0.9805999999999999</c:v>
                </c:pt>
                <c:pt idx="74">
                  <c:v>0.9794333333333333</c:v>
                </c:pt>
                <c:pt idx="75">
                  <c:v>0.9782500000000001</c:v>
                </c:pt>
                <c:pt idx="76">
                  <c:v>0.9773333333333333</c:v>
                </c:pt>
                <c:pt idx="77">
                  <c:v>0.9768499999999999</c:v>
                </c:pt>
                <c:pt idx="78">
                  <c:v>0.9758666666666667</c:v>
                </c:pt>
                <c:pt idx="79">
                  <c:v>0.9741666666666667</c:v>
                </c:pt>
                <c:pt idx="80">
                  <c:v>0.9709666666666669</c:v>
                </c:pt>
                <c:pt idx="81">
                  <c:v>0.9682166666666667</c:v>
                </c:pt>
                <c:pt idx="82">
                  <c:v>0.9643666666666665</c:v>
                </c:pt>
                <c:pt idx="83">
                  <c:v>0.9594333333333335</c:v>
                </c:pt>
                <c:pt idx="84">
                  <c:v>0.9528666666666666</c:v>
                </c:pt>
                <c:pt idx="85">
                  <c:v>0.9424</c:v>
                </c:pt>
                <c:pt idx="86">
                  <c:v>0.9275833333333335</c:v>
                </c:pt>
                <c:pt idx="87">
                  <c:v>0.9047999999999999</c:v>
                </c:pt>
                <c:pt idx="88">
                  <c:v>0.8560833333333334</c:v>
                </c:pt>
                <c:pt idx="89">
                  <c:v>0.7879999999999999</c:v>
                </c:pt>
                <c:pt idx="90">
                  <c:v>0.7042833333333333</c:v>
                </c:pt>
                <c:pt idx="91">
                  <c:v>0.6157833333333333</c:v>
                </c:pt>
                <c:pt idx="92">
                  <c:v>0.5519666666666666</c:v>
                </c:pt>
                <c:pt idx="93">
                  <c:v>0.5037666666666667</c:v>
                </c:pt>
                <c:pt idx="94">
                  <c:v>0.4495</c:v>
                </c:pt>
                <c:pt idx="95">
                  <c:v>0.3902833333333333</c:v>
                </c:pt>
                <c:pt idx="96">
                  <c:v>0.34995</c:v>
                </c:pt>
                <c:pt idx="97">
                  <c:v>0.17121666666666668</c:v>
                </c:pt>
                <c:pt idx="98">
                  <c:v>0.005266666666666667</c:v>
                </c:pt>
                <c:pt idx="99">
                  <c:v>0</c:v>
                </c:pt>
                <c:pt idx="100">
                  <c:v>0</c:v>
                </c:pt>
              </c:numCache>
            </c:numRef>
          </c:val>
          <c:smooth val="0"/>
        </c:ser>
        <c:ser>
          <c:idx val="2"/>
          <c:order val="2"/>
          <c:tx>
            <c:strRef>
              <c:f>Sheet1!$D$1</c:f>
              <c:strCache>
                <c:ptCount val="1"/>
                <c:pt idx="0">
                  <c:v>F1</c:v>
                </c:pt>
              </c:strCache>
            </c:strRef>
          </c:tx>
          <c:spPr>
            <a:solidFill>
              <a:srgbClr val="1BAF7A"/>
            </a:solidFill>
            <a:ln w="28575"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Sheet1!$A$2:$A$102</c:f>
              <c:multiLvlStrCache>
                <c:ptCount val="101"/>
                <c:lvl>
                  <c:pt idx="0">
                    <c:v>0.00</c:v>
                  </c:pt>
                  <c:pt idx="1">
                    <c:v>0.01</c:v>
                  </c:pt>
                  <c:pt idx="2">
                    <c:v>0.02</c:v>
                  </c:pt>
                  <c:pt idx="3">
                    <c:v>0.03</c:v>
                  </c:pt>
                  <c:pt idx="4">
                    <c:v>0.04</c:v>
                  </c:pt>
                  <c:pt idx="5">
                    <c:v>0.05</c:v>
                  </c:pt>
                  <c:pt idx="6">
                    <c:v>0.06</c:v>
                  </c:pt>
                  <c:pt idx="7">
                    <c:v>0.07</c:v>
                  </c:pt>
                  <c:pt idx="8">
                    <c:v>0.08</c:v>
                  </c:pt>
                  <c:pt idx="9">
                    <c:v>0.09</c:v>
                  </c:pt>
                  <c:pt idx="10">
                    <c:v>0.10</c:v>
                  </c:pt>
                  <c:pt idx="11">
                    <c:v>0.11</c:v>
                  </c:pt>
                  <c:pt idx="12">
                    <c:v>0.12</c:v>
                  </c:pt>
                  <c:pt idx="13">
                    <c:v>0.13</c:v>
                  </c:pt>
                  <c:pt idx="14">
                    <c:v>0.14</c:v>
                  </c:pt>
                  <c:pt idx="15">
                    <c:v>0.15</c:v>
                  </c:pt>
                  <c:pt idx="16">
                    <c:v>0.16</c:v>
                  </c:pt>
                  <c:pt idx="17">
                    <c:v>0.17</c:v>
                  </c:pt>
                  <c:pt idx="18">
                    <c:v>0.18</c:v>
                  </c:pt>
                  <c:pt idx="19">
                    <c:v>0.19</c:v>
                  </c:pt>
                  <c:pt idx="20">
                    <c:v>0.20</c:v>
                  </c:pt>
                  <c:pt idx="21">
                    <c:v>0.21</c:v>
                  </c:pt>
                  <c:pt idx="22">
                    <c:v>0.22</c:v>
                  </c:pt>
                  <c:pt idx="23">
                    <c:v>0.23</c:v>
                  </c:pt>
                  <c:pt idx="24">
                    <c:v>0.24</c:v>
                  </c:pt>
                  <c:pt idx="25">
                    <c:v>0.25</c:v>
                  </c:pt>
                  <c:pt idx="26">
                    <c:v>0.26</c:v>
                  </c:pt>
                  <c:pt idx="27">
                    <c:v>0.27</c:v>
                  </c:pt>
                  <c:pt idx="28">
                    <c:v>0.28</c:v>
                  </c:pt>
                  <c:pt idx="29">
                    <c:v>0.29</c:v>
                  </c:pt>
                  <c:pt idx="30">
                    <c:v>0.30</c:v>
                  </c:pt>
                  <c:pt idx="31">
                    <c:v>0.31</c:v>
                  </c:pt>
                  <c:pt idx="32">
                    <c:v>0.32</c:v>
                  </c:pt>
                  <c:pt idx="33">
                    <c:v>0.33</c:v>
                  </c:pt>
                  <c:pt idx="34">
                    <c:v>0.34</c:v>
                  </c:pt>
                  <c:pt idx="35">
                    <c:v>0.35</c:v>
                  </c:pt>
                  <c:pt idx="36">
                    <c:v>0.36</c:v>
                  </c:pt>
                  <c:pt idx="37">
                    <c:v>0.37</c:v>
                  </c:pt>
                  <c:pt idx="38">
                    <c:v>0.38</c:v>
                  </c:pt>
                  <c:pt idx="39">
                    <c:v>0.39</c:v>
                  </c:pt>
                  <c:pt idx="40">
                    <c:v>0.40</c:v>
                  </c:pt>
                  <c:pt idx="41">
                    <c:v>0.41</c:v>
                  </c:pt>
                  <c:pt idx="42">
                    <c:v>0.42</c:v>
                  </c:pt>
                  <c:pt idx="43">
                    <c:v>0.43</c:v>
                  </c:pt>
                  <c:pt idx="44">
                    <c:v>0.44</c:v>
                  </c:pt>
                  <c:pt idx="45">
                    <c:v>0.45</c:v>
                  </c:pt>
                  <c:pt idx="46">
                    <c:v>0.46</c:v>
                  </c:pt>
                  <c:pt idx="47">
                    <c:v>0.47</c:v>
                  </c:pt>
                  <c:pt idx="48">
                    <c:v>0.48</c:v>
                  </c:pt>
                  <c:pt idx="49">
                    <c:v>0.49</c:v>
                  </c:pt>
                  <c:pt idx="50">
                    <c:v>0.50</c:v>
                  </c:pt>
                  <c:pt idx="51">
                    <c:v>0.51</c:v>
                  </c:pt>
                  <c:pt idx="52">
                    <c:v>0.52</c:v>
                  </c:pt>
                  <c:pt idx="53">
                    <c:v>0.53</c:v>
                  </c:pt>
                  <c:pt idx="54">
                    <c:v>0.54</c:v>
                  </c:pt>
                  <c:pt idx="55">
                    <c:v>0.55</c:v>
                  </c:pt>
                  <c:pt idx="56">
                    <c:v>0.56</c:v>
                  </c:pt>
                  <c:pt idx="57">
                    <c:v>0.57</c:v>
                  </c:pt>
                  <c:pt idx="58">
                    <c:v>0.58</c:v>
                  </c:pt>
                  <c:pt idx="59">
                    <c:v>0.59</c:v>
                  </c:pt>
                  <c:pt idx="60">
                    <c:v>0.60</c:v>
                  </c:pt>
                  <c:pt idx="61">
                    <c:v>0.61</c:v>
                  </c:pt>
                  <c:pt idx="62">
                    <c:v>0.62</c:v>
                  </c:pt>
                  <c:pt idx="63">
                    <c:v>0.63</c:v>
                  </c:pt>
                  <c:pt idx="64">
                    <c:v>0.64</c:v>
                  </c:pt>
                  <c:pt idx="65">
                    <c:v>0.65</c:v>
                  </c:pt>
                  <c:pt idx="66">
                    <c:v>0.66</c:v>
                  </c:pt>
                  <c:pt idx="67">
                    <c:v>0.67</c:v>
                  </c:pt>
                  <c:pt idx="68">
                    <c:v>0.68</c:v>
                  </c:pt>
                  <c:pt idx="69">
                    <c:v>0.69</c:v>
                  </c:pt>
                  <c:pt idx="70">
                    <c:v>0.70</c:v>
                  </c:pt>
                  <c:pt idx="71">
                    <c:v>0.71</c:v>
                  </c:pt>
                  <c:pt idx="72">
                    <c:v>0.72</c:v>
                  </c:pt>
                  <c:pt idx="73">
                    <c:v>0.73</c:v>
                  </c:pt>
                  <c:pt idx="74">
                    <c:v>0.74</c:v>
                  </c:pt>
                  <c:pt idx="75">
                    <c:v>0.75</c:v>
                  </c:pt>
                  <c:pt idx="76">
                    <c:v>0.76</c:v>
                  </c:pt>
                  <c:pt idx="77">
                    <c:v>0.77</c:v>
                  </c:pt>
                  <c:pt idx="78">
                    <c:v>0.78</c:v>
                  </c:pt>
                  <c:pt idx="79">
                    <c:v>0.79</c:v>
                  </c:pt>
                  <c:pt idx="80">
                    <c:v>0.80</c:v>
                  </c:pt>
                  <c:pt idx="81">
                    <c:v>0.81</c:v>
                  </c:pt>
                  <c:pt idx="82">
                    <c:v>0.82</c:v>
                  </c:pt>
                  <c:pt idx="83">
                    <c:v>0.83</c:v>
                  </c:pt>
                  <c:pt idx="84">
                    <c:v>0.84</c:v>
                  </c:pt>
                  <c:pt idx="85">
                    <c:v>0.85</c:v>
                  </c:pt>
                  <c:pt idx="86">
                    <c:v>0.86</c:v>
                  </c:pt>
                  <c:pt idx="87">
                    <c:v>0.87</c:v>
                  </c:pt>
                  <c:pt idx="88">
                    <c:v>0.88</c:v>
                  </c:pt>
                  <c:pt idx="89">
                    <c:v>0.89</c:v>
                  </c:pt>
                  <c:pt idx="90">
                    <c:v>0.90</c:v>
                  </c:pt>
                  <c:pt idx="91">
                    <c:v>0.91</c:v>
                  </c:pt>
                  <c:pt idx="92">
                    <c:v>0.92</c:v>
                  </c:pt>
                  <c:pt idx="93">
                    <c:v>0.93</c:v>
                  </c:pt>
                  <c:pt idx="94">
                    <c:v>0.94</c:v>
                  </c:pt>
                  <c:pt idx="95">
                    <c:v>0.95</c:v>
                  </c:pt>
                  <c:pt idx="96">
                    <c:v>0.96</c:v>
                  </c:pt>
                  <c:pt idx="97">
                    <c:v>0.97</c:v>
                  </c:pt>
                  <c:pt idx="98">
                    <c:v>0.98</c:v>
                  </c:pt>
                  <c:pt idx="99">
                    <c:v>0.99</c:v>
                  </c:pt>
                  <c:pt idx="100">
                    <c:v>1.00</c:v>
                  </c:pt>
                </c:lvl>
              </c:multiLvlStrCache>
            </c:multiLvlStrRef>
          </c:cat>
          <c:val>
            <c:numRef>
              <c:f>Sheet1!$D$2:$D$102</c:f>
              <c:numCache>
                <c:formatCode>General</c:formatCode>
                <c:ptCount val="101"/>
                <c:pt idx="0">
                  <c:v>0.8732166666666666</c:v>
                </c:pt>
                <c:pt idx="1">
                  <c:v>0.9527666666666668</c:v>
                </c:pt>
                <c:pt idx="2">
                  <c:v>0.9650666666666666</c:v>
                </c:pt>
                <c:pt idx="3">
                  <c:v>0.9692333333333334</c:v>
                </c:pt>
                <c:pt idx="4">
                  <c:v>0.97175</c:v>
                </c:pt>
                <c:pt idx="5">
                  <c:v>0.9741</c:v>
                </c:pt>
                <c:pt idx="6">
                  <c:v>0.9749833333333333</c:v>
                </c:pt>
                <c:pt idx="7">
                  <c:v>0.9761000000000001</c:v>
                </c:pt>
                <c:pt idx="8">
                  <c:v>0.9783833333333333</c:v>
                </c:pt>
                <c:pt idx="9">
                  <c:v>0.9798</c:v>
                </c:pt>
                <c:pt idx="10">
                  <c:v>0.9802333333333332</c:v>
                </c:pt>
                <c:pt idx="11">
                  <c:v>0.9809</c:v>
                </c:pt>
                <c:pt idx="12">
                  <c:v>0.9813999999999999</c:v>
                </c:pt>
                <c:pt idx="13">
                  <c:v>0.9820333333333333</c:v>
                </c:pt>
                <c:pt idx="14">
                  <c:v>0.9826499999999999</c:v>
                </c:pt>
                <c:pt idx="15">
                  <c:v>0.9829333333333333</c:v>
                </c:pt>
                <c:pt idx="16">
                  <c:v>0.9834333333333333</c:v>
                </c:pt>
                <c:pt idx="17">
                  <c:v>0.9839833333333333</c:v>
                </c:pt>
                <c:pt idx="18">
                  <c:v>0.9844333333333335</c:v>
                </c:pt>
                <c:pt idx="19">
                  <c:v>0.9848666666666667</c:v>
                </c:pt>
                <c:pt idx="20">
                  <c:v>0.9852833333333334</c:v>
                </c:pt>
                <c:pt idx="21">
                  <c:v>0.9856500000000001</c:v>
                </c:pt>
                <c:pt idx="22">
                  <c:v>0.9860500000000001</c:v>
                </c:pt>
                <c:pt idx="23">
                  <c:v>0.9863833333333334</c:v>
                </c:pt>
                <c:pt idx="24">
                  <c:v>0.9862833333333333</c:v>
                </c:pt>
                <c:pt idx="25">
                  <c:v>0.9866666666666667</c:v>
                </c:pt>
                <c:pt idx="26">
                  <c:v>0.9869</c:v>
                </c:pt>
                <c:pt idx="27">
                  <c:v>0.9871833333333333</c:v>
                </c:pt>
                <c:pt idx="28">
                  <c:v>0.9873500000000001</c:v>
                </c:pt>
                <c:pt idx="29">
                  <c:v>0.9873666666666668</c:v>
                </c:pt>
                <c:pt idx="30">
                  <c:v>0.9874333333333333</c:v>
                </c:pt>
                <c:pt idx="31">
                  <c:v>0.9875666666666666</c:v>
                </c:pt>
                <c:pt idx="32">
                  <c:v>0.9877833333333333</c:v>
                </c:pt>
                <c:pt idx="33">
                  <c:v>0.9879166666666667</c:v>
                </c:pt>
                <c:pt idx="34">
                  <c:v>0.9879666666666665</c:v>
                </c:pt>
                <c:pt idx="35">
                  <c:v>0.9880333333333332</c:v>
                </c:pt>
                <c:pt idx="36">
                  <c:v>0.98805</c:v>
                </c:pt>
                <c:pt idx="37">
                  <c:v>0.9881666666666665</c:v>
                </c:pt>
                <c:pt idx="38">
                  <c:v>0.9882833333333333</c:v>
                </c:pt>
                <c:pt idx="39">
                  <c:v>0.9884833333333334</c:v>
                </c:pt>
                <c:pt idx="40">
                  <c:v>0.98875</c:v>
                </c:pt>
                <c:pt idx="41">
                  <c:v>0.9888333333333335</c:v>
                </c:pt>
                <c:pt idx="42">
                  <c:v>0.9887833333333335</c:v>
                </c:pt>
                <c:pt idx="43">
                  <c:v>0.9889</c:v>
                </c:pt>
                <c:pt idx="44">
                  <c:v>0.9891166666666668</c:v>
                </c:pt>
                <c:pt idx="45">
                  <c:v>0.9890833333333334</c:v>
                </c:pt>
                <c:pt idx="46">
                  <c:v>0.9893166666666667</c:v>
                </c:pt>
                <c:pt idx="47">
                  <c:v>0.9895666666666667</c:v>
                </c:pt>
                <c:pt idx="48">
                  <c:v>0.9896833333333334</c:v>
                </c:pt>
                <c:pt idx="49">
                  <c:v>0.9900333333333333</c:v>
                </c:pt>
                <c:pt idx="50">
                  <c:v>0.9902000000000001</c:v>
                </c:pt>
                <c:pt idx="51">
                  <c:v>0.9903833333333334</c:v>
                </c:pt>
                <c:pt idx="52">
                  <c:v>0.9904833333333333</c:v>
                </c:pt>
                <c:pt idx="53">
                  <c:v>0.99045</c:v>
                </c:pt>
                <c:pt idx="54">
                  <c:v>0.9904666666666665</c:v>
                </c:pt>
                <c:pt idx="55">
                  <c:v>0.9904000000000001</c:v>
                </c:pt>
                <c:pt idx="56">
                  <c:v>0.9905166666666667</c:v>
                </c:pt>
                <c:pt idx="57">
                  <c:v>0.9907500000000001</c:v>
                </c:pt>
                <c:pt idx="58">
                  <c:v>0.9908166666666668</c:v>
                </c:pt>
                <c:pt idx="59">
                  <c:v>0.9907166666666667</c:v>
                </c:pt>
                <c:pt idx="60">
                  <c:v>0.9905833333333334</c:v>
                </c:pt>
                <c:pt idx="61">
                  <c:v>0.9906999999999999</c:v>
                </c:pt>
                <c:pt idx="62">
                  <c:v>0.9908166666666666</c:v>
                </c:pt>
                <c:pt idx="63">
                  <c:v>0.9908666666666667</c:v>
                </c:pt>
                <c:pt idx="64">
                  <c:v>0.9908</c:v>
                </c:pt>
                <c:pt idx="65">
                  <c:v>0.9905833333333334</c:v>
                </c:pt>
                <c:pt idx="66">
                  <c:v>0.99035</c:v>
                </c:pt>
                <c:pt idx="67">
                  <c:v>0.99025</c:v>
                </c:pt>
                <c:pt idx="68">
                  <c:v>0.9900333333333333</c:v>
                </c:pt>
                <c:pt idx="69">
                  <c:v>0.9897166666666667</c:v>
                </c:pt>
                <c:pt idx="70">
                  <c:v>0.9896166666666666</c:v>
                </c:pt>
                <c:pt idx="71">
                  <c:v>0.9892166666666666</c:v>
                </c:pt>
                <c:pt idx="72">
                  <c:v>0.9889833333333334</c:v>
                </c:pt>
                <c:pt idx="73">
                  <c:v>0.9886833333333334</c:v>
                </c:pt>
                <c:pt idx="74">
                  <c:v>0.9881500000000001</c:v>
                </c:pt>
                <c:pt idx="75">
                  <c:v>0.9876166666666665</c:v>
                </c:pt>
                <c:pt idx="76">
                  <c:v>0.9871666666666666</c:v>
                </c:pt>
                <c:pt idx="77">
                  <c:v>0.9870833333333332</c:v>
                </c:pt>
                <c:pt idx="78">
                  <c:v>0.9865666666666667</c:v>
                </c:pt>
                <c:pt idx="79">
                  <c:v>0.9856833333333334</c:v>
                </c:pt>
                <c:pt idx="80">
                  <c:v>0.9839833333333335</c:v>
                </c:pt>
                <c:pt idx="81">
                  <c:v>0.9825499999999999</c:v>
                </c:pt>
                <c:pt idx="82">
                  <c:v>0.9804833333333335</c:v>
                </c:pt>
                <c:pt idx="83">
                  <c:v>0.9778833333333335</c:v>
                </c:pt>
                <c:pt idx="84">
                  <c:v>0.9743166666666667</c:v>
                </c:pt>
                <c:pt idx="85">
                  <c:v>0.9686666666666667</c:v>
                </c:pt>
                <c:pt idx="86">
                  <c:v>0.9602333333333334</c:v>
                </c:pt>
                <c:pt idx="87">
                  <c:v>0.9468666666666667</c:v>
                </c:pt>
                <c:pt idx="88">
                  <c:v>0.9146333333333333</c:v>
                </c:pt>
                <c:pt idx="89">
                  <c:v>0.8617333333333334</c:v>
                </c:pt>
                <c:pt idx="90">
                  <c:v>0.7824833333333333</c:v>
                </c:pt>
                <c:pt idx="91">
                  <c:v>0.6819666666666667</c:v>
                </c:pt>
                <c:pt idx="92">
                  <c:v>0.6061166666666667</c:v>
                </c:pt>
                <c:pt idx="93">
                  <c:v>0.5575500000000001</c:v>
                </c:pt>
                <c:pt idx="94">
                  <c:v>0.5017666666666666</c:v>
                </c:pt>
                <c:pt idx="95">
                  <c:v>0.42486666666666667</c:v>
                </c:pt>
                <c:pt idx="96">
                  <c:v>0.36788333333333334</c:v>
                </c:pt>
                <c:pt idx="97">
                  <c:v>0.21328333333333335</c:v>
                </c:pt>
                <c:pt idx="98">
                  <c:v>0.010216666666666667</c:v>
                </c:pt>
                <c:pt idx="99">
                  <c:v>0</c:v>
                </c:pt>
                <c:pt idx="100">
                  <c:v>0</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Confidence 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10"/>
      </c:catAx>
      <c:valAx>
        <c:axId val="2094734552"/>
        <c:scaling>
          <c:orientation val="minMax"/>
          <c:max val="1"/>
          <c:min val="0"/>
        </c:scaling>
        <c:delete val="0"/>
        <c:axPos val="l"/>
        <c:majorGridlines>
          <c:spPr>
            <a:ln w="9525" cap="flat">
              <a:solidFill>
                <a:srgbClr val="E1E0D9"/>
              </a:solidFill>
              <a:prstDash val="solid"/>
              <a:round/>
            </a:ln>
          </c:spPr>
        </c:majorGridlines>
        <c:title>
          <c:tx>
            <c:rich>
              <a:bodyPr/>
              <a:lstStyle/>
              <a:p>
                <a:pPr>
                  <a:defRPr sz="1200" b="0" i="0" u="none" strike="noStrike">
                    <a:solidFill>
                      <a:srgbClr val="52514E"/>
                    </a:solidFill>
                    <a:latin typeface="+mn-lt"/>
                  </a:defRPr>
                </a:pPr>
                <a:r>
                  <a:rPr sz="1200" b="0" i="0" u="none" strike="noStrike">
                    <a:solidFill>
                      <a:srgbClr val="52514E"/>
                    </a:solidFill>
                    <a:latin typeface="+mn-lt"/>
                  </a:rPr>
                  <a:t>Score</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Average precision by class</a:t>
            </a:r>
          </a:p>
        </c:rich>
      </c:tx>
      <c:layout/>
      <c:overlay val="0"/>
    </c:title>
    <c:autoTitleDeleted val="0"/>
    <c:plotArea>
      <c:layout/>
      <c:barChart>
        <c:barDir val="col"/>
        <c:grouping val="clustered"/>
        <c:varyColors val="0"/>
        <c:ser>
          <c:idx val="0"/>
          <c:order val="0"/>
          <c:tx>
            <c:strRef>
              <c:f>Sheet1!$B$1</c:f>
              <c:strCache>
                <c:ptCount val="1"/>
                <c:pt idx="0">
                  <c:v>AP@50</c:v>
                </c:pt>
              </c:strCache>
            </c:strRef>
          </c:tx>
          <c:spPr>
            <a:solidFill>
              <a:srgbClr val="2A78D6"/>
            </a:solidFill>
            <a:effectLst/>
          </c:spPr>
          <c:invertIfNegative val="0"/>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state</c:v>
                  </c:pt>
                  <c:pt idx="1">
                    <c:v>arrow</c:v>
                  </c:pt>
                  <c:pt idx="2">
                    <c:v>final_state</c:v>
                  </c:pt>
                  <c:pt idx="3">
                    <c:v>arrowhead</c:v>
                  </c:pt>
                  <c:pt idx="4">
                    <c:v>initial_marker</c:v>
                  </c:pt>
                  <c:pt idx="5">
                    <c:v>label</c:v>
                  </c:pt>
                </c:lvl>
              </c:multiLvlStrCache>
            </c:multiLvlStrRef>
          </c:cat>
          <c:val>
            <c:numRef>
              <c:f>Sheet1!$B$2:$B$7</c:f>
              <c:numCache>
                <c:formatCode>General</c:formatCode>
                <c:ptCount val="6"/>
                <c:pt idx="0">
                  <c:v>0.995</c:v>
                </c:pt>
                <c:pt idx="1">
                  <c:v>0.994</c:v>
                </c:pt>
                <c:pt idx="2">
                  <c:v>0.995</c:v>
                </c:pt>
                <c:pt idx="3">
                  <c:v>0.982</c:v>
                </c:pt>
                <c:pt idx="4">
                  <c:v>0.993</c:v>
                </c:pt>
                <c:pt idx="5">
                  <c:v>0.995</c:v>
                </c:pt>
              </c:numCache>
            </c:numRef>
          </c:val>
        </c:ser>
        <c:ser>
          <c:idx val="1"/>
          <c:order val="1"/>
          <c:tx>
            <c:strRef>
              <c:f>Sheet1!$C$1</c:f>
              <c:strCache>
                <c:ptCount val="1"/>
                <c:pt idx="0">
                  <c:v>AP@50-95</c:v>
                </c:pt>
              </c:strCache>
            </c:strRef>
          </c:tx>
          <c:spPr>
            <a:solidFill>
              <a:srgbClr val="EB6834"/>
            </a:solidFill>
            <a:effectLst/>
          </c:spPr>
          <c:invertIfNegative val="0"/>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state</c:v>
                  </c:pt>
                  <c:pt idx="1">
                    <c:v>arrow</c:v>
                  </c:pt>
                  <c:pt idx="2">
                    <c:v>final_state</c:v>
                  </c:pt>
                  <c:pt idx="3">
                    <c:v>arrowhead</c:v>
                  </c:pt>
                  <c:pt idx="4">
                    <c:v>initial_marker</c:v>
                  </c:pt>
                  <c:pt idx="5">
                    <c:v>label</c:v>
                  </c:pt>
                </c:lvl>
              </c:multiLvlStrCache>
            </c:multiLvlStrRef>
          </c:cat>
          <c:val>
            <c:numRef>
              <c:f>Sheet1!$C$2:$C$7</c:f>
              <c:numCache>
                <c:formatCode>General</c:formatCode>
                <c:ptCount val="6"/>
                <c:pt idx="0">
                  <c:v>0.995</c:v>
                </c:pt>
                <c:pt idx="1">
                  <c:v>0.949</c:v>
                </c:pt>
                <c:pt idx="2">
                  <c:v>0.995</c:v>
                </c:pt>
                <c:pt idx="3">
                  <c:v>0.832</c:v>
                </c:pt>
                <c:pt idx="4">
                  <c:v>0.935</c:v>
                </c:pt>
                <c:pt idx="5">
                  <c:v>0.897</c:v>
                </c:pt>
              </c:numCache>
            </c:numRef>
          </c:val>
        </c:ser>
        <c:dLbls>
          <c:numFmt formatCode="0.000" sourceLinked="0"/>
          <c:txPr>
            <a:bodyPr/>
            <a:lstStyle/>
            <a:p>
              <a:pPr>
                <a:defRPr b="0" i="0" strike="noStrike" sz="10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9525" cap="flat">
              <a:solidFill>
                <a:srgbClr val="E1E0D9"/>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3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Validation metrics per epoch</a:t>
            </a:r>
          </a:p>
        </c:rich>
      </c:tx>
      <c:layout/>
      <c:overlay val="0"/>
    </c:title>
    <c:autoTitleDeleted val="0"/>
    <c:plotArea>
      <c:layout/>
      <c:lineChart>
        <c:varyColors val="0"/>
        <c:ser>
          <c:idx val="0"/>
          <c:order val="0"/>
          <c:tx>
            <c:strRef>
              <c:f>Sheet1!$B$1</c:f>
              <c:strCache>
                <c:ptCount val="1"/>
                <c:pt idx="0">
                  <c:v>Precision</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Sheet1!$B$2:$B$61</c:f>
              <c:numCache>
                <c:formatCode>General</c:formatCode>
                <c:ptCount val="60"/>
                <c:pt idx="0">
                  <c:v>0.901</c:v>
                </c:pt>
                <c:pt idx="1">
                  <c:v>0.9508</c:v>
                </c:pt>
                <c:pt idx="2">
                  <c:v>0.9602</c:v>
                </c:pt>
                <c:pt idx="3">
                  <c:v>0.9705</c:v>
                </c:pt>
                <c:pt idx="4">
                  <c:v>0.9833</c:v>
                </c:pt>
                <c:pt idx="5">
                  <c:v>0.9802</c:v>
                </c:pt>
                <c:pt idx="6">
                  <c:v>0.9786</c:v>
                </c:pt>
                <c:pt idx="7">
                  <c:v>0.9868</c:v>
                </c:pt>
                <c:pt idx="8">
                  <c:v>0.9865</c:v>
                </c:pt>
                <c:pt idx="9">
                  <c:v>0.9756</c:v>
                </c:pt>
                <c:pt idx="10">
                  <c:v>0.9873</c:v>
                </c:pt>
                <c:pt idx="11">
                  <c:v>0.9855</c:v>
                </c:pt>
                <c:pt idx="12">
                  <c:v>0.9855</c:v>
                </c:pt>
                <c:pt idx="13">
                  <c:v>0.9895</c:v>
                </c:pt>
                <c:pt idx="14">
                  <c:v>0.9862</c:v>
                </c:pt>
                <c:pt idx="15">
                  <c:v>0.9888</c:v>
                </c:pt>
                <c:pt idx="16">
                  <c:v>0.9893</c:v>
                </c:pt>
                <c:pt idx="17">
                  <c:v>0.9902</c:v>
                </c:pt>
                <c:pt idx="18">
                  <c:v>0.9894</c:v>
                </c:pt>
                <c:pt idx="19">
                  <c:v>0.9924</c:v>
                </c:pt>
                <c:pt idx="20">
                  <c:v>0.9913</c:v>
                </c:pt>
                <c:pt idx="21">
                  <c:v>0.9933</c:v>
                </c:pt>
                <c:pt idx="22">
                  <c:v>0.9913</c:v>
                </c:pt>
                <c:pt idx="23">
                  <c:v>0.9903</c:v>
                </c:pt>
                <c:pt idx="24">
                  <c:v>0.9901</c:v>
                </c:pt>
                <c:pt idx="25">
                  <c:v>0.9912</c:v>
                </c:pt>
                <c:pt idx="26">
                  <c:v>0.9943</c:v>
                </c:pt>
                <c:pt idx="27">
                  <c:v>0.9922</c:v>
                </c:pt>
                <c:pt idx="28">
                  <c:v>0.9887</c:v>
                </c:pt>
                <c:pt idx="29">
                  <c:v>0.9932</c:v>
                </c:pt>
                <c:pt idx="30">
                  <c:v>0.9923</c:v>
                </c:pt>
                <c:pt idx="31">
                  <c:v>0.9944</c:v>
                </c:pt>
                <c:pt idx="32">
                  <c:v>0.9917</c:v>
                </c:pt>
                <c:pt idx="33">
                  <c:v>0.9907</c:v>
                </c:pt>
                <c:pt idx="34">
                  <c:v>0.9923</c:v>
                </c:pt>
                <c:pt idx="35">
                  <c:v>0.994</c:v>
                </c:pt>
                <c:pt idx="36">
                  <c:v>0.9922</c:v>
                </c:pt>
                <c:pt idx="37">
                  <c:v>0.9929</c:v>
                </c:pt>
                <c:pt idx="38">
                  <c:v>0.9916</c:v>
                </c:pt>
                <c:pt idx="39">
                  <c:v>0.9958</c:v>
                </c:pt>
                <c:pt idx="40">
                  <c:v>0.9922</c:v>
                </c:pt>
                <c:pt idx="41">
                  <c:v>0.9923</c:v>
                </c:pt>
                <c:pt idx="42">
                  <c:v>0.9947</c:v>
                </c:pt>
                <c:pt idx="43">
                  <c:v>0.9941</c:v>
                </c:pt>
                <c:pt idx="44">
                  <c:v>0.9936</c:v>
                </c:pt>
                <c:pt idx="45">
                  <c:v>0.9932</c:v>
                </c:pt>
                <c:pt idx="46">
                  <c:v>0.9919</c:v>
                </c:pt>
                <c:pt idx="47">
                  <c:v>0.9947</c:v>
                </c:pt>
                <c:pt idx="48">
                  <c:v>0.9943</c:v>
                </c:pt>
                <c:pt idx="49">
                  <c:v>0.9934</c:v>
                </c:pt>
                <c:pt idx="50">
                  <c:v>0.9936</c:v>
                </c:pt>
                <c:pt idx="51">
                  <c:v>0.996</c:v>
                </c:pt>
                <c:pt idx="52">
                  <c:v>0.9956</c:v>
                </c:pt>
                <c:pt idx="53">
                  <c:v>0.9967</c:v>
                </c:pt>
                <c:pt idx="54">
                  <c:v>0.9961</c:v>
                </c:pt>
                <c:pt idx="55">
                  <c:v>0.9967</c:v>
                </c:pt>
                <c:pt idx="56">
                  <c:v>0.9955</c:v>
                </c:pt>
                <c:pt idx="57">
                  <c:v>0.9948</c:v>
                </c:pt>
                <c:pt idx="58">
                  <c:v>0.9971</c:v>
                </c:pt>
                <c:pt idx="59">
                  <c:v>0.9965</c:v>
                </c:pt>
              </c:numCache>
            </c:numRef>
          </c:val>
          <c:smooth val="0"/>
        </c:ser>
        <c:ser>
          <c:idx val="1"/>
          <c:order val="1"/>
          <c:tx>
            <c:strRef>
              <c:f>Sheet1!$C$1</c:f>
              <c:strCache>
                <c:ptCount val="1"/>
                <c:pt idx="0">
                  <c:v>Recall</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Sheet1!$C$2:$C$61</c:f>
              <c:numCache>
                <c:formatCode>General</c:formatCode>
                <c:ptCount val="60"/>
                <c:pt idx="0">
                  <c:v>0.9266</c:v>
                </c:pt>
                <c:pt idx="1">
                  <c:v>0.9308</c:v>
                </c:pt>
                <c:pt idx="2">
                  <c:v>0.9586</c:v>
                </c:pt>
                <c:pt idx="3">
                  <c:v>0.9657</c:v>
                </c:pt>
                <c:pt idx="4">
                  <c:v>0.9672</c:v>
                </c:pt>
                <c:pt idx="5">
                  <c:v>0.9639</c:v>
                </c:pt>
                <c:pt idx="6">
                  <c:v>0.9687</c:v>
                </c:pt>
                <c:pt idx="7">
                  <c:v>0.9741</c:v>
                </c:pt>
                <c:pt idx="8">
                  <c:v>0.9724</c:v>
                </c:pt>
                <c:pt idx="9">
                  <c:v>0.9701</c:v>
                </c:pt>
                <c:pt idx="10">
                  <c:v>0.9734</c:v>
                </c:pt>
                <c:pt idx="11">
                  <c:v>0.9785</c:v>
                </c:pt>
                <c:pt idx="12">
                  <c:v>0.9789</c:v>
                </c:pt>
                <c:pt idx="13">
                  <c:v>0.9766</c:v>
                </c:pt>
                <c:pt idx="14">
                  <c:v>0.9783</c:v>
                </c:pt>
                <c:pt idx="15">
                  <c:v>0.9761</c:v>
                </c:pt>
                <c:pt idx="16">
                  <c:v>0.9814</c:v>
                </c:pt>
                <c:pt idx="17">
                  <c:v>0.9805</c:v>
                </c:pt>
                <c:pt idx="18">
                  <c:v>0.9815</c:v>
                </c:pt>
                <c:pt idx="19">
                  <c:v>0.9776</c:v>
                </c:pt>
                <c:pt idx="20">
                  <c:v>0.9815</c:v>
                </c:pt>
                <c:pt idx="21">
                  <c:v>0.9817</c:v>
                </c:pt>
                <c:pt idx="22">
                  <c:v>0.9819</c:v>
                </c:pt>
                <c:pt idx="23">
                  <c:v>0.984</c:v>
                </c:pt>
                <c:pt idx="24">
                  <c:v>0.9844</c:v>
                </c:pt>
                <c:pt idx="25">
                  <c:v>0.9809</c:v>
                </c:pt>
                <c:pt idx="26">
                  <c:v>0.9826</c:v>
                </c:pt>
                <c:pt idx="27">
                  <c:v>0.9835</c:v>
                </c:pt>
                <c:pt idx="28">
                  <c:v>0.9858</c:v>
                </c:pt>
                <c:pt idx="29">
                  <c:v>0.9826</c:v>
                </c:pt>
                <c:pt idx="30">
                  <c:v>0.984</c:v>
                </c:pt>
                <c:pt idx="31">
                  <c:v>0.9838</c:v>
                </c:pt>
                <c:pt idx="32">
                  <c:v>0.9856</c:v>
                </c:pt>
                <c:pt idx="33">
                  <c:v>0.9858</c:v>
                </c:pt>
                <c:pt idx="34">
                  <c:v>0.9852</c:v>
                </c:pt>
                <c:pt idx="35">
                  <c:v>0.9833</c:v>
                </c:pt>
                <c:pt idx="36">
                  <c:v>0.9858</c:v>
                </c:pt>
                <c:pt idx="37">
                  <c:v>0.9878</c:v>
                </c:pt>
                <c:pt idx="38">
                  <c:v>0.9865</c:v>
                </c:pt>
                <c:pt idx="39">
                  <c:v>0.9844</c:v>
                </c:pt>
                <c:pt idx="40">
                  <c:v>0.9878</c:v>
                </c:pt>
                <c:pt idx="41">
                  <c:v>0.9887</c:v>
                </c:pt>
                <c:pt idx="42">
                  <c:v>0.9864</c:v>
                </c:pt>
                <c:pt idx="43">
                  <c:v>0.9872</c:v>
                </c:pt>
                <c:pt idx="44">
                  <c:v>0.9875</c:v>
                </c:pt>
                <c:pt idx="45">
                  <c:v>0.9875</c:v>
                </c:pt>
                <c:pt idx="46">
                  <c:v>0.9884</c:v>
                </c:pt>
                <c:pt idx="47">
                  <c:v>0.9856</c:v>
                </c:pt>
                <c:pt idx="48">
                  <c:v>0.9866</c:v>
                </c:pt>
                <c:pt idx="49">
                  <c:v>0.9882</c:v>
                </c:pt>
                <c:pt idx="50">
                  <c:v>0.9888</c:v>
                </c:pt>
                <c:pt idx="51">
                  <c:v>0.9868</c:v>
                </c:pt>
                <c:pt idx="52">
                  <c:v>0.9872</c:v>
                </c:pt>
                <c:pt idx="53">
                  <c:v>0.9875</c:v>
                </c:pt>
                <c:pt idx="54">
                  <c:v>0.988</c:v>
                </c:pt>
                <c:pt idx="55">
                  <c:v>0.988</c:v>
                </c:pt>
                <c:pt idx="56">
                  <c:v>0.9886</c:v>
                </c:pt>
                <c:pt idx="57">
                  <c:v>0.9891</c:v>
                </c:pt>
                <c:pt idx="58">
                  <c:v>0.9872</c:v>
                </c:pt>
                <c:pt idx="59">
                  <c:v>0.9877</c:v>
                </c:pt>
              </c:numCache>
            </c:numRef>
          </c:val>
          <c:smooth val="0"/>
        </c:ser>
        <c:ser>
          <c:idx val="2"/>
          <c:order val="2"/>
          <c:tx>
            <c:strRef>
              <c:f>Sheet1!$D$1</c:f>
              <c:strCache>
                <c:ptCount val="1"/>
                <c:pt idx="0">
                  <c:v>mAP@50</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Sheet1!$D$2:$D$61</c:f>
              <c:numCache>
                <c:formatCode>General</c:formatCode>
                <c:ptCount val="60"/>
                <c:pt idx="0">
                  <c:v>0.9505</c:v>
                </c:pt>
                <c:pt idx="1">
                  <c:v>0.9628</c:v>
                </c:pt>
                <c:pt idx="2">
                  <c:v>0.982</c:v>
                </c:pt>
                <c:pt idx="3">
                  <c:v>0.9858</c:v>
                </c:pt>
                <c:pt idx="4">
                  <c:v>0.9885</c:v>
                </c:pt>
                <c:pt idx="5">
                  <c:v>0.988</c:v>
                </c:pt>
                <c:pt idx="6">
                  <c:v>0.9887</c:v>
                </c:pt>
                <c:pt idx="7">
                  <c:v>0.9899</c:v>
                </c:pt>
                <c:pt idx="8">
                  <c:v>0.9895</c:v>
                </c:pt>
                <c:pt idx="9">
                  <c:v>0.99</c:v>
                </c:pt>
                <c:pt idx="10">
                  <c:v>0.9908</c:v>
                </c:pt>
                <c:pt idx="11">
                  <c:v>0.9916</c:v>
                </c:pt>
                <c:pt idx="12">
                  <c:v>0.9917</c:v>
                </c:pt>
                <c:pt idx="13">
                  <c:v>0.9918</c:v>
                </c:pt>
                <c:pt idx="14">
                  <c:v>0.9922</c:v>
                </c:pt>
                <c:pt idx="15">
                  <c:v>0.9921</c:v>
                </c:pt>
                <c:pt idx="16">
                  <c:v>0.9934</c:v>
                </c:pt>
                <c:pt idx="17">
                  <c:v>0.9925</c:v>
                </c:pt>
                <c:pt idx="18">
                  <c:v>0.9932</c:v>
                </c:pt>
                <c:pt idx="19">
                  <c:v>0.9908</c:v>
                </c:pt>
                <c:pt idx="20">
                  <c:v>0.9929</c:v>
                </c:pt>
                <c:pt idx="21">
                  <c:v>0.9933</c:v>
                </c:pt>
                <c:pt idx="22">
                  <c:v>0.9933</c:v>
                </c:pt>
                <c:pt idx="23">
                  <c:v>0.993</c:v>
                </c:pt>
                <c:pt idx="24">
                  <c:v>0.993</c:v>
                </c:pt>
                <c:pt idx="25">
                  <c:v>0.9936</c:v>
                </c:pt>
                <c:pt idx="26">
                  <c:v>0.9936</c:v>
                </c:pt>
                <c:pt idx="27">
                  <c:v>0.9935</c:v>
                </c:pt>
                <c:pt idx="28">
                  <c:v>0.9936</c:v>
                </c:pt>
                <c:pt idx="29">
                  <c:v>0.994</c:v>
                </c:pt>
                <c:pt idx="30">
                  <c:v>0.9938</c:v>
                </c:pt>
                <c:pt idx="31">
                  <c:v>0.9939</c:v>
                </c:pt>
                <c:pt idx="32">
                  <c:v>0.9933</c:v>
                </c:pt>
                <c:pt idx="33">
                  <c:v>0.9938</c:v>
                </c:pt>
                <c:pt idx="34">
                  <c:v>0.9941</c:v>
                </c:pt>
                <c:pt idx="35">
                  <c:v>0.994</c:v>
                </c:pt>
                <c:pt idx="36">
                  <c:v>0.994</c:v>
                </c:pt>
                <c:pt idx="37">
                  <c:v>0.9938</c:v>
                </c:pt>
                <c:pt idx="38">
                  <c:v>0.9939</c:v>
                </c:pt>
                <c:pt idx="39">
                  <c:v>0.9942</c:v>
                </c:pt>
                <c:pt idx="40">
                  <c:v>0.9943</c:v>
                </c:pt>
                <c:pt idx="41">
                  <c:v>0.9942</c:v>
                </c:pt>
                <c:pt idx="42">
                  <c:v>0.9942</c:v>
                </c:pt>
                <c:pt idx="43">
                  <c:v>0.9943</c:v>
                </c:pt>
                <c:pt idx="44">
                  <c:v>0.994</c:v>
                </c:pt>
                <c:pt idx="45">
                  <c:v>0.9945</c:v>
                </c:pt>
                <c:pt idx="46">
                  <c:v>0.9944</c:v>
                </c:pt>
                <c:pt idx="47">
                  <c:v>0.9942</c:v>
                </c:pt>
                <c:pt idx="48">
                  <c:v>0.9945</c:v>
                </c:pt>
                <c:pt idx="49">
                  <c:v>0.9944</c:v>
                </c:pt>
                <c:pt idx="50">
                  <c:v>0.9945</c:v>
                </c:pt>
                <c:pt idx="51">
                  <c:v>0.9944</c:v>
                </c:pt>
                <c:pt idx="52">
                  <c:v>0.9946</c:v>
                </c:pt>
                <c:pt idx="53">
                  <c:v>0.9945</c:v>
                </c:pt>
                <c:pt idx="54">
                  <c:v>0.9946</c:v>
                </c:pt>
                <c:pt idx="55">
                  <c:v>0.9946</c:v>
                </c:pt>
                <c:pt idx="56">
                  <c:v>0.9945</c:v>
                </c:pt>
                <c:pt idx="57">
                  <c:v>0.9946</c:v>
                </c:pt>
                <c:pt idx="58">
                  <c:v>0.9946</c:v>
                </c:pt>
                <c:pt idx="59">
                  <c:v>0.9946</c:v>
                </c:pt>
              </c:numCache>
            </c:numRef>
          </c:val>
          <c:smooth val="0"/>
        </c:ser>
        <c:ser>
          <c:idx val="3"/>
          <c:order val="3"/>
          <c:tx>
            <c:strRef>
              <c:f>Sheet1!$E$1</c:f>
              <c:strCache>
                <c:ptCount val="1"/>
                <c:pt idx="0">
                  <c:v>mAP@50-95</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Sheet1!$E$2:$E$61</c:f>
              <c:numCache>
                <c:formatCode>General</c:formatCode>
                <c:ptCount val="60"/>
                <c:pt idx="0">
                  <c:v>0.7246</c:v>
                </c:pt>
                <c:pt idx="1">
                  <c:v>0.7458</c:v>
                </c:pt>
                <c:pt idx="2">
                  <c:v>0.8174</c:v>
                </c:pt>
                <c:pt idx="3">
                  <c:v>0.8178</c:v>
                </c:pt>
                <c:pt idx="4">
                  <c:v>0.8403</c:v>
                </c:pt>
                <c:pt idx="5">
                  <c:v>0.8415</c:v>
                </c:pt>
                <c:pt idx="6">
                  <c:v>0.8569</c:v>
                </c:pt>
                <c:pt idx="7">
                  <c:v>0.8642</c:v>
                </c:pt>
                <c:pt idx="8">
                  <c:v>0.865</c:v>
                </c:pt>
                <c:pt idx="9">
                  <c:v>0.8713</c:v>
                </c:pt>
                <c:pt idx="10">
                  <c:v>0.8743</c:v>
                </c:pt>
                <c:pt idx="11">
                  <c:v>0.8709</c:v>
                </c:pt>
                <c:pt idx="12">
                  <c:v>0.8773</c:v>
                </c:pt>
                <c:pt idx="13">
                  <c:v>0.8786</c:v>
                </c:pt>
                <c:pt idx="14">
                  <c:v>0.8865</c:v>
                </c:pt>
                <c:pt idx="15">
                  <c:v>0.878</c:v>
                </c:pt>
                <c:pt idx="16">
                  <c:v>0.8949</c:v>
                </c:pt>
                <c:pt idx="17">
                  <c:v>0.886</c:v>
                </c:pt>
                <c:pt idx="18">
                  <c:v>0.8978</c:v>
                </c:pt>
                <c:pt idx="19">
                  <c:v>0.891</c:v>
                </c:pt>
                <c:pt idx="20">
                  <c:v>0.8995</c:v>
                </c:pt>
                <c:pt idx="21">
                  <c:v>0.9023</c:v>
                </c:pt>
                <c:pt idx="22">
                  <c:v>0.9052</c:v>
                </c:pt>
                <c:pt idx="23">
                  <c:v>0.9049</c:v>
                </c:pt>
                <c:pt idx="24">
                  <c:v>0.9026</c:v>
                </c:pt>
                <c:pt idx="25">
                  <c:v>0.8966</c:v>
                </c:pt>
                <c:pt idx="26">
                  <c:v>0.9059</c:v>
                </c:pt>
                <c:pt idx="27">
                  <c:v>0.9086</c:v>
                </c:pt>
                <c:pt idx="28">
                  <c:v>0.9107</c:v>
                </c:pt>
                <c:pt idx="29">
                  <c:v>0.9069</c:v>
                </c:pt>
                <c:pt idx="30">
                  <c:v>0.9105</c:v>
                </c:pt>
                <c:pt idx="31">
                  <c:v>0.9109</c:v>
                </c:pt>
                <c:pt idx="32">
                  <c:v>0.9115</c:v>
                </c:pt>
                <c:pt idx="33">
                  <c:v>0.9124</c:v>
                </c:pt>
                <c:pt idx="34">
                  <c:v>0.9125</c:v>
                </c:pt>
                <c:pt idx="35">
                  <c:v>0.9129</c:v>
                </c:pt>
                <c:pt idx="36">
                  <c:v>0.9172</c:v>
                </c:pt>
                <c:pt idx="37">
                  <c:v>0.9175</c:v>
                </c:pt>
                <c:pt idx="38">
                  <c:v>0.9201</c:v>
                </c:pt>
                <c:pt idx="39">
                  <c:v>0.9199</c:v>
                </c:pt>
                <c:pt idx="40">
                  <c:v>0.9189</c:v>
                </c:pt>
                <c:pt idx="41">
                  <c:v>0.9197</c:v>
                </c:pt>
                <c:pt idx="42">
                  <c:v>0.9198</c:v>
                </c:pt>
                <c:pt idx="43">
                  <c:v>0.922</c:v>
                </c:pt>
                <c:pt idx="44">
                  <c:v>0.9235</c:v>
                </c:pt>
                <c:pt idx="45">
                  <c:v>0.9221</c:v>
                </c:pt>
                <c:pt idx="46">
                  <c:v>0.921</c:v>
                </c:pt>
                <c:pt idx="47">
                  <c:v>0.9247</c:v>
                </c:pt>
                <c:pt idx="48">
                  <c:v>0.9253</c:v>
                </c:pt>
                <c:pt idx="49">
                  <c:v>0.9254</c:v>
                </c:pt>
                <c:pt idx="50">
                  <c:v>0.9264</c:v>
                </c:pt>
                <c:pt idx="51">
                  <c:v>0.9255</c:v>
                </c:pt>
                <c:pt idx="52">
                  <c:v>0.928</c:v>
                </c:pt>
                <c:pt idx="53">
                  <c:v>0.9297</c:v>
                </c:pt>
                <c:pt idx="54">
                  <c:v>0.9301</c:v>
                </c:pt>
                <c:pt idx="55">
                  <c:v>0.9311</c:v>
                </c:pt>
                <c:pt idx="56">
                  <c:v>0.9313</c:v>
                </c:pt>
                <c:pt idx="57">
                  <c:v>0.9321</c:v>
                </c:pt>
                <c:pt idx="58">
                  <c:v>0.9334</c:v>
                </c:pt>
                <c:pt idx="59">
                  <c:v>0.933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10"/>
      </c:catAx>
      <c:valAx>
        <c:axId val="2094734552"/>
        <c:scaling>
          <c:orientation val="minMax"/>
          <c:max val="1"/>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Box loss, training against validation</a:t>
            </a:r>
          </a:p>
        </c:rich>
      </c:tx>
      <c:layout/>
      <c:overlay val="0"/>
    </c:title>
    <c:autoTitleDeleted val="0"/>
    <c:plotArea>
      <c:layout/>
      <c:lineChart>
        <c:varyColors val="0"/>
        <c:ser>
          <c:idx val="0"/>
          <c:order val="0"/>
          <c:tx>
            <c:strRef>
              <c:f>Sheet1!$B$1</c:f>
              <c:strCache>
                <c:ptCount val="1"/>
                <c:pt idx="0">
                  <c:v>Training</c:v>
                </c:pt>
              </c:strCache>
            </c:strRef>
          </c:tx>
          <c:spPr>
            <a:solidFill>
              <a:srgbClr val="2A78D6"/>
            </a:solidFill>
            <a:ln w="28575"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Sheet1!$B$2:$B$61</c:f>
              <c:numCache>
                <c:formatCode>General</c:formatCode>
                <c:ptCount val="60"/>
                <c:pt idx="0">
                  <c:v>1.0776</c:v>
                </c:pt>
                <c:pt idx="1">
                  <c:v>0.8046</c:v>
                </c:pt>
                <c:pt idx="2">
                  <c:v>0.7624</c:v>
                </c:pt>
                <c:pt idx="3">
                  <c:v>0.7143</c:v>
                </c:pt>
                <c:pt idx="4">
                  <c:v>0.6903</c:v>
                </c:pt>
                <c:pt idx="5">
                  <c:v>0.6604</c:v>
                </c:pt>
                <c:pt idx="6">
                  <c:v>0.6357</c:v>
                </c:pt>
                <c:pt idx="7">
                  <c:v>0.6476</c:v>
                </c:pt>
                <c:pt idx="8">
                  <c:v>0.6224</c:v>
                </c:pt>
                <c:pt idx="9">
                  <c:v>0.604</c:v>
                </c:pt>
                <c:pt idx="10">
                  <c:v>0.5957</c:v>
                </c:pt>
                <c:pt idx="11">
                  <c:v>0.5956</c:v>
                </c:pt>
                <c:pt idx="12">
                  <c:v>0.5779</c:v>
                </c:pt>
                <c:pt idx="13">
                  <c:v>0.5708</c:v>
                </c:pt>
                <c:pt idx="14">
                  <c:v>0.5684</c:v>
                </c:pt>
                <c:pt idx="15">
                  <c:v>0.5508</c:v>
                </c:pt>
                <c:pt idx="16">
                  <c:v>0.5511</c:v>
                </c:pt>
                <c:pt idx="17">
                  <c:v>0.5532</c:v>
                </c:pt>
                <c:pt idx="18">
                  <c:v>0.5449</c:v>
                </c:pt>
                <c:pt idx="19">
                  <c:v>0.539</c:v>
                </c:pt>
                <c:pt idx="20">
                  <c:v>0.5347</c:v>
                </c:pt>
                <c:pt idx="21">
                  <c:v>0.5223</c:v>
                </c:pt>
                <c:pt idx="22">
                  <c:v>0.5193</c:v>
                </c:pt>
                <c:pt idx="23">
                  <c:v>0.5171</c:v>
                </c:pt>
                <c:pt idx="24">
                  <c:v>0.5092</c:v>
                </c:pt>
                <c:pt idx="25">
                  <c:v>0.5075</c:v>
                </c:pt>
                <c:pt idx="26">
                  <c:v>0.5064</c:v>
                </c:pt>
                <c:pt idx="27">
                  <c:v>0.4955</c:v>
                </c:pt>
                <c:pt idx="28">
                  <c:v>0.496</c:v>
                </c:pt>
                <c:pt idx="29">
                  <c:v>0.4941</c:v>
                </c:pt>
                <c:pt idx="30">
                  <c:v>0.4928</c:v>
                </c:pt>
                <c:pt idx="31">
                  <c:v>0.4844</c:v>
                </c:pt>
                <c:pt idx="32">
                  <c:v>0.4823</c:v>
                </c:pt>
                <c:pt idx="33">
                  <c:v>0.4812</c:v>
                </c:pt>
                <c:pt idx="34">
                  <c:v>0.4824</c:v>
                </c:pt>
                <c:pt idx="35">
                  <c:v>0.4799</c:v>
                </c:pt>
                <c:pt idx="36">
                  <c:v>0.4662</c:v>
                </c:pt>
                <c:pt idx="37">
                  <c:v>0.4639</c:v>
                </c:pt>
                <c:pt idx="38">
                  <c:v>0.4645</c:v>
                </c:pt>
                <c:pt idx="39">
                  <c:v>0.4639</c:v>
                </c:pt>
                <c:pt idx="40">
                  <c:v>0.4528</c:v>
                </c:pt>
                <c:pt idx="41">
                  <c:v>0.4515</c:v>
                </c:pt>
                <c:pt idx="42">
                  <c:v>0.451</c:v>
                </c:pt>
                <c:pt idx="43">
                  <c:v>0.4516</c:v>
                </c:pt>
                <c:pt idx="44">
                  <c:v>0.4493</c:v>
                </c:pt>
                <c:pt idx="45">
                  <c:v>0.4453</c:v>
                </c:pt>
                <c:pt idx="46">
                  <c:v>0.4431</c:v>
                </c:pt>
                <c:pt idx="47">
                  <c:v>0.4398</c:v>
                </c:pt>
                <c:pt idx="48">
                  <c:v>0.4395</c:v>
                </c:pt>
                <c:pt idx="49">
                  <c:v>0.4337</c:v>
                </c:pt>
                <c:pt idx="50">
                  <c:v>0.372</c:v>
                </c:pt>
                <c:pt idx="51">
                  <c:v>0.3664</c:v>
                </c:pt>
                <c:pt idx="52">
                  <c:v>0.3607</c:v>
                </c:pt>
                <c:pt idx="53">
                  <c:v>0.3577</c:v>
                </c:pt>
                <c:pt idx="54">
                  <c:v>0.3532</c:v>
                </c:pt>
                <c:pt idx="55">
                  <c:v>0.3464</c:v>
                </c:pt>
                <c:pt idx="56">
                  <c:v>0.3443</c:v>
                </c:pt>
                <c:pt idx="57">
                  <c:v>0.3418</c:v>
                </c:pt>
                <c:pt idx="58">
                  <c:v>0.3378</c:v>
                </c:pt>
                <c:pt idx="59">
                  <c:v>0.337</c:v>
                </c:pt>
              </c:numCache>
            </c:numRef>
          </c:val>
          <c:smooth val="0"/>
        </c:ser>
        <c:ser>
          <c:idx val="1"/>
          <c:order val="1"/>
          <c:tx>
            <c:strRef>
              <c:f>Sheet1!$C$1</c:f>
              <c:strCache>
                <c:ptCount val="1"/>
                <c:pt idx="0">
                  <c:v>Validation</c:v>
                </c:pt>
              </c:strCache>
            </c:strRef>
          </c:tx>
          <c:spPr>
            <a:solidFill>
              <a:srgbClr val="EB6834"/>
            </a:solidFill>
            <a:ln w="28575"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Sheet1!$A$2:$A$61</c:f>
              <c:multiLvlStrCache>
                <c:ptCount val="6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lvl>
              </c:multiLvlStrCache>
            </c:multiLvlStrRef>
          </c:cat>
          <c:val>
            <c:numRef>
              <c:f>Sheet1!$C$2:$C$61</c:f>
              <c:numCache>
                <c:formatCode>General</c:formatCode>
                <c:ptCount val="60"/>
                <c:pt idx="0">
                  <c:v>0.7958</c:v>
                </c:pt>
                <c:pt idx="1">
                  <c:v>0.7764</c:v>
                </c:pt>
                <c:pt idx="2">
                  <c:v>0.6398</c:v>
                </c:pt>
                <c:pt idx="3">
                  <c:v>0.6498</c:v>
                </c:pt>
                <c:pt idx="4">
                  <c:v>0.5888</c:v>
                </c:pt>
                <c:pt idx="5">
                  <c:v>0.5809</c:v>
                </c:pt>
                <c:pt idx="6">
                  <c:v>0.5411</c:v>
                </c:pt>
                <c:pt idx="7">
                  <c:v>0.5268</c:v>
                </c:pt>
                <c:pt idx="8">
                  <c:v>0.5298</c:v>
                </c:pt>
                <c:pt idx="9">
                  <c:v>0.5081</c:v>
                </c:pt>
                <c:pt idx="10">
                  <c:v>0.4949</c:v>
                </c:pt>
                <c:pt idx="11">
                  <c:v>0.5096</c:v>
                </c:pt>
                <c:pt idx="12">
                  <c:v>0.4836</c:v>
                </c:pt>
                <c:pt idx="13">
                  <c:v>0.4962</c:v>
                </c:pt>
                <c:pt idx="14">
                  <c:v>0.4671</c:v>
                </c:pt>
                <c:pt idx="15">
                  <c:v>0.4828</c:v>
                </c:pt>
                <c:pt idx="16">
                  <c:v>0.4465</c:v>
                </c:pt>
                <c:pt idx="17">
                  <c:v>0.4707</c:v>
                </c:pt>
                <c:pt idx="18">
                  <c:v>0.4425</c:v>
                </c:pt>
                <c:pt idx="19">
                  <c:v>0.4534</c:v>
                </c:pt>
                <c:pt idx="20">
                  <c:v>0.4302</c:v>
                </c:pt>
                <c:pt idx="21">
                  <c:v>0.4227</c:v>
                </c:pt>
                <c:pt idx="22">
                  <c:v>0.4187</c:v>
                </c:pt>
                <c:pt idx="23">
                  <c:v>0.4137</c:v>
                </c:pt>
                <c:pt idx="24">
                  <c:v>0.4135</c:v>
                </c:pt>
                <c:pt idx="25">
                  <c:v>0.4489</c:v>
                </c:pt>
                <c:pt idx="26">
                  <c:v>0.4159</c:v>
                </c:pt>
                <c:pt idx="27">
                  <c:v>0.399</c:v>
                </c:pt>
                <c:pt idx="28">
                  <c:v>0.3941</c:v>
                </c:pt>
                <c:pt idx="29">
                  <c:v>0.404</c:v>
                </c:pt>
                <c:pt idx="30">
                  <c:v>0.3962</c:v>
                </c:pt>
                <c:pt idx="31">
                  <c:v>0.3989</c:v>
                </c:pt>
                <c:pt idx="32">
                  <c:v>0.403</c:v>
                </c:pt>
                <c:pt idx="33">
                  <c:v>0.3889</c:v>
                </c:pt>
                <c:pt idx="34">
                  <c:v>0.393</c:v>
                </c:pt>
                <c:pt idx="35">
                  <c:v>0.3875</c:v>
                </c:pt>
                <c:pt idx="36">
                  <c:v>0.375</c:v>
                </c:pt>
                <c:pt idx="37">
                  <c:v>0.3816</c:v>
                </c:pt>
                <c:pt idx="38">
                  <c:v>0.3707</c:v>
                </c:pt>
                <c:pt idx="39">
                  <c:v>0.3672</c:v>
                </c:pt>
                <c:pt idx="40">
                  <c:v>0.3691</c:v>
                </c:pt>
                <c:pt idx="41">
                  <c:v>0.3639</c:v>
                </c:pt>
                <c:pt idx="42">
                  <c:v>0.3643</c:v>
                </c:pt>
                <c:pt idx="43">
                  <c:v>0.3604</c:v>
                </c:pt>
                <c:pt idx="44">
                  <c:v>0.3575</c:v>
                </c:pt>
                <c:pt idx="45">
                  <c:v>0.3631</c:v>
                </c:pt>
                <c:pt idx="46">
                  <c:v>0.3635</c:v>
                </c:pt>
                <c:pt idx="47">
                  <c:v>0.3535</c:v>
                </c:pt>
                <c:pt idx="48">
                  <c:v>0.3541</c:v>
                </c:pt>
                <c:pt idx="49">
                  <c:v>0.3492</c:v>
                </c:pt>
                <c:pt idx="50">
                  <c:v>0.3504</c:v>
                </c:pt>
                <c:pt idx="51">
                  <c:v>0.3541</c:v>
                </c:pt>
                <c:pt idx="52">
                  <c:v>0.342</c:v>
                </c:pt>
                <c:pt idx="53">
                  <c:v>0.339</c:v>
                </c:pt>
                <c:pt idx="54">
                  <c:v>0.3336</c:v>
                </c:pt>
                <c:pt idx="55">
                  <c:v>0.3311</c:v>
                </c:pt>
                <c:pt idx="56">
                  <c:v>0.3338</c:v>
                </c:pt>
                <c:pt idx="57">
                  <c:v>0.3275</c:v>
                </c:pt>
                <c:pt idx="58">
                  <c:v>0.3261</c:v>
                </c:pt>
                <c:pt idx="59">
                  <c:v>0.3267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2514E"/>
                    </a:solidFill>
                    <a:latin typeface="+mn-lt"/>
                  </a:defRPr>
                </a:pPr>
                <a:r>
                  <a:rPr sz="1200" b="0" i="0" u="none" strike="noStrike">
                    <a:solidFill>
                      <a:srgbClr val="52514E"/>
                    </a:solidFill>
                    <a:latin typeface="+mn-lt"/>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tickLblSkip val="10"/>
      </c:catAx>
      <c:valAx>
        <c:axId val="2094734552"/>
        <c:scaling>
          <c:orientation val="minMax"/>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Detector mAP@50</c:v>
                </c:pt>
              </c:strCache>
            </c:strRef>
          </c:tx>
          <c:spPr>
            <a:solidFill>
              <a:srgbClr val="2A78D6"/>
            </a:solidFill>
            <a:effectLst/>
          </c:spPr>
          <c:invertIfNegative val="0"/>
          <c:dLbls>
            <c:numFmt formatCode="0.000" sourceLinked="0"/>
            <c:txPr>
              <a:bodyPr/>
              <a:lstStyle/>
              <a:p>
                <a:pPr>
                  <a:defRPr b="0" i="0" strike="noStrike" sz="13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Sheet1!$B$2:$B$4</c:f>
              <c:numCache>
                <c:formatCode>General</c:formatCode>
                <c:ptCount val="3"/>
                <c:pt idx="0">
                  <c:v>0.995</c:v>
                </c:pt>
                <c:pt idx="1">
                  <c:v>0.995</c:v>
                </c:pt>
                <c:pt idx="2">
                  <c:v>0.992</c:v>
                </c:pt>
              </c:numCache>
            </c:numRef>
          </c:val>
        </c:ser>
        <c:ser>
          <c:idx val="1"/>
          <c:order val="1"/>
          <c:tx>
            <c:strRef>
              <c:f>Sheet1!$C$1</c:f>
              <c:strCache>
                <c:ptCount val="1"/>
                <c:pt idx="0">
                  <c:v>Transition F1 after linking arrows to states</c:v>
                </c:pt>
              </c:strCache>
            </c:strRef>
          </c:tx>
          <c:spPr>
            <a:solidFill>
              <a:srgbClr val="EB6834"/>
            </a:solidFill>
            <a:effectLst/>
          </c:spPr>
          <c:invertIfNegative val="0"/>
          <c:dLbls>
            <c:numFmt formatCode="0.000" sourceLinked="0"/>
            <c:txPr>
              <a:bodyPr/>
              <a:lstStyle/>
              <a:p>
                <a:pPr>
                  <a:defRPr b="0" i="0" strike="noStrike" sz="1300" u="none">
                    <a:solidFill>
                      <a:srgbClr val="000000"/>
                    </a:solidFill>
                    <a:latin typeface="+mn-lt"/>
                  </a:defRPr>
                </a:pPr>
              </a:p>
            </c:txP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Sheet1!$C$2:$C$4</c:f>
              <c:numCache>
                <c:formatCode>General</c:formatCode>
                <c:ptCount val="3"/>
                <c:pt idx="0">
                  <c:v>0.32</c:v>
                </c:pt>
                <c:pt idx="1">
                  <c:v>0.585</c:v>
                </c:pt>
                <c:pt idx="2">
                  <c:v>0.928</c:v>
                </c:pt>
              </c:numCache>
            </c:numRef>
          </c:val>
        </c:ser>
        <c:dLbls>
          <c:numFmt formatCode="0.000" sourceLinked="0"/>
          <c:txPr>
            <a:bodyPr/>
            <a:lstStyle/>
            <a:p>
              <a:pPr>
                <a:defRPr b="0" i="0" strike="noStrike" sz="1300" u="none">
                  <a:solidFill>
                    <a:srgbClr val="00000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3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Of the true transitions (recall)</a:t>
            </a:r>
          </a:p>
        </c:rich>
      </c:tx>
      <c:layout/>
      <c:overlay val="0"/>
    </c:title>
    <c:autoTitleDeleted val="0"/>
    <c:plotArea>
      <c:layout/>
      <c:barChart>
        <c:barDir val="bar"/>
        <c:grouping val="stacked"/>
        <c:varyColors val="0"/>
        <c:ser>
          <c:idx val="0"/>
          <c:order val="0"/>
          <c:tx>
            <c:strRef>
              <c:f>Sheet1!$B$1</c:f>
              <c:strCache>
                <c:ptCount val="1"/>
                <c:pt idx="0">
                  <c:v>Correct</c:v>
                </c:pt>
              </c:strCache>
            </c:strRef>
          </c:tx>
          <c:spPr>
            <a:solidFill>
              <a:srgbClr val="2A78D6"/>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Sheet1!$B$2:$B$4</c:f>
              <c:numCache>
                <c:formatCode>General</c:formatCode>
                <c:ptCount val="3"/>
                <c:pt idx="0">
                  <c:v>469</c:v>
                </c:pt>
                <c:pt idx="1">
                  <c:v>640</c:v>
                </c:pt>
                <c:pt idx="2">
                  <c:v>1151</c:v>
                </c:pt>
              </c:numCache>
            </c:numRef>
          </c:val>
        </c:ser>
        <c:ser>
          <c:idx val="1"/>
          <c:order val="1"/>
          <c:tx>
            <c:strRef>
              <c:f>Sheet1!$C$1</c:f>
              <c:strCache>
                <c:ptCount val="1"/>
                <c:pt idx="0">
                  <c:v>Right states, reversed direction</c:v>
                </c:pt>
              </c:strCache>
            </c:strRef>
          </c:tx>
          <c:spPr>
            <a:solidFill>
              <a:srgbClr val="EB6834"/>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Sheet1!$C$2:$C$4</c:f>
              <c:numCache>
                <c:formatCode>General</c:formatCode>
                <c:ptCount val="3"/>
                <c:pt idx="0">
                  <c:v>243</c:v>
                </c:pt>
                <c:pt idx="1">
                  <c:v>144</c:v>
                </c:pt>
                <c:pt idx="2">
                  <c:v>36</c:v>
                </c:pt>
              </c:numCache>
            </c:numRef>
          </c:val>
        </c:ser>
        <c:ser>
          <c:idx val="2"/>
          <c:order val="2"/>
          <c:tx>
            <c:strRef>
              <c:f>Sheet1!$D$1</c:f>
              <c:strCache>
                <c:ptCount val="1"/>
                <c:pt idx="0">
                  <c:v>Missed or linked wrongly</c:v>
                </c:pt>
              </c:strCache>
            </c:strRef>
          </c:tx>
          <c:spPr>
            <a:solidFill>
              <a:srgbClr val="1BAF7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Sheet1!$D$2:$D$4</c:f>
              <c:numCache>
                <c:formatCode>General</c:formatCode>
                <c:ptCount val="3"/>
                <c:pt idx="0">
                  <c:v>556</c:v>
                </c:pt>
                <c:pt idx="1">
                  <c:v>484</c:v>
                </c:pt>
                <c:pt idx="2">
                  <c:v>81</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E0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0B0B0B"/>
                </a:solidFill>
                <a:latin typeface="+mn-lt"/>
              </a:defRPr>
            </a:pPr>
            <a:r>
              <a:rPr sz="1500" b="1" i="0" u="none" strike="noStrike">
                <a:solidFill>
                  <a:srgbClr val="0B0B0B"/>
                </a:solidFill>
                <a:latin typeface="+mn-lt"/>
              </a:rPr>
              <a:t>Of the predicted transitions (precision)</a:t>
            </a:r>
          </a:p>
        </c:rich>
      </c:tx>
      <c:layout/>
      <c:overlay val="0"/>
    </c:title>
    <c:autoTitleDeleted val="0"/>
    <c:plotArea>
      <c:layout/>
      <c:barChart>
        <c:barDir val="bar"/>
        <c:grouping val="stacked"/>
        <c:varyColors val="0"/>
        <c:ser>
          <c:idx val="0"/>
          <c:order val="0"/>
          <c:tx>
            <c:strRef>
              <c:f>Sheet1!$B$1</c:f>
              <c:strCache>
                <c:ptCount val="1"/>
                <c:pt idx="0">
                  <c:v>Correct</c:v>
                </c:pt>
              </c:strCache>
            </c:strRef>
          </c:tx>
          <c:spPr>
            <a:solidFill>
              <a:srgbClr val="2A78D6"/>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Sheet1!$B$2:$B$4</c:f>
              <c:numCache>
                <c:formatCode>General</c:formatCode>
                <c:ptCount val="3"/>
                <c:pt idx="0">
                  <c:v>469</c:v>
                </c:pt>
                <c:pt idx="1">
                  <c:v>640</c:v>
                </c:pt>
                <c:pt idx="2">
                  <c:v>1151</c:v>
                </c:pt>
              </c:numCache>
            </c:numRef>
          </c:val>
        </c:ser>
        <c:ser>
          <c:idx val="1"/>
          <c:order val="1"/>
          <c:tx>
            <c:strRef>
              <c:f>Sheet1!$C$1</c:f>
              <c:strCache>
                <c:ptCount val="1"/>
                <c:pt idx="0">
                  <c:v>Right states, reversed direction</c:v>
                </c:pt>
              </c:strCache>
            </c:strRef>
          </c:tx>
          <c:spPr>
            <a:solidFill>
              <a:srgbClr val="EB6834"/>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Sheet1!$C$2:$C$4</c:f>
              <c:numCache>
                <c:formatCode>General</c:formatCode>
                <c:ptCount val="3"/>
                <c:pt idx="0">
                  <c:v>243</c:v>
                </c:pt>
                <c:pt idx="1">
                  <c:v>144</c:v>
                </c:pt>
                <c:pt idx="2">
                  <c:v>36</c:v>
                </c:pt>
              </c:numCache>
            </c:numRef>
          </c:val>
        </c:ser>
        <c:ser>
          <c:idx val="2"/>
          <c:order val="2"/>
          <c:tx>
            <c:strRef>
              <c:f>Sheet1!$D$1</c:f>
              <c:strCache>
                <c:ptCount val="1"/>
                <c:pt idx="0">
                  <c:v>Spurious</c:v>
                </c:pt>
              </c:strCache>
            </c:strRef>
          </c:tx>
          <c:spPr>
            <a:solidFill>
              <a:srgbClr val="1BAF7A"/>
            </a:solidFill>
            <a:effectLst/>
          </c:spPr>
          <c:invertIfNegative val="0"/>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A original</c:v>
                  </c:pt>
                  <c:pt idx="1">
                    <c:v>B new linking</c:v>
                  </c:pt>
                  <c:pt idx="2">
                    <c:v>C new linking and detector</c:v>
                  </c:pt>
                </c:lvl>
              </c:multiLvlStrCache>
            </c:multiLvlStrRef>
          </c:cat>
          <c:val>
            <c:numRef>
              <c:f>Sheet1!$D$2:$D$4</c:f>
              <c:numCache>
                <c:formatCode>General</c:formatCode>
                <c:ptCount val="3"/>
                <c:pt idx="0">
                  <c:v>948</c:v>
                </c:pt>
                <c:pt idx="1">
                  <c:v>136</c:v>
                </c:pt>
                <c:pt idx="2">
                  <c:v>25</c:v>
                </c:pt>
              </c:numCache>
            </c:numRef>
          </c:val>
        </c:ser>
        <c:dLbls>
          <c:numFmt formatCode="#,##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E1E0D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B0B0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Introduce the problem in one sentence: a picture of a state diagram goes in, a validated graph and tested Python code come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is a graph, not a label. Every arrow needs the correct source, target and direction.
We are doing structured reconstruction, not plain object detection.
A wrong guess produces wrong code with no warning, so uncertainty is part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boxes left to right. Only box 2 is learned.
A missing Gemini key or missing Tesseract does not break the rest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Arrow endpoints and directions must be exactly right for the code to be right, and an LLM answer cannot be checked.
Here perception is measured on 360 held-out diagrams, the output is validated, and the code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 only gives axis-aligned boxes. For a curved arrow the box says nothing about endpoints or direction.
That is why the next stages work on the actual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mAP@50 of 0.992 on 360 unseen diagrams, with 5,108 labelled objects.
mAP@50-95 is lower at 0.934 because it demands tighter box placement. The Classes card shows 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stage is classical OpenCV with no learning. Dividing by the estimated background is what makes shadowed photos work.
Otsu picks the threshold automatically, so there is no manual tuning per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contribution. The first version linked each arrow end to the nearest state centre, which invents self-loops, swaps directions and links wrong states when edges cross.
Because turning is penalised, the tracer keeps going straight at a crossing instead of switching edges.
Demo image: crossing_edges.png.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decides source versus target, so it needs evidence.
Exclusivity separates shallow crossings of two nearly parallel curved arrows.
Demo image: arrow_without_head.png.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arrow that starts in empty space and ends at a state is the entry arrow, not a transition.
Shape: a rounded rectangle versus a circle is decided by whether the box diagonals carry ink near the corners.
We never invent protocol behaviour: unknown words stay plain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system that silently guesses produces wrong code with no warning. Ours hands the decision to the user.
Demo images: arrow_without_head.png, dangling_arrow.png and no_initial_marker.png.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view, the JSON tab and the generated code are all views of one file, so they cannot drift apart.
Validation runs on every editor save and every code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can be exported as a standalone pytest module.
A diagram with no detected states counts as a failure in the conformance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that the sandbox is process-level isolation. For untrusted code at scale we would use a container.
Suggestions are never auto-applied. LLM test cases are replayed on the reference model and marked as agreeing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Hand-labelling thousands of real diagrams is impractical, so diagrams are rendered by code, each with its exact true graph.
That lets us evaluate the whole reconstructed graph, not only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Hungarian matching gives the best one-to-one pairing between predicted and true states.
Metrics are summed over all 360 diagrams before dividing (micro-averaged).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threshold to 0.90: recall falls from 0.99 to 0.70 while precision only rises from 0.987 to 0.998.
The pipeline uses 0.40. The best-F1 point is 0.63, with F1 0.991 against 0.989, so F1 is flat across a wide range.
A missed arrowhead makes direction uncertain, and the system flags it for review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Arrowhead and initial marker have the lowest recall: small objects that look like parts of arrows.
State and final state stay at 1.000 across a wide range of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and final states score 0.995 on both measures: large and clean shapes.
Arrowheads drop from 0.982 to 0.832 under the strict measure. They are a few pixels across, so a small shift lowers the overlap a lot. The detector finds them but cannot place the box to the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Errors only. 14 initial markers were called arrows (both are short arrows), 9 arrows were called arrowheads, and 17 arrowheads and 4 arrows were missed.
The errors make sense for line drawings: they are between classes that look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loss stays close to training loss and mAP plateaus. All 60 epochs ran, since the early-stopping patience of 15 never triggered.
Switch to the original model: it starts at precision 0.024 with recall 0.984, an untrained classifier firing on nearly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detector gives 0.32 with nearest-centre linking and 0.585 with stroke tracing. Retraining the detector then raises it to 0.928.
Lesson: a component metric such as mAP can look saturated while the task metric still has most of its headroom. Measure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 B changes only the algorithm: 0.320 to 0.585. B to C changes only the detector: 0.585 to 0.928.
Other numbers for C: state F1 1.000, endpoint accuracy 0.964, initial-state accuracy 0.983 (was 0.000), final-state F1 0.997, whole graph structurally exact 0.719 (was 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 over-predicted: 1,660 transitions for 1,268 real ones. B was cautious at 920. C predicted 1,212 and got 1,151 right.
In C, 36 transitions had the right pair of states but the wrong direction, 81 were missed or linked wrongly, and 25 were spurious.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is true positives over everything predicted. Recall is true positives over everything real.
A transition counts as correct only if the pair of states and the direction are both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 percent of whole graphs are structurally exact. Requiring every character of every name and label to be exact gives 27 percent, because one wrong character fails the diagram.
State names have a character error rate of 0.052. Transition labels 0.228: small text on or near lines, with brackets and slashes.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editor is a small server on Python's standard library with plain HTML and JavaScript, bound to localhost.
Records saved as held-out evaluation are never exported for training. They only measure whether a retrained model really improved.
No real corrections have been collected yet, so no improvement from this loop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before you are asked. The biggest is the domain gap: every measured number is on rendered diagrams.
Next steps: collect and fix real hand-drawn and photographed diagrams, fine-tune the detector, try a handwriting-capable OCR model, support more target languages with the same conformance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4"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100" dirty="0">
                <a:solidFill>
                  <a:schemeClr val="tx2"/>
                </a:solidFill>
              </a:rPr>
              <a:t>State Diagram to Code</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32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300" b="1" spc="200" kern="0" dirty="0">
                <a:solidFill>
                  <a:schemeClr val="accent6"/>
                </a:solidFill>
              </a:defRPr>
            </a:lvl1pPr>
          </a:lstStyle>
          <a:p>
            <a:pPr indent="0" marL="0">
              <a:buNone/>
            </a:pP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4"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100" dirty="0">
                <a:solidFill>
                  <a:schemeClr val="bg1">
                    <a:alpha val="65000"/>
                  </a:schemeClr>
                </a:solidFill>
              </a:rPr>
              <a:t>State Diagram to Code</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23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309360" cy="2011680"/>
          </a:xfrm>
          <a:prstGeom prst="rect">
            <a:avLst/>
          </a:prstGeom>
          <a:noFill/>
          <a:ln/>
        </p:spPr>
        <p:txBody>
          <a:bodyPr wrap="square" rtlCol="0"/>
          <a:lstStyle>
            <a:lvl1pPr indent="0" marL="0">
              <a:buNone/>
              <a:defRPr lang="en-US" sz="5600" b="1" dirty="0">
                <a:solidFill>
                  <a:schemeClr val="bg1"/>
                </a:solidFill>
              </a:defRPr>
            </a:lvl1pPr>
          </a:lstStyle>
          <a:p>
            <a:pPr indent="0" marL="0">
              <a:buNone/>
            </a:pPr>
            <a:endParaRPr lang="en-US" sz="5600" dirty="0"/>
          </a:p>
        </p:txBody>
      </p:sp>
      <p:sp>
        <p:nvSpPr>
          <p:cNvPr id="3" name="Text 0"/>
          <p:cNvSpPr/>
          <p:nvPr>
            <p:ph idx="101" type="body" hasCustomPrompt="1"/>
          </p:nvPr>
        </p:nvSpPr>
        <p:spPr>
          <a:xfrm>
            <a:off x="548640" y="4069080"/>
            <a:ext cx="603504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2.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6309360" cy="2011680"/>
          </a:xfrm>
          <a:prstGeom prst="rect">
            <a:avLst/>
          </a:prstGeom>
          <a:noFill/>
          <a:ln/>
        </p:spPr>
        <p:txBody>
          <a:bodyPr wrap="square" lIns="0" tIns="0" rIns="0" bIns="0" rtlCol="0" anchor="t"/>
          <a:lstStyle/>
          <a:p>
            <a:pPr indent="0" marL="0">
              <a:buNone/>
            </a:pPr>
            <a:r>
              <a:rPr lang="en-US" sz="5600" b="1" dirty="0">
                <a:solidFill>
                  <a:schemeClr val="bg1"/>
                </a:solidFill>
              </a:rPr>
              <a:t>State Diagram to Code</a:t>
            </a:r>
            <a:endParaRPr lang="en-US" sz="5600" dirty="0"/>
          </a:p>
        </p:txBody>
      </p:sp>
      <p:sp>
        <p:nvSpPr>
          <p:cNvPr id="3" name="Text 0"/>
          <p:cNvSpPr/>
          <p:nvPr>
            <p:ph idx="101" type="body" hasCustomPrompt="1"/>
          </p:nvPr>
        </p:nvSpPr>
        <p:spPr>
          <a:xfrm>
            <a:off x="548640" y="4069080"/>
            <a:ext cx="6035040" cy="1097280"/>
          </a:xfrm>
          <a:prstGeom prst="rect">
            <a:avLst/>
          </a:prstGeom>
          <a:noFill/>
          <a:ln/>
        </p:spPr>
        <p:txBody>
          <a:bodyPr wrap="square" lIns="0" tIns="0" rIns="0" bIns="0" rtlCol="0" anchor="t"/>
          <a:lstStyle/>
          <a:p>
            <a:pPr indent="0" marL="0">
              <a:buNone/>
            </a:pPr>
            <a:r>
              <a:rPr lang="en-US" sz="2000" dirty="0">
                <a:solidFill>
                  <a:schemeClr val="accent6"/>
                </a:solidFill>
              </a:rPr>
              <a:t>A picture of a state-transition diagram goes in. A validated graph and tested Python code come out.</a:t>
            </a:r>
            <a:endParaRPr lang="en-US" sz="2000" dirty="0"/>
          </a:p>
        </p:txBody>
      </p:sp>
      <p:sp>
        <p:nvSpPr>
          <p:cNvPr id="4" name="Text 2"/>
          <p:cNvSpPr txBox="1"/>
          <p:nvPr/>
        </p:nvSpPr>
        <p:spPr>
          <a:xfrm>
            <a:off x="548640" y="5440680"/>
            <a:ext cx="6217920" cy="292608"/>
          </a:xfrm>
          <a:prstGeom prst="rect">
            <a:avLst/>
          </a:prstGeom>
          <a:noFill/>
          <a:ln/>
        </p:spPr>
        <p:txBody>
          <a:bodyPr wrap="square" lIns="0" tIns="0" rIns="0" bIns="0" rtlCol="0" anchor="t"/>
          <a:lstStyle/>
          <a:p>
            <a:pPr indent="0" marL="0">
              <a:buNone/>
            </a:pPr>
            <a:r>
              <a:rPr lang="en-US" sz="1500" b="1" dirty="0">
                <a:solidFill>
                  <a:schemeClr val="accent6"/>
                </a:solidFill>
              </a:rPr>
              <a:t>Detector  </a:t>
            </a:r>
            <a:pPr indent="0" marL="0">
              <a:buNone/>
            </a:pPr>
            <a:r>
              <a:rPr lang="en-US" sz="1500" dirty="0">
                <a:solidFill>
                  <a:schemeClr val="bg1"/>
                </a:solidFill>
              </a:rPr>
              <a:t>YOLO11n, 6 classes</a:t>
            </a:r>
            <a:endParaRPr lang="en-US" sz="1500" dirty="0"/>
          </a:p>
        </p:txBody>
      </p:sp>
      <p:sp>
        <p:nvSpPr>
          <p:cNvPr id="5" name="Text 3"/>
          <p:cNvSpPr txBox="1"/>
          <p:nvPr/>
        </p:nvSpPr>
        <p:spPr>
          <a:xfrm>
            <a:off x="548640" y="5769864"/>
            <a:ext cx="6217920" cy="292608"/>
          </a:xfrm>
          <a:prstGeom prst="rect">
            <a:avLst/>
          </a:prstGeom>
          <a:noFill/>
          <a:ln/>
        </p:spPr>
        <p:txBody>
          <a:bodyPr wrap="square" lIns="0" tIns="0" rIns="0" bIns="0" rtlCol="0" anchor="t"/>
          <a:lstStyle/>
          <a:p>
            <a:pPr indent="0" marL="0">
              <a:buNone/>
            </a:pPr>
            <a:r>
              <a:rPr lang="en-US" sz="1500" b="1" dirty="0">
                <a:solidFill>
                  <a:schemeClr val="accent6"/>
                </a:solidFill>
              </a:rPr>
              <a:t>Test split  </a:t>
            </a:r>
            <a:pPr indent="0" marL="0">
              <a:buNone/>
            </a:pPr>
            <a:r>
              <a:rPr lang="en-US" sz="1500" dirty="0">
                <a:solidFill>
                  <a:schemeClr val="bg1"/>
                </a:solidFill>
              </a:rPr>
              <a:t>360 diagrams, 5,108 objects</a:t>
            </a:r>
            <a:endParaRPr lang="en-US" sz="1500" dirty="0"/>
          </a:p>
        </p:txBody>
      </p:sp>
      <p:sp>
        <p:nvSpPr>
          <p:cNvPr id="6" name="Text 4"/>
          <p:cNvSpPr txBox="1"/>
          <p:nvPr/>
        </p:nvSpPr>
        <p:spPr>
          <a:xfrm>
            <a:off x="548640" y="6099048"/>
            <a:ext cx="6217920" cy="292608"/>
          </a:xfrm>
          <a:prstGeom prst="rect">
            <a:avLst/>
          </a:prstGeom>
          <a:noFill/>
          <a:ln/>
        </p:spPr>
        <p:txBody>
          <a:bodyPr wrap="square" lIns="0" tIns="0" rIns="0" bIns="0" rtlCol="0" anchor="t"/>
          <a:lstStyle/>
          <a:p>
            <a:pPr indent="0" marL="0">
              <a:buNone/>
            </a:pPr>
            <a:r>
              <a:rPr lang="en-US" sz="1500" b="1" dirty="0">
                <a:solidFill>
                  <a:schemeClr val="accent6"/>
                </a:solidFill>
              </a:rPr>
              <a:t>Speed  </a:t>
            </a:r>
            <a:pPr indent="0" marL="0">
              <a:buNone/>
            </a:pPr>
            <a:r>
              <a:rPr lang="en-US" sz="1500" dirty="0">
                <a:solidFill>
                  <a:schemeClr val="bg1"/>
                </a:solidFill>
              </a:rPr>
              <a:t>2.5 ms per image on a laptop GPU</a:t>
            </a:r>
            <a:endParaRPr lang="en-US" sz="1500" dirty="0"/>
          </a:p>
        </p:txBody>
      </p:sp>
      <p:sp>
        <p:nvSpPr>
          <p:cNvPr id="7" name="Edge"/>
          <p:cNvSpPr/>
          <p:nvPr/>
        </p:nvSpPr>
        <p:spPr>
          <a:xfrm>
            <a:off x="8704356" y="2360981"/>
            <a:ext cx="1303569" cy="0"/>
          </a:xfrm>
          <a:prstGeom prst="line">
            <a:avLst/>
          </a:prstGeom>
          <a:noFill/>
          <a:ln w="44450">
            <a:solidFill>
              <a:schemeClr val="accent6"/>
            </a:solidFill>
            <a:prstDash val="solid"/>
            <a:tailEnd type="triangle"/>
          </a:ln>
        </p:spPr>
      </p:sp>
      <p:sp>
        <p:nvSpPr>
          <p:cNvPr id="8" name="Edge"/>
          <p:cNvSpPr/>
          <p:nvPr/>
        </p:nvSpPr>
        <p:spPr>
          <a:xfrm flipH="1">
            <a:off x="9832507" y="2814816"/>
            <a:ext cx="689604" cy="1293108"/>
          </a:xfrm>
          <a:prstGeom prst="line">
            <a:avLst/>
          </a:prstGeom>
          <a:noFill/>
          <a:ln w="44450">
            <a:solidFill>
              <a:schemeClr val="accent6"/>
            </a:solidFill>
            <a:prstDash val="solid"/>
            <a:tailEnd type="triangle"/>
          </a:ln>
        </p:spPr>
      </p:sp>
      <p:sp>
        <p:nvSpPr>
          <p:cNvPr id="9" name="Edge"/>
          <p:cNvSpPr/>
          <p:nvPr/>
        </p:nvSpPr>
        <p:spPr>
          <a:xfrm flipH="1" flipV="1">
            <a:off x="8545031" y="3028054"/>
            <a:ext cx="689604" cy="1293108"/>
          </a:xfrm>
          <a:prstGeom prst="line">
            <a:avLst/>
          </a:prstGeom>
          <a:noFill/>
          <a:ln w="44450">
            <a:solidFill>
              <a:schemeClr val="accent6"/>
            </a:solidFill>
            <a:prstDash val="solid"/>
            <a:tailEnd type="triangle"/>
          </a:ln>
        </p:spPr>
      </p:sp>
      <p:sp>
        <p:nvSpPr>
          <p:cNvPr id="10" name="Edge"/>
          <p:cNvSpPr/>
          <p:nvPr/>
        </p:nvSpPr>
        <p:spPr>
          <a:xfrm>
            <a:off x="7384694" y="1717243"/>
            <a:ext cx="289682" cy="225308"/>
          </a:xfrm>
          <a:prstGeom prst="line">
            <a:avLst/>
          </a:prstGeom>
          <a:noFill/>
          <a:ln w="44450">
            <a:solidFill>
              <a:schemeClr val="accent6"/>
            </a:solidFill>
            <a:prstDash val="solid"/>
            <a:tailEnd type="triangle"/>
          </a:ln>
        </p:spPr>
      </p:sp>
      <p:sp>
        <p:nvSpPr>
          <p:cNvPr id="11" name="State"/>
          <p:cNvSpPr/>
          <p:nvPr/>
        </p:nvSpPr>
        <p:spPr>
          <a:xfrm>
            <a:off x="7674376" y="1845991"/>
            <a:ext cx="1029980" cy="1029980"/>
          </a:xfrm>
          <a:prstGeom prst="ellipse">
            <a:avLst/>
          </a:prstGeom>
          <a:solidFill>
            <a:srgbClr val="FFFFFF">
              <a:alpha val="12000"/>
            </a:srgbClr>
          </a:solidFill>
          <a:ln w="44450">
            <a:solidFill>
              <a:schemeClr val="bg1"/>
            </a:solidFill>
            <a:prstDash val="solid"/>
          </a:ln>
        </p:spPr>
      </p:sp>
      <p:sp>
        <p:nvSpPr>
          <p:cNvPr id="12" name="State"/>
          <p:cNvSpPr/>
          <p:nvPr/>
        </p:nvSpPr>
        <p:spPr>
          <a:xfrm>
            <a:off x="10249327" y="1845991"/>
            <a:ext cx="1029980" cy="1029980"/>
          </a:xfrm>
          <a:prstGeom prst="ellipse">
            <a:avLst/>
          </a:prstGeom>
          <a:solidFill>
            <a:srgbClr val="FFFFFF">
              <a:alpha val="12000"/>
            </a:srgbClr>
          </a:solidFill>
          <a:ln w="44450">
            <a:solidFill>
              <a:schemeClr val="bg1"/>
            </a:solidFill>
            <a:prstDash val="solid"/>
          </a:ln>
        </p:spPr>
      </p:sp>
      <p:sp>
        <p:nvSpPr>
          <p:cNvPr id="13" name="State"/>
          <p:cNvSpPr/>
          <p:nvPr/>
        </p:nvSpPr>
        <p:spPr>
          <a:xfrm>
            <a:off x="8961852" y="4260007"/>
            <a:ext cx="1029980" cy="1029980"/>
          </a:xfrm>
          <a:prstGeom prst="ellipse">
            <a:avLst/>
          </a:prstGeom>
          <a:solidFill>
            <a:srgbClr val="FFFFFF">
              <a:alpha val="12000"/>
            </a:srgbClr>
          </a:solidFill>
          <a:ln w="44450">
            <a:solidFill>
              <a:schemeClr val="bg1"/>
            </a:solidFill>
            <a:prstDash val="solid"/>
          </a:ln>
        </p:spPr>
      </p:sp>
      <p:sp>
        <p:nvSpPr>
          <p:cNvPr id="14" name="Final ring"/>
          <p:cNvSpPr/>
          <p:nvPr/>
        </p:nvSpPr>
        <p:spPr>
          <a:xfrm>
            <a:off x="9090599" y="4388754"/>
            <a:ext cx="772485" cy="772485"/>
          </a:xfrm>
          <a:prstGeom prst="ellipse">
            <a:avLst/>
          </a:prstGeom>
          <a:ln w="44450">
            <a:solidFill>
              <a:schemeClr val="bg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PROBLEM</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A diagram is an image. Software needs a graph</a:t>
            </a:r>
            <a:endParaRPr lang="en-US" sz="3400" dirty="0"/>
          </a:p>
        </p:txBody>
      </p:sp>
      <p:sp>
        <p:nvSpPr>
          <p:cNvPr id="5" name="Text 2"/>
          <p:cNvSpPr txBox="1"/>
          <p:nvPr/>
        </p:nvSpPr>
        <p:spPr>
          <a:xfrm>
            <a:off x="548640" y="1828800"/>
            <a:ext cx="11091672" cy="731520"/>
          </a:xfrm>
          <a:prstGeom prst="rect">
            <a:avLst/>
          </a:prstGeom>
          <a:noFill/>
          <a:ln/>
        </p:spPr>
        <p:txBody>
          <a:bodyPr wrap="square" lIns="0" tIns="0" rIns="0" bIns="0" rtlCol="0" anchor="t"/>
          <a:lstStyle/>
          <a:p>
            <a:pPr indent="0" marL="0">
              <a:buNone/>
            </a:pPr>
            <a:r>
              <a:rPr lang="en-US" sz="1800" dirty="0">
                <a:solidFill>
                  <a:schemeClr val="tx1"/>
                </a:solidFill>
              </a:rPr>
              <a:t>Protocol and interface state machines are drawn as pictures. Someone re-types them as code by hand, which is slow and easy to get wrong.</a:t>
            </a:r>
            <a:endParaRPr lang="en-US" sz="1800" dirty="0"/>
          </a:p>
        </p:txBody>
      </p:sp>
      <p:sp>
        <p:nvSpPr>
          <p:cNvPr id="6" name="Card: States"/>
          <p:cNvSpPr/>
          <p:nvPr/>
        </p:nvSpPr>
        <p:spPr>
          <a:xfrm>
            <a:off x="548640" y="2743200"/>
            <a:ext cx="2567178" cy="2286000"/>
          </a:xfrm>
          <a:prstGeom prst="roundRect">
            <a:avLst>
              <a:gd name="adj" fmla="val 3200"/>
            </a:avLst>
          </a:prstGeom>
          <a:solidFill>
            <a:schemeClr val="bg2"/>
          </a:solidFill>
          <a:ln/>
        </p:spPr>
      </p:sp>
      <p:sp>
        <p:nvSpPr>
          <p:cNvPr id="7" name="Dot"/>
          <p:cNvSpPr/>
          <p:nvPr/>
        </p:nvSpPr>
        <p:spPr>
          <a:xfrm>
            <a:off x="777240" y="3017520"/>
            <a:ext cx="146304" cy="146304"/>
          </a:xfrm>
          <a:prstGeom prst="ellipse">
            <a:avLst/>
          </a:prstGeom>
          <a:solidFill>
            <a:schemeClr val="accent1"/>
          </a:solidFill>
          <a:ln/>
        </p:spPr>
      </p:sp>
      <p:sp>
        <p:nvSpPr>
          <p:cNvPr id="8" name="Text 5"/>
          <p:cNvSpPr txBox="1"/>
          <p:nvPr/>
        </p:nvSpPr>
        <p:spPr>
          <a:xfrm>
            <a:off x="1051560" y="2926080"/>
            <a:ext cx="1835658" cy="365760"/>
          </a:xfrm>
          <a:prstGeom prst="rect">
            <a:avLst/>
          </a:prstGeom>
          <a:noFill/>
          <a:ln/>
        </p:spPr>
        <p:txBody>
          <a:bodyPr wrap="square" lIns="0" tIns="0" rIns="0" bIns="0" rtlCol="0" anchor="t"/>
          <a:lstStyle/>
          <a:p>
            <a:pPr indent="0" marL="0">
              <a:buNone/>
            </a:pPr>
            <a:r>
              <a:rPr lang="en-US" sz="1800" b="1" dirty="0">
                <a:solidFill>
                  <a:schemeClr val="tx1"/>
                </a:solidFill>
              </a:rPr>
              <a:t>States</a:t>
            </a:r>
            <a:endParaRPr lang="en-US" sz="1800" dirty="0"/>
          </a:p>
        </p:txBody>
      </p:sp>
      <p:sp>
        <p:nvSpPr>
          <p:cNvPr id="9" name="Text 6"/>
          <p:cNvSpPr txBox="1"/>
          <p:nvPr/>
        </p:nvSpPr>
        <p:spPr>
          <a:xfrm>
            <a:off x="777240" y="3429000"/>
            <a:ext cx="2109978" cy="1463040"/>
          </a:xfrm>
          <a:prstGeom prst="rect">
            <a:avLst/>
          </a:prstGeom>
          <a:noFill/>
          <a:ln/>
        </p:spPr>
        <p:txBody>
          <a:bodyPr wrap="square" lIns="0" tIns="0" rIns="0" bIns="0" rtlCol="0" anchor="t"/>
          <a:lstStyle/>
          <a:p>
            <a:pPr indent="0" marL="0">
              <a:buNone/>
            </a:pPr>
            <a:r>
              <a:rPr lang="en-US" sz="1500" dirty="0">
                <a:solidFill>
                  <a:schemeClr val="tx1"/>
                </a:solidFill>
              </a:rPr>
              <a:t>Find every state and read its name.</a:t>
            </a:r>
            <a:endParaRPr lang="en-US" sz="1600" dirty="0"/>
          </a:p>
        </p:txBody>
      </p:sp>
      <p:sp>
        <p:nvSpPr>
          <p:cNvPr id="10" name="Card: Transitions"/>
          <p:cNvSpPr/>
          <p:nvPr/>
        </p:nvSpPr>
        <p:spPr>
          <a:xfrm>
            <a:off x="3390138" y="2743200"/>
            <a:ext cx="2567178" cy="2286000"/>
          </a:xfrm>
          <a:prstGeom prst="roundRect">
            <a:avLst>
              <a:gd name="adj" fmla="val 3200"/>
            </a:avLst>
          </a:prstGeom>
          <a:solidFill>
            <a:schemeClr val="bg2"/>
          </a:solidFill>
          <a:ln/>
        </p:spPr>
      </p:sp>
      <p:sp>
        <p:nvSpPr>
          <p:cNvPr id="11" name="Dot"/>
          <p:cNvSpPr/>
          <p:nvPr/>
        </p:nvSpPr>
        <p:spPr>
          <a:xfrm>
            <a:off x="3618738" y="3017520"/>
            <a:ext cx="146304" cy="146304"/>
          </a:xfrm>
          <a:prstGeom prst="ellipse">
            <a:avLst/>
          </a:prstGeom>
          <a:solidFill>
            <a:schemeClr val="accent1"/>
          </a:solidFill>
          <a:ln/>
        </p:spPr>
      </p:sp>
      <p:sp>
        <p:nvSpPr>
          <p:cNvPr id="12" name="Text 9"/>
          <p:cNvSpPr txBox="1"/>
          <p:nvPr/>
        </p:nvSpPr>
        <p:spPr>
          <a:xfrm>
            <a:off x="3893058" y="2926080"/>
            <a:ext cx="1835658" cy="365760"/>
          </a:xfrm>
          <a:prstGeom prst="rect">
            <a:avLst/>
          </a:prstGeom>
          <a:noFill/>
          <a:ln/>
        </p:spPr>
        <p:txBody>
          <a:bodyPr wrap="square" lIns="0" tIns="0" rIns="0" bIns="0" rtlCol="0" anchor="t"/>
          <a:lstStyle/>
          <a:p>
            <a:pPr indent="0" marL="0">
              <a:buNone/>
            </a:pPr>
            <a:r>
              <a:rPr lang="en-US" sz="1800" b="1" dirty="0">
                <a:solidFill>
                  <a:schemeClr val="tx1"/>
                </a:solidFill>
              </a:rPr>
              <a:t>Transitions</a:t>
            </a:r>
            <a:endParaRPr lang="en-US" sz="1800" dirty="0"/>
          </a:p>
        </p:txBody>
      </p:sp>
      <p:sp>
        <p:nvSpPr>
          <p:cNvPr id="13" name="Text 10"/>
          <p:cNvSpPr txBox="1"/>
          <p:nvPr/>
        </p:nvSpPr>
        <p:spPr>
          <a:xfrm>
            <a:off x="3618738" y="3429000"/>
            <a:ext cx="2109978" cy="1463040"/>
          </a:xfrm>
          <a:prstGeom prst="rect">
            <a:avLst/>
          </a:prstGeom>
          <a:noFill/>
          <a:ln/>
        </p:spPr>
        <p:txBody>
          <a:bodyPr wrap="square" lIns="0" tIns="0" rIns="0" bIns="0" rtlCol="0" anchor="t"/>
          <a:lstStyle/>
          <a:p>
            <a:pPr indent="0" marL="0">
              <a:buNone/>
            </a:pPr>
            <a:r>
              <a:rPr lang="en-US" sz="1500" dirty="0">
                <a:solidFill>
                  <a:schemeClr val="tx1"/>
                </a:solidFill>
              </a:rPr>
              <a:t>Link each arrow to the right source, target and direction, even when edges cross, curve or loop back.</a:t>
            </a:r>
            <a:endParaRPr lang="en-US" sz="1600" dirty="0"/>
          </a:p>
        </p:txBody>
      </p:sp>
      <p:sp>
        <p:nvSpPr>
          <p:cNvPr id="14" name="Card: Labels"/>
          <p:cNvSpPr/>
          <p:nvPr/>
        </p:nvSpPr>
        <p:spPr>
          <a:xfrm>
            <a:off x="6231636" y="2743200"/>
            <a:ext cx="2567178" cy="2286000"/>
          </a:xfrm>
          <a:prstGeom prst="roundRect">
            <a:avLst>
              <a:gd name="adj" fmla="val 3200"/>
            </a:avLst>
          </a:prstGeom>
          <a:solidFill>
            <a:schemeClr val="bg2"/>
          </a:solidFill>
          <a:ln/>
        </p:spPr>
      </p:sp>
      <p:sp>
        <p:nvSpPr>
          <p:cNvPr id="15" name="Dot"/>
          <p:cNvSpPr/>
          <p:nvPr/>
        </p:nvSpPr>
        <p:spPr>
          <a:xfrm>
            <a:off x="6460236" y="3017520"/>
            <a:ext cx="146304" cy="146304"/>
          </a:xfrm>
          <a:prstGeom prst="ellipse">
            <a:avLst/>
          </a:prstGeom>
          <a:solidFill>
            <a:schemeClr val="accent1"/>
          </a:solidFill>
          <a:ln/>
        </p:spPr>
      </p:sp>
      <p:sp>
        <p:nvSpPr>
          <p:cNvPr id="16" name="Text 13"/>
          <p:cNvSpPr txBox="1"/>
          <p:nvPr/>
        </p:nvSpPr>
        <p:spPr>
          <a:xfrm>
            <a:off x="6734556" y="2926080"/>
            <a:ext cx="1835658" cy="365760"/>
          </a:xfrm>
          <a:prstGeom prst="rect">
            <a:avLst/>
          </a:prstGeom>
          <a:noFill/>
          <a:ln/>
        </p:spPr>
        <p:txBody>
          <a:bodyPr wrap="square" lIns="0" tIns="0" rIns="0" bIns="0" rtlCol="0" anchor="t"/>
          <a:lstStyle/>
          <a:p>
            <a:pPr indent="0" marL="0">
              <a:buNone/>
            </a:pPr>
            <a:r>
              <a:rPr lang="en-US" sz="1800" b="1" dirty="0">
                <a:solidFill>
                  <a:schemeClr val="tx1"/>
                </a:solidFill>
              </a:rPr>
              <a:t>Labels</a:t>
            </a:r>
            <a:endParaRPr lang="en-US" sz="1800" dirty="0"/>
          </a:p>
        </p:txBody>
      </p:sp>
      <p:sp>
        <p:nvSpPr>
          <p:cNvPr id="17" name="Text 14"/>
          <p:cNvSpPr txBox="1"/>
          <p:nvPr/>
        </p:nvSpPr>
        <p:spPr>
          <a:xfrm>
            <a:off x="6460236" y="3429000"/>
            <a:ext cx="2109978" cy="1463040"/>
          </a:xfrm>
          <a:prstGeom prst="rect">
            <a:avLst/>
          </a:prstGeom>
          <a:noFill/>
          <a:ln/>
        </p:spPr>
        <p:txBody>
          <a:bodyPr wrap="square" lIns="0" tIns="0" rIns="0" bIns="0" rtlCol="0" anchor="t"/>
          <a:lstStyle/>
          <a:p>
            <a:pPr indent="0" marL="0">
              <a:buNone/>
            </a:pPr>
            <a:r>
              <a:rPr lang="en-US" sz="1500" dirty="0">
                <a:solidFill>
                  <a:schemeClr val="tx1"/>
                </a:solidFill>
              </a:rPr>
              <a:t>Split the text into event, guard and action.</a:t>
            </a:r>
            <a:endParaRPr lang="en-US" sz="1600" dirty="0"/>
          </a:p>
        </p:txBody>
      </p:sp>
      <p:sp>
        <p:nvSpPr>
          <p:cNvPr id="18" name="Card: Start and end"/>
          <p:cNvSpPr/>
          <p:nvPr/>
        </p:nvSpPr>
        <p:spPr>
          <a:xfrm>
            <a:off x="9073134" y="2743200"/>
            <a:ext cx="2567178" cy="2286000"/>
          </a:xfrm>
          <a:prstGeom prst="roundRect">
            <a:avLst>
              <a:gd name="adj" fmla="val 3200"/>
            </a:avLst>
          </a:prstGeom>
          <a:solidFill>
            <a:schemeClr val="bg2"/>
          </a:solidFill>
          <a:ln/>
        </p:spPr>
      </p:sp>
      <p:sp>
        <p:nvSpPr>
          <p:cNvPr id="19" name="Dot"/>
          <p:cNvSpPr/>
          <p:nvPr/>
        </p:nvSpPr>
        <p:spPr>
          <a:xfrm>
            <a:off x="9301734" y="3017520"/>
            <a:ext cx="146304" cy="146304"/>
          </a:xfrm>
          <a:prstGeom prst="ellipse">
            <a:avLst/>
          </a:prstGeom>
          <a:solidFill>
            <a:schemeClr val="accent1"/>
          </a:solidFill>
          <a:ln/>
        </p:spPr>
      </p:sp>
      <p:sp>
        <p:nvSpPr>
          <p:cNvPr id="20" name="Text 17"/>
          <p:cNvSpPr txBox="1"/>
          <p:nvPr/>
        </p:nvSpPr>
        <p:spPr>
          <a:xfrm>
            <a:off x="9576054" y="2926080"/>
            <a:ext cx="1835658" cy="365760"/>
          </a:xfrm>
          <a:prstGeom prst="rect">
            <a:avLst/>
          </a:prstGeom>
          <a:noFill/>
          <a:ln/>
        </p:spPr>
        <p:txBody>
          <a:bodyPr wrap="square" lIns="0" tIns="0" rIns="0" bIns="0" rtlCol="0" anchor="t"/>
          <a:lstStyle/>
          <a:p>
            <a:pPr indent="0" marL="0">
              <a:buNone/>
            </a:pPr>
            <a:r>
              <a:rPr lang="en-US" sz="1800" b="1" dirty="0">
                <a:solidFill>
                  <a:schemeClr val="tx1"/>
                </a:solidFill>
              </a:rPr>
              <a:t>Start and end</a:t>
            </a:r>
            <a:endParaRPr lang="en-US" sz="1800" dirty="0"/>
          </a:p>
        </p:txBody>
      </p:sp>
      <p:sp>
        <p:nvSpPr>
          <p:cNvPr id="21" name="Text 18"/>
          <p:cNvSpPr txBox="1"/>
          <p:nvPr/>
        </p:nvSpPr>
        <p:spPr>
          <a:xfrm>
            <a:off x="9301734" y="3429000"/>
            <a:ext cx="2109978" cy="1463040"/>
          </a:xfrm>
          <a:prstGeom prst="rect">
            <a:avLst/>
          </a:prstGeom>
          <a:noFill/>
          <a:ln/>
        </p:spPr>
        <p:txBody>
          <a:bodyPr wrap="square" lIns="0" tIns="0" rIns="0" bIns="0" rtlCol="0" anchor="t"/>
          <a:lstStyle/>
          <a:p>
            <a:pPr indent="0" marL="0">
              <a:buNone/>
            </a:pPr>
            <a:r>
              <a:rPr lang="en-US" sz="1500" dirty="0">
                <a:solidFill>
                  <a:schemeClr val="tx1"/>
                </a:solidFill>
              </a:rPr>
              <a:t>Identify the initial state and the final states.</a:t>
            </a:r>
            <a:endParaRPr lang="en-US" sz="1600" dirty="0"/>
          </a:p>
        </p:txBody>
      </p:sp>
      <p:sp>
        <p:nvSpPr>
          <p:cNvPr id="22" name="Callout"/>
          <p:cNvSpPr/>
          <p:nvPr/>
        </p:nvSpPr>
        <p:spPr>
          <a:xfrm>
            <a:off x="548640" y="5303520"/>
            <a:ext cx="11091672" cy="914400"/>
          </a:xfrm>
          <a:prstGeom prst="roundRect">
            <a:avLst>
              <a:gd name="adj" fmla="val 8000"/>
            </a:avLst>
          </a:prstGeom>
          <a:solidFill>
            <a:schemeClr val="accent1">
              <a:alpha val="10000"/>
            </a:schemeClr>
          </a:solidFill>
          <a:ln/>
        </p:spPr>
      </p:sp>
      <p:sp>
        <p:nvSpPr>
          <p:cNvPr id="23" name="Text 20"/>
          <p:cNvSpPr txBox="1"/>
          <p:nvPr/>
        </p:nvSpPr>
        <p:spPr>
          <a:xfrm>
            <a:off x="822960" y="5303520"/>
            <a:ext cx="10543032" cy="914400"/>
          </a:xfrm>
          <a:prstGeom prst="rect">
            <a:avLst/>
          </a:prstGeom>
          <a:noFill/>
          <a:ln/>
        </p:spPr>
        <p:txBody>
          <a:bodyPr wrap="square" lIns="0" tIns="0" rIns="0" bIns="0" rtlCol="0" anchor="ctr"/>
          <a:lstStyle/>
          <a:p>
            <a:pPr indent="0" marL="0">
              <a:buNone/>
            </a:pPr>
            <a:r>
              <a:rPr lang="en-US" sz="1600" b="1" dirty="0">
                <a:solidFill>
                  <a:schemeClr val="tx1"/>
                </a:solidFill>
              </a:rPr>
              <a:t>One wrong endpoint means code with wrong behaviour. </a:t>
            </a:r>
            <a:pPr indent="0" marL="0">
              <a:buNone/>
            </a:pPr>
            <a:r>
              <a:rPr lang="en-US" sz="1600" dirty="0">
                <a:solidFill>
                  <a:schemeClr val="tx1"/>
                </a:solidFill>
              </a:rPr>
              <a:t>The goal is not to detect shapes. It is to rebuild the correct graph, and to say when the system is unsure.</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SYSTEM</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Five stages take an image to tested code</a:t>
            </a:r>
            <a:endParaRPr lang="en-US" sz="3400" dirty="0"/>
          </a:p>
        </p:txBody>
      </p:sp>
      <p:sp>
        <p:nvSpPr>
          <p:cNvPr id="5" name="Stage 1"/>
          <p:cNvSpPr/>
          <p:nvPr/>
        </p:nvSpPr>
        <p:spPr>
          <a:xfrm>
            <a:off x="548640" y="1828800"/>
            <a:ext cx="1874520" cy="2103120"/>
          </a:xfrm>
          <a:prstGeom prst="roundRect">
            <a:avLst>
              <a:gd name="adj" fmla="val 3902"/>
            </a:avLst>
          </a:prstGeom>
          <a:solidFill>
            <a:schemeClr val="bg2"/>
          </a:solidFill>
          <a:ln/>
        </p:spPr>
      </p:sp>
      <p:sp>
        <p:nvSpPr>
          <p:cNvPr id="6" name="Number 1"/>
          <p:cNvSpPr/>
          <p:nvPr/>
        </p:nvSpPr>
        <p:spPr>
          <a:xfrm>
            <a:off x="731520" y="2011680"/>
            <a:ext cx="411480" cy="411480"/>
          </a:xfrm>
          <a:prstGeom prst="ellipse">
            <a:avLst/>
          </a:prstGeom>
          <a:solidFill>
            <a:schemeClr val="accent1"/>
          </a:solidFill>
          <a:ln/>
        </p:spPr>
      </p:sp>
      <p:sp>
        <p:nvSpPr>
          <p:cNvPr id="7" name="Text 4"/>
          <p:cNvSpPr txBox="1"/>
          <p:nvPr/>
        </p:nvSpPr>
        <p:spPr>
          <a:xfrm>
            <a:off x="731520"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8" name="Text 5"/>
          <p:cNvSpPr txBox="1"/>
          <p:nvPr/>
        </p:nvSpPr>
        <p:spPr>
          <a:xfrm>
            <a:off x="731520" y="2560320"/>
            <a:ext cx="1508760" cy="548640"/>
          </a:xfrm>
          <a:prstGeom prst="rect">
            <a:avLst/>
          </a:prstGeom>
          <a:noFill/>
          <a:ln/>
        </p:spPr>
        <p:txBody>
          <a:bodyPr wrap="square" lIns="0" tIns="0" rIns="0" bIns="0" rtlCol="0" anchor="t"/>
          <a:lstStyle/>
          <a:p>
            <a:pPr indent="0" marL="0">
              <a:buNone/>
            </a:pPr>
            <a:r>
              <a:rPr lang="en-US" sz="1700" b="1" dirty="0">
                <a:solidFill>
                  <a:schemeClr val="tx1"/>
                </a:solidFill>
              </a:rPr>
              <a:t>Image</a:t>
            </a:r>
            <a:endParaRPr lang="en-US" sz="1700" dirty="0"/>
          </a:p>
        </p:txBody>
      </p:sp>
      <p:sp>
        <p:nvSpPr>
          <p:cNvPr id="9" name="Text 6"/>
          <p:cNvSpPr txBox="1"/>
          <p:nvPr/>
        </p:nvSpPr>
        <p:spPr>
          <a:xfrm>
            <a:off x="731520" y="3108960"/>
            <a:ext cx="1508760" cy="731520"/>
          </a:xfrm>
          <a:prstGeom prst="rect">
            <a:avLst/>
          </a:prstGeom>
          <a:noFill/>
          <a:ln/>
        </p:spPr>
        <p:txBody>
          <a:bodyPr wrap="square" lIns="0" tIns="0" rIns="0" bIns="0" rtlCol="0" anchor="t"/>
          <a:lstStyle/>
          <a:p>
            <a:pPr indent="0" marL="0">
              <a:buNone/>
            </a:pPr>
            <a:r>
              <a:rPr lang="en-US" sz="1400" dirty="0">
                <a:solidFill>
                  <a:schemeClr val="tx2"/>
                </a:solidFill>
              </a:rPr>
              <a:t>Screenshot or photo of a diagram</a:t>
            </a:r>
            <a:endParaRPr lang="en-US" sz="1400" dirty="0"/>
          </a:p>
        </p:txBody>
      </p:sp>
      <p:sp>
        <p:nvSpPr>
          <p:cNvPr id="10" name="Arrow"/>
          <p:cNvSpPr/>
          <p:nvPr/>
        </p:nvSpPr>
        <p:spPr>
          <a:xfrm>
            <a:off x="2478024" y="2697480"/>
            <a:ext cx="320040" cy="365760"/>
          </a:xfrm>
          <a:prstGeom prst="rightArrow">
            <a:avLst/>
          </a:prstGeom>
          <a:solidFill>
            <a:schemeClr val="tx2"/>
          </a:solidFill>
          <a:ln/>
        </p:spPr>
      </p:sp>
      <p:sp>
        <p:nvSpPr>
          <p:cNvPr id="11" name="Stage 2"/>
          <p:cNvSpPr/>
          <p:nvPr/>
        </p:nvSpPr>
        <p:spPr>
          <a:xfrm>
            <a:off x="2852928" y="1828800"/>
            <a:ext cx="1874520" cy="2103120"/>
          </a:xfrm>
          <a:prstGeom prst="roundRect">
            <a:avLst>
              <a:gd name="adj" fmla="val 3902"/>
            </a:avLst>
          </a:prstGeom>
          <a:solidFill>
            <a:schemeClr val="accent1"/>
          </a:solidFill>
          <a:ln/>
        </p:spPr>
      </p:sp>
      <p:sp>
        <p:nvSpPr>
          <p:cNvPr id="12" name="Number 2"/>
          <p:cNvSpPr/>
          <p:nvPr/>
        </p:nvSpPr>
        <p:spPr>
          <a:xfrm>
            <a:off x="3035808" y="2011680"/>
            <a:ext cx="411480" cy="411480"/>
          </a:xfrm>
          <a:prstGeom prst="ellipse">
            <a:avLst/>
          </a:prstGeom>
          <a:solidFill>
            <a:schemeClr val="accent6"/>
          </a:solidFill>
          <a:ln/>
        </p:spPr>
      </p:sp>
      <p:sp>
        <p:nvSpPr>
          <p:cNvPr id="13" name="Text 10"/>
          <p:cNvSpPr txBox="1"/>
          <p:nvPr/>
        </p:nvSpPr>
        <p:spPr>
          <a:xfrm>
            <a:off x="3035808"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Text 11"/>
          <p:cNvSpPr txBox="1"/>
          <p:nvPr/>
        </p:nvSpPr>
        <p:spPr>
          <a:xfrm>
            <a:off x="3035808" y="2560320"/>
            <a:ext cx="1508760" cy="548640"/>
          </a:xfrm>
          <a:prstGeom prst="rect">
            <a:avLst/>
          </a:prstGeom>
          <a:noFill/>
          <a:ln/>
        </p:spPr>
        <p:txBody>
          <a:bodyPr wrap="square" lIns="0" tIns="0" rIns="0" bIns="0" rtlCol="0" anchor="t"/>
          <a:lstStyle/>
          <a:p>
            <a:pPr indent="0" marL="0">
              <a:buNone/>
            </a:pPr>
            <a:r>
              <a:rPr lang="en-US" sz="1700" b="1" dirty="0">
                <a:solidFill>
                  <a:schemeClr val="bg1"/>
                </a:solidFill>
              </a:rPr>
              <a:t>YOLO11n</a:t>
            </a:r>
            <a:endParaRPr lang="en-US" sz="1700" dirty="0"/>
          </a:p>
        </p:txBody>
      </p:sp>
      <p:sp>
        <p:nvSpPr>
          <p:cNvPr id="15" name="Text 12"/>
          <p:cNvSpPr txBox="1"/>
          <p:nvPr/>
        </p:nvSpPr>
        <p:spPr>
          <a:xfrm>
            <a:off x="3035808" y="3108960"/>
            <a:ext cx="1508760" cy="731520"/>
          </a:xfrm>
          <a:prstGeom prst="rect">
            <a:avLst/>
          </a:prstGeom>
          <a:noFill/>
          <a:ln/>
        </p:spPr>
        <p:txBody>
          <a:bodyPr wrap="square" lIns="0" tIns="0" rIns="0" bIns="0" rtlCol="0" anchor="t"/>
          <a:lstStyle/>
          <a:p>
            <a:pPr indent="0" marL="0">
              <a:buNone/>
            </a:pPr>
            <a:r>
              <a:rPr lang="en-US" sz="1400" dirty="0">
                <a:solidFill>
                  <a:schemeClr val="bg1"/>
                </a:solidFill>
              </a:rPr>
              <a:t>States, arrows, arrowheads, labels</a:t>
            </a:r>
            <a:endParaRPr lang="en-US" sz="1400" dirty="0"/>
          </a:p>
        </p:txBody>
      </p:sp>
      <p:sp>
        <p:nvSpPr>
          <p:cNvPr id="16" name="Arrow"/>
          <p:cNvSpPr/>
          <p:nvPr/>
        </p:nvSpPr>
        <p:spPr>
          <a:xfrm>
            <a:off x="4782312" y="2697480"/>
            <a:ext cx="320040" cy="365760"/>
          </a:xfrm>
          <a:prstGeom prst="rightArrow">
            <a:avLst/>
          </a:prstGeom>
          <a:solidFill>
            <a:schemeClr val="tx2"/>
          </a:solidFill>
          <a:ln/>
        </p:spPr>
      </p:sp>
      <p:sp>
        <p:nvSpPr>
          <p:cNvPr id="17" name="Stage 3"/>
          <p:cNvSpPr/>
          <p:nvPr/>
        </p:nvSpPr>
        <p:spPr>
          <a:xfrm>
            <a:off x="5157216" y="1828800"/>
            <a:ext cx="1874520" cy="2103120"/>
          </a:xfrm>
          <a:prstGeom prst="roundRect">
            <a:avLst>
              <a:gd name="adj" fmla="val 3902"/>
            </a:avLst>
          </a:prstGeom>
          <a:solidFill>
            <a:schemeClr val="bg2"/>
          </a:solidFill>
          <a:ln/>
        </p:spPr>
      </p:sp>
      <p:sp>
        <p:nvSpPr>
          <p:cNvPr id="18" name="Number 3"/>
          <p:cNvSpPr/>
          <p:nvPr/>
        </p:nvSpPr>
        <p:spPr>
          <a:xfrm>
            <a:off x="5340096" y="2011680"/>
            <a:ext cx="411480" cy="411480"/>
          </a:xfrm>
          <a:prstGeom prst="ellipse">
            <a:avLst/>
          </a:prstGeom>
          <a:solidFill>
            <a:schemeClr val="accent1"/>
          </a:solidFill>
          <a:ln/>
        </p:spPr>
      </p:sp>
      <p:sp>
        <p:nvSpPr>
          <p:cNvPr id="19" name="Text 16"/>
          <p:cNvSpPr txBox="1"/>
          <p:nvPr/>
        </p:nvSpPr>
        <p:spPr>
          <a:xfrm>
            <a:off x="5340096"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Text 17"/>
          <p:cNvSpPr txBox="1"/>
          <p:nvPr/>
        </p:nvSpPr>
        <p:spPr>
          <a:xfrm>
            <a:off x="5340096" y="2560320"/>
            <a:ext cx="1508760" cy="548640"/>
          </a:xfrm>
          <a:prstGeom prst="rect">
            <a:avLst/>
          </a:prstGeom>
          <a:noFill/>
          <a:ln/>
        </p:spPr>
        <p:txBody>
          <a:bodyPr wrap="square" lIns="0" tIns="0" rIns="0" bIns="0" rtlCol="0" anchor="t"/>
          <a:lstStyle/>
          <a:p>
            <a:pPr indent="0" marL="0">
              <a:buNone/>
            </a:pPr>
            <a:r>
              <a:rPr lang="en-US" sz="1700" b="1" dirty="0">
                <a:solidFill>
                  <a:schemeClr val="tx1"/>
                </a:solidFill>
              </a:rPr>
              <a:t>Stroke tracing and OCR</a:t>
            </a:r>
            <a:endParaRPr lang="en-US" sz="1700" dirty="0"/>
          </a:p>
        </p:txBody>
      </p:sp>
      <p:sp>
        <p:nvSpPr>
          <p:cNvPr id="21" name="Text 18"/>
          <p:cNvSpPr txBox="1"/>
          <p:nvPr/>
        </p:nvSpPr>
        <p:spPr>
          <a:xfrm>
            <a:off x="5340096" y="3108960"/>
            <a:ext cx="1508760" cy="731520"/>
          </a:xfrm>
          <a:prstGeom prst="rect">
            <a:avLst/>
          </a:prstGeom>
          <a:noFill/>
          <a:ln/>
        </p:spPr>
        <p:txBody>
          <a:bodyPr wrap="square" lIns="0" tIns="0" rIns="0" bIns="0" rtlCol="0" anchor="t"/>
          <a:lstStyle/>
          <a:p>
            <a:pPr indent="0" marL="0">
              <a:buNone/>
            </a:pPr>
            <a:r>
              <a:rPr lang="en-US" sz="1400" dirty="0">
                <a:solidFill>
                  <a:schemeClr val="tx2"/>
                </a:solidFill>
              </a:rPr>
              <a:t>Endpoints, direction, label text</a:t>
            </a:r>
            <a:endParaRPr lang="en-US" sz="1400" dirty="0"/>
          </a:p>
        </p:txBody>
      </p:sp>
      <p:sp>
        <p:nvSpPr>
          <p:cNvPr id="22" name="Arrow"/>
          <p:cNvSpPr/>
          <p:nvPr/>
        </p:nvSpPr>
        <p:spPr>
          <a:xfrm>
            <a:off x="7086600" y="2697480"/>
            <a:ext cx="320040" cy="365760"/>
          </a:xfrm>
          <a:prstGeom prst="rightArrow">
            <a:avLst/>
          </a:prstGeom>
          <a:solidFill>
            <a:schemeClr val="tx2"/>
          </a:solidFill>
          <a:ln/>
        </p:spPr>
      </p:sp>
      <p:sp>
        <p:nvSpPr>
          <p:cNvPr id="23" name="Stage 4"/>
          <p:cNvSpPr/>
          <p:nvPr/>
        </p:nvSpPr>
        <p:spPr>
          <a:xfrm>
            <a:off x="7461504" y="1828800"/>
            <a:ext cx="1874520" cy="2103120"/>
          </a:xfrm>
          <a:prstGeom prst="roundRect">
            <a:avLst>
              <a:gd name="adj" fmla="val 3902"/>
            </a:avLst>
          </a:prstGeom>
          <a:solidFill>
            <a:schemeClr val="bg2"/>
          </a:solidFill>
          <a:ln/>
        </p:spPr>
      </p:sp>
      <p:sp>
        <p:nvSpPr>
          <p:cNvPr id="24" name="Number 4"/>
          <p:cNvSpPr/>
          <p:nvPr/>
        </p:nvSpPr>
        <p:spPr>
          <a:xfrm>
            <a:off x="7644384" y="2011680"/>
            <a:ext cx="411480" cy="411480"/>
          </a:xfrm>
          <a:prstGeom prst="ellipse">
            <a:avLst/>
          </a:prstGeom>
          <a:solidFill>
            <a:schemeClr val="accent1"/>
          </a:solidFill>
          <a:ln/>
        </p:spPr>
      </p:sp>
      <p:sp>
        <p:nvSpPr>
          <p:cNvPr id="25" name="Text 22"/>
          <p:cNvSpPr txBox="1"/>
          <p:nvPr/>
        </p:nvSpPr>
        <p:spPr>
          <a:xfrm>
            <a:off x="7644384"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Text 23"/>
          <p:cNvSpPr txBox="1"/>
          <p:nvPr/>
        </p:nvSpPr>
        <p:spPr>
          <a:xfrm>
            <a:off x="7644384" y="2560320"/>
            <a:ext cx="1508760" cy="548640"/>
          </a:xfrm>
          <a:prstGeom prst="rect">
            <a:avLst/>
          </a:prstGeom>
          <a:noFill/>
          <a:ln/>
        </p:spPr>
        <p:txBody>
          <a:bodyPr wrap="square" lIns="0" tIns="0" rIns="0" bIns="0" rtlCol="0" anchor="t"/>
          <a:lstStyle/>
          <a:p>
            <a:pPr indent="0" marL="0">
              <a:buNone/>
            </a:pPr>
            <a:r>
              <a:rPr lang="en-US" sz="1700" b="1" dirty="0">
                <a:solidFill>
                  <a:schemeClr val="tx1"/>
                </a:solidFill>
              </a:rPr>
              <a:t>Canonical JSON</a:t>
            </a:r>
            <a:endParaRPr lang="en-US" sz="1700" dirty="0"/>
          </a:p>
        </p:txBody>
      </p:sp>
      <p:sp>
        <p:nvSpPr>
          <p:cNvPr id="27" name="Text 24"/>
          <p:cNvSpPr txBox="1"/>
          <p:nvPr/>
        </p:nvSpPr>
        <p:spPr>
          <a:xfrm>
            <a:off x="7644384" y="3108960"/>
            <a:ext cx="1508760" cy="731520"/>
          </a:xfrm>
          <a:prstGeom prst="rect">
            <a:avLst/>
          </a:prstGeom>
          <a:noFill/>
          <a:ln/>
        </p:spPr>
        <p:txBody>
          <a:bodyPr wrap="square" lIns="0" tIns="0" rIns="0" bIns="0" rtlCol="0" anchor="t"/>
          <a:lstStyle/>
          <a:p>
            <a:pPr indent="0" marL="0">
              <a:buNone/>
            </a:pPr>
            <a:r>
              <a:rPr lang="en-US" sz="1400" dirty="0">
                <a:solidFill>
                  <a:schemeClr val="tx2"/>
                </a:solidFill>
              </a:rPr>
              <a:t>Schema and graph validation</a:t>
            </a:r>
            <a:endParaRPr lang="en-US" sz="1400" dirty="0"/>
          </a:p>
        </p:txBody>
      </p:sp>
      <p:sp>
        <p:nvSpPr>
          <p:cNvPr id="28" name="Arrow"/>
          <p:cNvSpPr/>
          <p:nvPr/>
        </p:nvSpPr>
        <p:spPr>
          <a:xfrm>
            <a:off x="9390888" y="2697480"/>
            <a:ext cx="320040" cy="365760"/>
          </a:xfrm>
          <a:prstGeom prst="rightArrow">
            <a:avLst/>
          </a:prstGeom>
          <a:solidFill>
            <a:schemeClr val="tx2"/>
          </a:solidFill>
          <a:ln/>
        </p:spPr>
      </p:sp>
      <p:sp>
        <p:nvSpPr>
          <p:cNvPr id="29" name="Stage 5"/>
          <p:cNvSpPr/>
          <p:nvPr/>
        </p:nvSpPr>
        <p:spPr>
          <a:xfrm>
            <a:off x="9765792" y="1828800"/>
            <a:ext cx="1874520" cy="2103120"/>
          </a:xfrm>
          <a:prstGeom prst="roundRect">
            <a:avLst>
              <a:gd name="adj" fmla="val 3902"/>
            </a:avLst>
          </a:prstGeom>
          <a:solidFill>
            <a:schemeClr val="bg2"/>
          </a:solidFill>
          <a:ln/>
        </p:spPr>
      </p:sp>
      <p:sp>
        <p:nvSpPr>
          <p:cNvPr id="30" name="Number 5"/>
          <p:cNvSpPr/>
          <p:nvPr/>
        </p:nvSpPr>
        <p:spPr>
          <a:xfrm>
            <a:off x="9948672" y="2011680"/>
            <a:ext cx="411480" cy="411480"/>
          </a:xfrm>
          <a:prstGeom prst="ellipse">
            <a:avLst/>
          </a:prstGeom>
          <a:solidFill>
            <a:schemeClr val="accent1"/>
          </a:solidFill>
          <a:ln/>
        </p:spPr>
      </p:sp>
      <p:sp>
        <p:nvSpPr>
          <p:cNvPr id="31" name="Text 28"/>
          <p:cNvSpPr txBox="1"/>
          <p:nvPr/>
        </p:nvSpPr>
        <p:spPr>
          <a:xfrm>
            <a:off x="9948672" y="2011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2" name="Text 29"/>
          <p:cNvSpPr txBox="1"/>
          <p:nvPr/>
        </p:nvSpPr>
        <p:spPr>
          <a:xfrm>
            <a:off x="9948672" y="2560320"/>
            <a:ext cx="1508760" cy="548640"/>
          </a:xfrm>
          <a:prstGeom prst="rect">
            <a:avLst/>
          </a:prstGeom>
          <a:noFill/>
          <a:ln/>
        </p:spPr>
        <p:txBody>
          <a:bodyPr wrap="square" lIns="0" tIns="0" rIns="0" bIns="0" rtlCol="0" anchor="t"/>
          <a:lstStyle/>
          <a:p>
            <a:pPr indent="0" marL="0">
              <a:buNone/>
            </a:pPr>
            <a:r>
              <a:rPr lang="en-US" sz="1700" b="1" dirty="0">
                <a:solidFill>
                  <a:schemeClr val="tx1"/>
                </a:solidFill>
              </a:rPr>
              <a:t>Code and tests</a:t>
            </a:r>
            <a:endParaRPr lang="en-US" sz="1700" dirty="0"/>
          </a:p>
        </p:txBody>
      </p:sp>
      <p:sp>
        <p:nvSpPr>
          <p:cNvPr id="33" name="Text 30"/>
          <p:cNvSpPr txBox="1"/>
          <p:nvPr/>
        </p:nvSpPr>
        <p:spPr>
          <a:xfrm>
            <a:off x="9948672" y="3108960"/>
            <a:ext cx="1508760" cy="731520"/>
          </a:xfrm>
          <a:prstGeom prst="rect">
            <a:avLst/>
          </a:prstGeom>
          <a:noFill/>
          <a:ln/>
        </p:spPr>
        <p:txBody>
          <a:bodyPr wrap="square" lIns="0" tIns="0" rIns="0" bIns="0" rtlCol="0" anchor="t"/>
          <a:lstStyle/>
          <a:p>
            <a:pPr indent="0" marL="0">
              <a:buNone/>
            </a:pPr>
            <a:r>
              <a:rPr lang="en-US" sz="1400" dirty="0">
                <a:solidFill>
                  <a:schemeClr val="tx2"/>
                </a:solidFill>
              </a:rPr>
              <a:t>Generated, then verified in a sandbox</a:t>
            </a:r>
            <a:endParaRPr lang="en-US" sz="1400" dirty="0"/>
          </a:p>
        </p:txBody>
      </p:sp>
      <p:sp>
        <p:nvSpPr>
          <p:cNvPr id="34" name="Key learned"/>
          <p:cNvSpPr/>
          <p:nvPr/>
        </p:nvSpPr>
        <p:spPr>
          <a:xfrm>
            <a:off x="548640" y="4160520"/>
            <a:ext cx="201168" cy="201168"/>
          </a:xfrm>
          <a:prstGeom prst="roundRect">
            <a:avLst>
              <a:gd name="adj" fmla="val 18182"/>
            </a:avLst>
          </a:prstGeom>
          <a:solidFill>
            <a:schemeClr val="accent1"/>
          </a:solidFill>
          <a:ln/>
        </p:spPr>
      </p:sp>
      <p:sp>
        <p:nvSpPr>
          <p:cNvPr id="35" name="Text 32"/>
          <p:cNvSpPr txBox="1"/>
          <p:nvPr/>
        </p:nvSpPr>
        <p:spPr>
          <a:xfrm>
            <a:off x="868680" y="4114800"/>
            <a:ext cx="2926080" cy="292608"/>
          </a:xfrm>
          <a:prstGeom prst="rect">
            <a:avLst/>
          </a:prstGeom>
          <a:noFill/>
          <a:ln/>
        </p:spPr>
        <p:txBody>
          <a:bodyPr wrap="square" lIns="0" tIns="0" rIns="0" bIns="0" rtlCol="0" anchor="ctr"/>
          <a:lstStyle/>
          <a:p>
            <a:pPr indent="0" marL="0">
              <a:buNone/>
            </a:pPr>
            <a:r>
              <a:rPr lang="en-US" sz="1400" dirty="0">
                <a:solidFill>
                  <a:schemeClr val="tx1"/>
                </a:solidFill>
              </a:rPr>
              <a:t>Learned (neural network)</a:t>
            </a:r>
            <a:endParaRPr lang="en-US" sz="1400" dirty="0"/>
          </a:p>
        </p:txBody>
      </p:sp>
      <p:sp>
        <p:nvSpPr>
          <p:cNvPr id="36" name="Key deterministic"/>
          <p:cNvSpPr/>
          <p:nvPr/>
        </p:nvSpPr>
        <p:spPr>
          <a:xfrm>
            <a:off x="4023360" y="4160520"/>
            <a:ext cx="201168" cy="201168"/>
          </a:xfrm>
          <a:prstGeom prst="roundRect">
            <a:avLst>
              <a:gd name="adj" fmla="val 18182"/>
            </a:avLst>
          </a:prstGeom>
          <a:solidFill>
            <a:schemeClr val="bg2"/>
          </a:solidFill>
          <a:ln w="12700">
            <a:solidFill>
              <a:srgbClr val="C3C2B7"/>
            </a:solidFill>
            <a:prstDash val="solid"/>
          </a:ln>
        </p:spPr>
      </p:sp>
      <p:sp>
        <p:nvSpPr>
          <p:cNvPr id="37" name="Text 34"/>
          <p:cNvSpPr txBox="1"/>
          <p:nvPr/>
        </p:nvSpPr>
        <p:spPr>
          <a:xfrm>
            <a:off x="4343400" y="4114800"/>
            <a:ext cx="4572000" cy="292608"/>
          </a:xfrm>
          <a:prstGeom prst="rect">
            <a:avLst/>
          </a:prstGeom>
          <a:noFill/>
          <a:ln/>
        </p:spPr>
        <p:txBody>
          <a:bodyPr wrap="square" lIns="0" tIns="0" rIns="0" bIns="0" rtlCol="0" anchor="ctr"/>
          <a:lstStyle/>
          <a:p>
            <a:pPr indent="0" marL="0">
              <a:buNone/>
            </a:pPr>
            <a:r>
              <a:rPr lang="en-US" sz="1400" dirty="0">
                <a:solidFill>
                  <a:schemeClr val="tx1"/>
                </a:solidFill>
              </a:rPr>
              <a:t>Deterministic (OpenCV, rules, tests)</a:t>
            </a:r>
            <a:endParaRPr lang="en-US" sz="1400" dirty="0"/>
          </a:p>
        </p:txBody>
      </p:sp>
      <p:sp>
        <p:nvSpPr>
          <p:cNvPr id="38" name="Card: Around the pipeline"/>
          <p:cNvSpPr/>
          <p:nvPr/>
        </p:nvSpPr>
        <p:spPr>
          <a:xfrm>
            <a:off x="548640" y="4617720"/>
            <a:ext cx="5408676" cy="1645920"/>
          </a:xfrm>
          <a:prstGeom prst="roundRect">
            <a:avLst>
              <a:gd name="adj" fmla="val 4444"/>
            </a:avLst>
          </a:prstGeom>
          <a:solidFill>
            <a:schemeClr val="bg2"/>
          </a:solidFill>
          <a:ln/>
        </p:spPr>
      </p:sp>
      <p:sp>
        <p:nvSpPr>
          <p:cNvPr id="39" name="Dot"/>
          <p:cNvSpPr/>
          <p:nvPr/>
        </p:nvSpPr>
        <p:spPr>
          <a:xfrm>
            <a:off x="777240" y="4892040"/>
            <a:ext cx="146304" cy="146304"/>
          </a:xfrm>
          <a:prstGeom prst="ellipse">
            <a:avLst/>
          </a:prstGeom>
          <a:solidFill>
            <a:schemeClr val="accent1"/>
          </a:solidFill>
          <a:ln/>
        </p:spPr>
      </p:sp>
      <p:sp>
        <p:nvSpPr>
          <p:cNvPr id="40" name="Text 37"/>
          <p:cNvSpPr txBox="1"/>
          <p:nvPr/>
        </p:nvSpPr>
        <p:spPr>
          <a:xfrm>
            <a:off x="1051560" y="4800600"/>
            <a:ext cx="4677156" cy="365760"/>
          </a:xfrm>
          <a:prstGeom prst="rect">
            <a:avLst/>
          </a:prstGeom>
          <a:noFill/>
          <a:ln/>
        </p:spPr>
        <p:txBody>
          <a:bodyPr wrap="square" lIns="0" tIns="0" rIns="0" bIns="0" rtlCol="0" anchor="t"/>
          <a:lstStyle/>
          <a:p>
            <a:pPr indent="0" marL="0">
              <a:buNone/>
            </a:pPr>
            <a:r>
              <a:rPr lang="en-US" sz="1800" b="1" dirty="0">
                <a:solidFill>
                  <a:schemeClr val="tx1"/>
                </a:solidFill>
              </a:rPr>
              <a:t>Around the pipeline</a:t>
            </a:r>
            <a:endParaRPr lang="en-US" sz="1800" dirty="0"/>
          </a:p>
        </p:txBody>
      </p:sp>
      <p:sp>
        <p:nvSpPr>
          <p:cNvPr id="41" name="Text 38"/>
          <p:cNvSpPr txBox="1"/>
          <p:nvPr/>
        </p:nvSpPr>
        <p:spPr>
          <a:xfrm>
            <a:off x="777240" y="5303520"/>
            <a:ext cx="4951476" cy="822960"/>
          </a:xfrm>
          <a:prstGeom prst="rect">
            <a:avLst/>
          </a:prstGeom>
          <a:noFill/>
          <a:ln/>
        </p:spPr>
        <p:txBody>
          <a:bodyPr wrap="square" lIns="0" tIns="0" rIns="0" bIns="0" rtlCol="0" anchor="t"/>
          <a:lstStyle/>
          <a:p>
            <a:pPr indent="0" marL="0">
              <a:buNone/>
            </a:pPr>
            <a:r>
              <a:rPr lang="en-US" sz="1500" dirty="0">
                <a:solidFill>
                  <a:schemeClr val="tx1"/>
                </a:solidFill>
              </a:rPr>
              <a:t>A web editor lets a person fix mistakes. Saved corrections become new training labels for the detector.</a:t>
            </a:r>
            <a:endParaRPr lang="en-US" sz="1600" dirty="0"/>
          </a:p>
        </p:txBody>
      </p:sp>
      <p:sp>
        <p:nvSpPr>
          <p:cNvPr id="42" name="Card: Gemini, optional"/>
          <p:cNvSpPr/>
          <p:nvPr/>
        </p:nvSpPr>
        <p:spPr>
          <a:xfrm>
            <a:off x="6231636" y="4617720"/>
            <a:ext cx="5408676" cy="1645920"/>
          </a:xfrm>
          <a:prstGeom prst="roundRect">
            <a:avLst>
              <a:gd name="adj" fmla="val 4444"/>
            </a:avLst>
          </a:prstGeom>
          <a:solidFill>
            <a:schemeClr val="bg2"/>
          </a:solidFill>
          <a:ln/>
        </p:spPr>
      </p:sp>
      <p:sp>
        <p:nvSpPr>
          <p:cNvPr id="43" name="Dot"/>
          <p:cNvSpPr/>
          <p:nvPr/>
        </p:nvSpPr>
        <p:spPr>
          <a:xfrm>
            <a:off x="6460236" y="4892040"/>
            <a:ext cx="146304" cy="146304"/>
          </a:xfrm>
          <a:prstGeom prst="ellipse">
            <a:avLst/>
          </a:prstGeom>
          <a:solidFill>
            <a:schemeClr val="accent1"/>
          </a:solidFill>
          <a:ln/>
        </p:spPr>
      </p:sp>
      <p:sp>
        <p:nvSpPr>
          <p:cNvPr id="44" name="Text 41"/>
          <p:cNvSpPr txBox="1"/>
          <p:nvPr/>
        </p:nvSpPr>
        <p:spPr>
          <a:xfrm>
            <a:off x="6734556" y="4800600"/>
            <a:ext cx="4677156" cy="365760"/>
          </a:xfrm>
          <a:prstGeom prst="rect">
            <a:avLst/>
          </a:prstGeom>
          <a:noFill/>
          <a:ln/>
        </p:spPr>
        <p:txBody>
          <a:bodyPr wrap="square" lIns="0" tIns="0" rIns="0" bIns="0" rtlCol="0" anchor="t"/>
          <a:lstStyle/>
          <a:p>
            <a:pPr indent="0" marL="0">
              <a:buNone/>
            </a:pPr>
            <a:r>
              <a:rPr lang="en-US" sz="1800" b="1" dirty="0">
                <a:solidFill>
                  <a:schemeClr val="tx1"/>
                </a:solidFill>
              </a:rPr>
              <a:t>Gemini, optional</a:t>
            </a:r>
            <a:endParaRPr lang="en-US" sz="1800" dirty="0"/>
          </a:p>
        </p:txBody>
      </p:sp>
      <p:sp>
        <p:nvSpPr>
          <p:cNvPr id="45" name="Text 42"/>
          <p:cNvSpPr txBox="1"/>
          <p:nvPr/>
        </p:nvSpPr>
        <p:spPr>
          <a:xfrm>
            <a:off x="6460236" y="5303520"/>
            <a:ext cx="4951476" cy="822960"/>
          </a:xfrm>
          <a:prstGeom prst="rect">
            <a:avLst/>
          </a:prstGeom>
          <a:noFill/>
          <a:ln/>
        </p:spPr>
        <p:txBody>
          <a:bodyPr wrap="square" lIns="0" tIns="0" rIns="0" bIns="0" rtlCol="0" anchor="t"/>
          <a:lstStyle/>
          <a:p>
            <a:pPr indent="0" marL="0">
              <a:buNone/>
            </a:pPr>
            <a:r>
              <a:rPr lang="en-US" sz="1500" dirty="0">
                <a:solidFill>
                  <a:schemeClr val="tx1"/>
                </a:solidFill>
              </a:rPr>
              <a:t>Explains the diagram and suggests corrections. It never decides: a person accepts or rejects each suggestion.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6"/>
                </a:solidFill>
              </a:rPr>
              <a:t>SYSTEM</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bg1"/>
                </a:solidFill>
              </a:rPr>
              <a:t>Learned parts perceive. Deterministic parts reason</a:t>
            </a:r>
            <a:endParaRPr lang="en-US" sz="3400" dirty="0"/>
          </a:p>
        </p:txBody>
      </p:sp>
      <p:sp>
        <p:nvSpPr>
          <p:cNvPr id="5" name="Card: Neural network"/>
          <p:cNvSpPr/>
          <p:nvPr/>
        </p:nvSpPr>
        <p:spPr>
          <a:xfrm>
            <a:off x="548640" y="1920240"/>
            <a:ext cx="3514344" cy="2651760"/>
          </a:xfrm>
          <a:prstGeom prst="roundRect">
            <a:avLst>
              <a:gd name="adj" fmla="val 2759"/>
            </a:avLst>
          </a:prstGeom>
          <a:solidFill>
            <a:schemeClr val="bg1">
              <a:alpha val="10000"/>
            </a:schemeClr>
          </a:solidFill>
          <a:ln/>
        </p:spPr>
      </p:sp>
      <p:sp>
        <p:nvSpPr>
          <p:cNvPr id="6" name="Dot"/>
          <p:cNvSpPr/>
          <p:nvPr/>
        </p:nvSpPr>
        <p:spPr>
          <a:xfrm>
            <a:off x="777240" y="2194560"/>
            <a:ext cx="146304" cy="146304"/>
          </a:xfrm>
          <a:prstGeom prst="ellipse">
            <a:avLst/>
          </a:prstGeom>
          <a:solidFill>
            <a:schemeClr val="accent6"/>
          </a:solidFill>
          <a:ln/>
        </p:spPr>
      </p:sp>
      <p:sp>
        <p:nvSpPr>
          <p:cNvPr id="7" name="Text 4"/>
          <p:cNvSpPr txBox="1"/>
          <p:nvPr/>
        </p:nvSpPr>
        <p:spPr>
          <a:xfrm>
            <a:off x="1051560" y="2103120"/>
            <a:ext cx="2782824" cy="365760"/>
          </a:xfrm>
          <a:prstGeom prst="rect">
            <a:avLst/>
          </a:prstGeom>
          <a:noFill/>
          <a:ln/>
        </p:spPr>
        <p:txBody>
          <a:bodyPr wrap="square" lIns="0" tIns="0" rIns="0" bIns="0" rtlCol="0" anchor="t"/>
          <a:lstStyle/>
          <a:p>
            <a:pPr indent="0" marL="0">
              <a:buNone/>
            </a:pPr>
            <a:r>
              <a:rPr lang="en-US" sz="1800" b="1" dirty="0">
                <a:solidFill>
                  <a:schemeClr val="bg1"/>
                </a:solidFill>
              </a:rPr>
              <a:t>Neural network</a:t>
            </a:r>
            <a:endParaRPr lang="en-US" sz="1800" dirty="0"/>
          </a:p>
        </p:txBody>
      </p:sp>
      <p:sp>
        <p:nvSpPr>
          <p:cNvPr id="8" name="Text 5"/>
          <p:cNvSpPr txBox="1"/>
          <p:nvPr/>
        </p:nvSpPr>
        <p:spPr>
          <a:xfrm>
            <a:off x="777240" y="2606040"/>
            <a:ext cx="3057144" cy="1828800"/>
          </a:xfrm>
          <a:prstGeom prst="rect">
            <a:avLst/>
          </a:prstGeom>
          <a:noFill/>
          <a:ln/>
        </p:spPr>
        <p:txBody>
          <a:bodyPr wrap="square" lIns="0" tIns="0" rIns="0" bIns="0" rtlCol="0" anchor="t"/>
          <a:lstStyle/>
          <a:p>
            <a:pPr indent="0" marL="0">
              <a:spcAft>
                <a:spcPts val="800"/>
              </a:spcAft>
              <a:buNone/>
            </a:pPr>
            <a:r>
              <a:rPr lang="en-US" sz="2400" b="1" dirty="0">
                <a:solidFill>
                  <a:schemeClr val="bg1"/>
                </a:solidFill>
              </a:rPr>
              <a:t>What is where</a:t>
            </a:r>
            <a:endParaRPr lang="en-US" sz="1600" dirty="0"/>
          </a:p>
          <a:p>
            <a:pPr indent="0" marL="0">
              <a:buNone/>
            </a:pPr>
            <a:r>
              <a:rPr lang="en-US" sz="1600" dirty="0">
                <a:solidFill>
                  <a:schemeClr val="bg1"/>
                </a:solidFill>
              </a:rPr>
              <a:t>YOLO finds the objects as boxes.</a:t>
            </a:r>
            <a:endParaRPr lang="en-US" sz="1600" dirty="0"/>
          </a:p>
        </p:txBody>
      </p:sp>
      <p:sp>
        <p:nvSpPr>
          <p:cNvPr id="9" name="Card: Classical vision"/>
          <p:cNvSpPr/>
          <p:nvPr/>
        </p:nvSpPr>
        <p:spPr>
          <a:xfrm>
            <a:off x="4337304" y="1920240"/>
            <a:ext cx="3514344" cy="2651760"/>
          </a:xfrm>
          <a:prstGeom prst="roundRect">
            <a:avLst>
              <a:gd name="adj" fmla="val 2759"/>
            </a:avLst>
          </a:prstGeom>
          <a:solidFill>
            <a:schemeClr val="bg1">
              <a:alpha val="10000"/>
            </a:schemeClr>
          </a:solidFill>
          <a:ln/>
        </p:spPr>
      </p:sp>
      <p:sp>
        <p:nvSpPr>
          <p:cNvPr id="10" name="Dot"/>
          <p:cNvSpPr/>
          <p:nvPr/>
        </p:nvSpPr>
        <p:spPr>
          <a:xfrm>
            <a:off x="4565904" y="2194560"/>
            <a:ext cx="146304" cy="146304"/>
          </a:xfrm>
          <a:prstGeom prst="ellipse">
            <a:avLst/>
          </a:prstGeom>
          <a:solidFill>
            <a:schemeClr val="accent6"/>
          </a:solidFill>
          <a:ln/>
        </p:spPr>
      </p:sp>
      <p:sp>
        <p:nvSpPr>
          <p:cNvPr id="11" name="Text 8"/>
          <p:cNvSpPr txBox="1"/>
          <p:nvPr/>
        </p:nvSpPr>
        <p:spPr>
          <a:xfrm>
            <a:off x="4840224" y="2103120"/>
            <a:ext cx="2782824" cy="365760"/>
          </a:xfrm>
          <a:prstGeom prst="rect">
            <a:avLst/>
          </a:prstGeom>
          <a:noFill/>
          <a:ln/>
        </p:spPr>
        <p:txBody>
          <a:bodyPr wrap="square" lIns="0" tIns="0" rIns="0" bIns="0" rtlCol="0" anchor="t"/>
          <a:lstStyle/>
          <a:p>
            <a:pPr indent="0" marL="0">
              <a:buNone/>
            </a:pPr>
            <a:r>
              <a:rPr lang="en-US" sz="1800" b="1" dirty="0">
                <a:solidFill>
                  <a:schemeClr val="bg1"/>
                </a:solidFill>
              </a:rPr>
              <a:t>Classical vision</a:t>
            </a:r>
            <a:endParaRPr lang="en-US" sz="1800" dirty="0"/>
          </a:p>
        </p:txBody>
      </p:sp>
      <p:sp>
        <p:nvSpPr>
          <p:cNvPr id="12" name="Text 9"/>
          <p:cNvSpPr txBox="1"/>
          <p:nvPr/>
        </p:nvSpPr>
        <p:spPr>
          <a:xfrm>
            <a:off x="4565904" y="2606040"/>
            <a:ext cx="3057144" cy="1828800"/>
          </a:xfrm>
          <a:prstGeom prst="rect">
            <a:avLst/>
          </a:prstGeom>
          <a:noFill/>
          <a:ln/>
        </p:spPr>
        <p:txBody>
          <a:bodyPr wrap="square" lIns="0" tIns="0" rIns="0" bIns="0" rtlCol="0" anchor="t"/>
          <a:lstStyle/>
          <a:p>
            <a:pPr indent="0" marL="0">
              <a:spcAft>
                <a:spcPts val="800"/>
              </a:spcAft>
              <a:buNone/>
            </a:pPr>
            <a:r>
              <a:rPr lang="en-US" sz="2400" b="1" dirty="0">
                <a:solidFill>
                  <a:schemeClr val="bg1"/>
                </a:solidFill>
              </a:rPr>
              <a:t>What connects to what</a:t>
            </a:r>
            <a:endParaRPr lang="en-US" sz="1600" dirty="0"/>
          </a:p>
          <a:p>
            <a:pPr indent="0" marL="0">
              <a:buNone/>
            </a:pPr>
            <a:r>
              <a:rPr lang="en-US" sz="1600" dirty="0">
                <a:solidFill>
                  <a:schemeClr val="bg1"/>
                </a:solidFill>
              </a:rPr>
              <a:t>OpenCV follows the pen strokes.</a:t>
            </a:r>
            <a:endParaRPr lang="en-US" sz="1600" dirty="0"/>
          </a:p>
        </p:txBody>
      </p:sp>
      <p:sp>
        <p:nvSpPr>
          <p:cNvPr id="13" name="Card: Validators and tests"/>
          <p:cNvSpPr/>
          <p:nvPr/>
        </p:nvSpPr>
        <p:spPr>
          <a:xfrm>
            <a:off x="8125968" y="1920240"/>
            <a:ext cx="3514344" cy="2651760"/>
          </a:xfrm>
          <a:prstGeom prst="roundRect">
            <a:avLst>
              <a:gd name="adj" fmla="val 2759"/>
            </a:avLst>
          </a:prstGeom>
          <a:solidFill>
            <a:schemeClr val="bg1">
              <a:alpha val="10000"/>
            </a:schemeClr>
          </a:solidFill>
          <a:ln/>
        </p:spPr>
      </p:sp>
      <p:sp>
        <p:nvSpPr>
          <p:cNvPr id="14" name="Dot"/>
          <p:cNvSpPr/>
          <p:nvPr/>
        </p:nvSpPr>
        <p:spPr>
          <a:xfrm>
            <a:off x="8354568" y="2194560"/>
            <a:ext cx="146304" cy="146304"/>
          </a:xfrm>
          <a:prstGeom prst="ellipse">
            <a:avLst/>
          </a:prstGeom>
          <a:solidFill>
            <a:schemeClr val="accent6"/>
          </a:solidFill>
          <a:ln/>
        </p:spPr>
      </p:sp>
      <p:sp>
        <p:nvSpPr>
          <p:cNvPr id="15" name="Text 12"/>
          <p:cNvSpPr txBox="1"/>
          <p:nvPr/>
        </p:nvSpPr>
        <p:spPr>
          <a:xfrm>
            <a:off x="8628888" y="2103120"/>
            <a:ext cx="2782824" cy="365760"/>
          </a:xfrm>
          <a:prstGeom prst="rect">
            <a:avLst/>
          </a:prstGeom>
          <a:noFill/>
          <a:ln/>
        </p:spPr>
        <p:txBody>
          <a:bodyPr wrap="square" lIns="0" tIns="0" rIns="0" bIns="0" rtlCol="0" anchor="t"/>
          <a:lstStyle/>
          <a:p>
            <a:pPr indent="0" marL="0">
              <a:buNone/>
            </a:pPr>
            <a:r>
              <a:rPr lang="en-US" sz="1800" b="1" dirty="0">
                <a:solidFill>
                  <a:schemeClr val="bg1"/>
                </a:solidFill>
              </a:rPr>
              <a:t>Validators and tests</a:t>
            </a:r>
            <a:endParaRPr lang="en-US" sz="1800" dirty="0"/>
          </a:p>
        </p:txBody>
      </p:sp>
      <p:sp>
        <p:nvSpPr>
          <p:cNvPr id="16" name="Text 13"/>
          <p:cNvSpPr txBox="1"/>
          <p:nvPr/>
        </p:nvSpPr>
        <p:spPr>
          <a:xfrm>
            <a:off x="8354568" y="2606040"/>
            <a:ext cx="3057144" cy="1828800"/>
          </a:xfrm>
          <a:prstGeom prst="rect">
            <a:avLst/>
          </a:prstGeom>
          <a:noFill/>
          <a:ln/>
        </p:spPr>
        <p:txBody>
          <a:bodyPr wrap="square" lIns="0" tIns="0" rIns="0" bIns="0" rtlCol="0" anchor="t"/>
          <a:lstStyle/>
          <a:p>
            <a:pPr indent="0" marL="0">
              <a:spcAft>
                <a:spcPts val="800"/>
              </a:spcAft>
              <a:buNone/>
            </a:pPr>
            <a:r>
              <a:rPr lang="en-US" sz="2400" b="1" dirty="0">
                <a:solidFill>
                  <a:schemeClr val="bg1"/>
                </a:solidFill>
              </a:rPr>
              <a:t>Is it right</a:t>
            </a:r>
            <a:endParaRPr lang="en-US" sz="1600" dirty="0"/>
          </a:p>
          <a:p>
            <a:pPr indent="0" marL="0">
              <a:buNone/>
            </a:pPr>
            <a:r>
              <a:rPr lang="en-US" sz="1600" dirty="0">
                <a:solidFill>
                  <a:schemeClr val="bg1"/>
                </a:solidFill>
              </a:rPr>
              <a:t>Schema, graph rules and a conformance plan.</a:t>
            </a:r>
            <a:endParaRPr lang="en-US" sz="1600" dirty="0"/>
          </a:p>
        </p:txBody>
      </p:sp>
      <p:sp>
        <p:nvSpPr>
          <p:cNvPr id="17" name="Text 14"/>
          <p:cNvSpPr txBox="1"/>
          <p:nvPr/>
        </p:nvSpPr>
        <p:spPr>
          <a:xfrm>
            <a:off x="548640" y="5029200"/>
            <a:ext cx="11091672" cy="109728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Why not give the image to an LLM? Its answer cannot be verified or measured. These parts can.</a:t>
            </a:r>
            <a:endParaRPr lang="en-US" sz="2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DETECTION</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YOLO11n finds the parts, but only as boxes</a:t>
            </a:r>
            <a:endParaRPr lang="en-US" sz="3400" dirty="0"/>
          </a:p>
        </p:txBody>
      </p:sp>
      <p:sp>
        <p:nvSpPr>
          <p:cNvPr id="5" name="Card: Six classes"/>
          <p:cNvSpPr/>
          <p:nvPr/>
        </p:nvSpPr>
        <p:spPr>
          <a:xfrm>
            <a:off x="548640" y="1828800"/>
            <a:ext cx="5408676" cy="4206240"/>
          </a:xfrm>
          <a:prstGeom prst="roundRect">
            <a:avLst>
              <a:gd name="adj" fmla="val 1739"/>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Six classes</a:t>
            </a:r>
            <a:endParaRPr lang="en-US" sz="1800" dirty="0"/>
          </a:p>
        </p:txBody>
      </p:sp>
      <p:sp>
        <p:nvSpPr>
          <p:cNvPr id="8" name="Text 5"/>
          <p:cNvSpPr txBox="1"/>
          <p:nvPr/>
        </p:nvSpPr>
        <p:spPr>
          <a:xfrm>
            <a:off x="777240" y="3520440"/>
            <a:ext cx="4951476" cy="2377440"/>
          </a:xfrm>
          <a:prstGeom prst="rect">
            <a:avLst/>
          </a:prstGeom>
          <a:noFill/>
          <a:ln/>
        </p:spPr>
        <p:txBody>
          <a:bodyPr wrap="square" lIns="0" tIns="0" rIns="0" bIns="0" rtlCol="0" anchor="t"/>
          <a:lstStyle/>
          <a:p>
            <a:pPr indent="0" marL="0">
              <a:buNone/>
            </a:pPr>
            <a:r>
              <a:rPr lang="en-US" sz="1500" dirty="0">
                <a:solidFill>
                  <a:schemeClr val="tx1"/>
                </a:solidFill>
              </a:rPr>
              <a:t>A single-stage detector gives a box and a confidence for each object. The nano model is small and fast, and these line drawings need no bigger network. It starts from pretrained weights.</a:t>
            </a:r>
            <a:endParaRPr lang="en-US" sz="1600" dirty="0"/>
          </a:p>
        </p:txBody>
      </p:sp>
      <p:sp>
        <p:nvSpPr>
          <p:cNvPr id="9" name="Pill"/>
          <p:cNvSpPr/>
          <p:nvPr/>
        </p:nvSpPr>
        <p:spPr>
          <a:xfrm>
            <a:off x="777240" y="2560320"/>
            <a:ext cx="914400" cy="347472"/>
          </a:xfrm>
          <a:prstGeom prst="roundRect">
            <a:avLst>
              <a:gd name="adj" fmla="val 50000"/>
            </a:avLst>
          </a:prstGeom>
          <a:solidFill>
            <a:schemeClr val="accent1">
              <a:alpha val="12000"/>
            </a:schemeClr>
          </a:solidFill>
          <a:ln/>
        </p:spPr>
      </p:sp>
      <p:sp>
        <p:nvSpPr>
          <p:cNvPr id="10" name="Text 7"/>
          <p:cNvSpPr txBox="1"/>
          <p:nvPr/>
        </p:nvSpPr>
        <p:spPr>
          <a:xfrm>
            <a:off x="777240" y="2560320"/>
            <a:ext cx="91440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state</a:t>
            </a:r>
            <a:endParaRPr lang="en-US" sz="1400" dirty="0"/>
          </a:p>
        </p:txBody>
      </p:sp>
      <p:sp>
        <p:nvSpPr>
          <p:cNvPr id="11" name="Pill"/>
          <p:cNvSpPr/>
          <p:nvPr/>
        </p:nvSpPr>
        <p:spPr>
          <a:xfrm>
            <a:off x="1828800" y="2560320"/>
            <a:ext cx="914400" cy="347472"/>
          </a:xfrm>
          <a:prstGeom prst="roundRect">
            <a:avLst>
              <a:gd name="adj" fmla="val 50000"/>
            </a:avLst>
          </a:prstGeom>
          <a:solidFill>
            <a:schemeClr val="accent1">
              <a:alpha val="12000"/>
            </a:schemeClr>
          </a:solidFill>
          <a:ln/>
        </p:spPr>
      </p:sp>
      <p:sp>
        <p:nvSpPr>
          <p:cNvPr id="12" name="Text 9"/>
          <p:cNvSpPr txBox="1"/>
          <p:nvPr/>
        </p:nvSpPr>
        <p:spPr>
          <a:xfrm>
            <a:off x="1828800" y="2560320"/>
            <a:ext cx="91440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arrow</a:t>
            </a:r>
            <a:endParaRPr lang="en-US" sz="1400" dirty="0"/>
          </a:p>
        </p:txBody>
      </p:sp>
      <p:sp>
        <p:nvSpPr>
          <p:cNvPr id="13" name="Pill"/>
          <p:cNvSpPr/>
          <p:nvPr/>
        </p:nvSpPr>
        <p:spPr>
          <a:xfrm>
            <a:off x="2880360" y="2560320"/>
            <a:ext cx="1417320" cy="347472"/>
          </a:xfrm>
          <a:prstGeom prst="roundRect">
            <a:avLst>
              <a:gd name="adj" fmla="val 50000"/>
            </a:avLst>
          </a:prstGeom>
          <a:solidFill>
            <a:schemeClr val="accent1">
              <a:alpha val="12000"/>
            </a:schemeClr>
          </a:solidFill>
          <a:ln/>
        </p:spPr>
      </p:sp>
      <p:sp>
        <p:nvSpPr>
          <p:cNvPr id="14" name="Text 11"/>
          <p:cNvSpPr txBox="1"/>
          <p:nvPr/>
        </p:nvSpPr>
        <p:spPr>
          <a:xfrm>
            <a:off x="2880360" y="2560320"/>
            <a:ext cx="141732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final_state</a:t>
            </a:r>
            <a:endParaRPr lang="en-US" sz="1400" dirty="0"/>
          </a:p>
        </p:txBody>
      </p:sp>
      <p:sp>
        <p:nvSpPr>
          <p:cNvPr id="15" name="Pill"/>
          <p:cNvSpPr/>
          <p:nvPr/>
        </p:nvSpPr>
        <p:spPr>
          <a:xfrm>
            <a:off x="4434840" y="2560320"/>
            <a:ext cx="1280160" cy="347472"/>
          </a:xfrm>
          <a:prstGeom prst="roundRect">
            <a:avLst>
              <a:gd name="adj" fmla="val 50000"/>
            </a:avLst>
          </a:prstGeom>
          <a:solidFill>
            <a:schemeClr val="accent1">
              <a:alpha val="12000"/>
            </a:schemeClr>
          </a:solidFill>
          <a:ln/>
        </p:spPr>
      </p:sp>
      <p:sp>
        <p:nvSpPr>
          <p:cNvPr id="16" name="Text 13"/>
          <p:cNvSpPr txBox="1"/>
          <p:nvPr/>
        </p:nvSpPr>
        <p:spPr>
          <a:xfrm>
            <a:off x="4434840" y="2560320"/>
            <a:ext cx="128016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arrowhead</a:t>
            </a:r>
            <a:endParaRPr lang="en-US" sz="1400" dirty="0"/>
          </a:p>
        </p:txBody>
      </p:sp>
      <p:sp>
        <p:nvSpPr>
          <p:cNvPr id="17" name="Pill"/>
          <p:cNvSpPr/>
          <p:nvPr/>
        </p:nvSpPr>
        <p:spPr>
          <a:xfrm>
            <a:off x="777240" y="3017520"/>
            <a:ext cx="1737360" cy="347472"/>
          </a:xfrm>
          <a:prstGeom prst="roundRect">
            <a:avLst>
              <a:gd name="adj" fmla="val 50000"/>
            </a:avLst>
          </a:prstGeom>
          <a:solidFill>
            <a:schemeClr val="accent1">
              <a:alpha val="12000"/>
            </a:schemeClr>
          </a:solidFill>
          <a:ln/>
        </p:spPr>
      </p:sp>
      <p:sp>
        <p:nvSpPr>
          <p:cNvPr id="18" name="Text 15"/>
          <p:cNvSpPr txBox="1"/>
          <p:nvPr/>
        </p:nvSpPr>
        <p:spPr>
          <a:xfrm>
            <a:off x="777240" y="3017520"/>
            <a:ext cx="173736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initial_marker</a:t>
            </a:r>
            <a:endParaRPr lang="en-US" sz="1400" dirty="0"/>
          </a:p>
        </p:txBody>
      </p:sp>
      <p:sp>
        <p:nvSpPr>
          <p:cNvPr id="19" name="Pill"/>
          <p:cNvSpPr/>
          <p:nvPr/>
        </p:nvSpPr>
        <p:spPr>
          <a:xfrm>
            <a:off x="2651760" y="3017520"/>
            <a:ext cx="914400" cy="347472"/>
          </a:xfrm>
          <a:prstGeom prst="roundRect">
            <a:avLst>
              <a:gd name="adj" fmla="val 50000"/>
            </a:avLst>
          </a:prstGeom>
          <a:solidFill>
            <a:schemeClr val="accent1">
              <a:alpha val="12000"/>
            </a:schemeClr>
          </a:solidFill>
          <a:ln/>
        </p:spPr>
      </p:sp>
      <p:sp>
        <p:nvSpPr>
          <p:cNvPr id="20" name="Text 17"/>
          <p:cNvSpPr txBox="1"/>
          <p:nvPr/>
        </p:nvSpPr>
        <p:spPr>
          <a:xfrm>
            <a:off x="2651760" y="3017520"/>
            <a:ext cx="91440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label</a:t>
            </a:r>
            <a:endParaRPr lang="en-US" sz="1400" dirty="0"/>
          </a:p>
        </p:txBody>
      </p:sp>
      <p:sp>
        <p:nvSpPr>
          <p:cNvPr id="21" name="Card: The limitation"/>
          <p:cNvSpPr/>
          <p:nvPr/>
        </p:nvSpPr>
        <p:spPr>
          <a:xfrm>
            <a:off x="6231636" y="1828800"/>
            <a:ext cx="5408676" cy="4206240"/>
          </a:xfrm>
          <a:prstGeom prst="roundRect">
            <a:avLst>
              <a:gd name="adj" fmla="val 1739"/>
            </a:avLst>
          </a:prstGeom>
          <a:solidFill>
            <a:schemeClr val="accent1">
              <a:alpha val="12000"/>
            </a:schemeClr>
          </a:solidFill>
          <a:ln/>
        </p:spPr>
      </p:sp>
      <p:sp>
        <p:nvSpPr>
          <p:cNvPr id="22" name="Dot"/>
          <p:cNvSpPr/>
          <p:nvPr/>
        </p:nvSpPr>
        <p:spPr>
          <a:xfrm>
            <a:off x="6460236" y="2103120"/>
            <a:ext cx="146304" cy="146304"/>
          </a:xfrm>
          <a:prstGeom prst="ellipse">
            <a:avLst/>
          </a:prstGeom>
          <a:solidFill>
            <a:schemeClr val="accent1"/>
          </a:solidFill>
          <a:ln/>
        </p:spPr>
      </p:sp>
      <p:sp>
        <p:nvSpPr>
          <p:cNvPr id="23" name="Text 20"/>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The limitation</a:t>
            </a:r>
            <a:endParaRPr lang="en-US" sz="1800" dirty="0"/>
          </a:p>
        </p:txBody>
      </p:sp>
      <p:sp>
        <p:nvSpPr>
          <p:cNvPr id="24" name="Text 21"/>
          <p:cNvSpPr txBox="1"/>
          <p:nvPr/>
        </p:nvSpPr>
        <p:spPr>
          <a:xfrm>
            <a:off x="6460236" y="2514600"/>
            <a:ext cx="4951476" cy="3383280"/>
          </a:xfrm>
          <a:prstGeom prst="rect">
            <a:avLst/>
          </a:prstGeom>
          <a:noFill/>
          <a:ln/>
        </p:spPr>
        <p:txBody>
          <a:bodyPr wrap="square" lIns="0" tIns="0" rIns="0" bIns="0" rtlCol="0" anchor="t"/>
          <a:lstStyle/>
          <a:p>
            <a:pPr indent="0" marL="0">
              <a:spcAft>
                <a:spcPts val="800"/>
              </a:spcAft>
              <a:buNone/>
            </a:pPr>
            <a:r>
              <a:rPr lang="en-US" sz="2200" b="1" dirty="0">
                <a:solidFill>
                  <a:schemeClr val="tx1"/>
                </a:solidFill>
              </a:rPr>
              <a:t>A box shows where an arrow is, not where it starts, ends or points.</a:t>
            </a:r>
            <a:endParaRPr lang="en-US" sz="1600" dirty="0"/>
          </a:p>
          <a:p>
            <a:pPr indent="0" marL="0">
              <a:buNone/>
            </a:pPr>
            <a:r>
              <a:rPr lang="en-US" sz="1500" dirty="0">
                <a:solidFill>
                  <a:schemeClr val="tx1"/>
                </a:solidFill>
              </a:rPr>
              <a:t>Boxes of crossing or curved arrows overlap and contain other objects. Connectivity needs the pixels of the stroke itself.</a:t>
            </a:r>
            <a:endParaRPr lang="en-US" sz="1600" dirty="0"/>
          </a:p>
        </p:txBody>
      </p:sp>
      <p:sp>
        <p:nvSpPr>
          <p:cNvPr id="25" name="Bounding box"/>
          <p:cNvSpPr/>
          <p:nvPr/>
        </p:nvSpPr>
        <p:spPr>
          <a:xfrm>
            <a:off x="6688836" y="4754880"/>
            <a:ext cx="2377440" cy="1005840"/>
          </a:xfrm>
          <a:prstGeom prst="rect">
            <a:avLst/>
          </a:prstGeom>
          <a:ln w="19050">
            <a:solidFill>
              <a:schemeClr val="accent2"/>
            </a:solidFill>
            <a:prstDash val="dash"/>
          </a:ln>
        </p:spPr>
      </p:sp>
      <p:sp>
        <p:nvSpPr>
          <p:cNvPr id="26" name="Arrow in box"/>
          <p:cNvSpPr/>
          <p:nvPr/>
        </p:nvSpPr>
        <p:spPr>
          <a:xfrm>
            <a:off x="6871716" y="4937760"/>
            <a:ext cx="2011680" cy="640080"/>
          </a:xfrm>
          <a:prstGeom prst="line">
            <a:avLst/>
          </a:prstGeom>
          <a:noFill/>
          <a:ln w="38100">
            <a:solidFill>
              <a:schemeClr val="tx1"/>
            </a:solidFill>
            <a:prstDash val="solid"/>
            <a:tailEnd type="triangle"/>
          </a:ln>
        </p:spPr>
      </p:sp>
      <p:sp>
        <p:nvSpPr>
          <p:cNvPr id="27" name="Text 24"/>
          <p:cNvSpPr txBox="1"/>
          <p:nvPr/>
        </p:nvSpPr>
        <p:spPr>
          <a:xfrm>
            <a:off x="9340596" y="4754880"/>
            <a:ext cx="2116836" cy="1005840"/>
          </a:xfrm>
          <a:prstGeom prst="rect">
            <a:avLst/>
          </a:prstGeom>
          <a:noFill/>
          <a:ln/>
        </p:spPr>
        <p:txBody>
          <a:bodyPr wrap="square" lIns="0" tIns="0" rIns="0" bIns="0" rtlCol="0" anchor="ctr"/>
          <a:lstStyle/>
          <a:p>
            <a:pPr indent="0" marL="0">
              <a:buNone/>
            </a:pPr>
            <a:r>
              <a:rPr lang="en-US" sz="1400" dirty="0">
                <a:solidFill>
                  <a:schemeClr val="tx2"/>
                </a:solidFill>
              </a:rPr>
              <a:t>The box is the same whichever way the arrow points.</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DETECTION</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The detector is nearly solved on this data</a:t>
            </a:r>
            <a:endParaRPr lang="en-US" sz="3400" dirty="0"/>
          </a:p>
        </p:txBody>
      </p:sp>
      <p:sp>
        <p:nvSpPr>
          <p:cNvPr id="5" name="Stat: Precision"/>
          <p:cNvSpPr/>
          <p:nvPr/>
        </p:nvSpPr>
        <p:spPr>
          <a:xfrm>
            <a:off x="548640" y="1828800"/>
            <a:ext cx="2035454" cy="2194560"/>
          </a:xfrm>
          <a:prstGeom prst="roundRect">
            <a:avLst>
              <a:gd name="adj" fmla="val 3594"/>
            </a:avLst>
          </a:prstGeom>
          <a:solidFill>
            <a:schemeClr val="bg2"/>
          </a:solidFill>
          <a:ln/>
        </p:spPr>
      </p:sp>
      <p:sp>
        <p:nvSpPr>
          <p:cNvPr id="6" name="Text 3"/>
          <p:cNvSpPr txBox="1"/>
          <p:nvPr/>
        </p:nvSpPr>
        <p:spPr>
          <a:xfrm>
            <a:off x="777240" y="2011680"/>
            <a:ext cx="1578254" cy="274320"/>
          </a:xfrm>
          <a:prstGeom prst="rect">
            <a:avLst/>
          </a:prstGeom>
          <a:noFill/>
          <a:ln/>
        </p:spPr>
        <p:txBody>
          <a:bodyPr wrap="square" lIns="0" tIns="0" rIns="0" bIns="0" rtlCol="0" anchor="t"/>
          <a:lstStyle/>
          <a:p>
            <a:pPr indent="0" marL="0">
              <a:buNone/>
            </a:pPr>
            <a:r>
              <a:rPr lang="en-US" sz="1400" b="1" dirty="0">
                <a:solidFill>
                  <a:schemeClr val="tx2"/>
                </a:solidFill>
              </a:rPr>
              <a:t>Precision</a:t>
            </a:r>
            <a:endParaRPr lang="en-US" sz="1400" dirty="0"/>
          </a:p>
        </p:txBody>
      </p:sp>
      <p:sp>
        <p:nvSpPr>
          <p:cNvPr id="7" name="Text 4"/>
          <p:cNvSpPr txBox="1"/>
          <p:nvPr/>
        </p:nvSpPr>
        <p:spPr>
          <a:xfrm>
            <a:off x="777240" y="2331720"/>
            <a:ext cx="1578254"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0.994</a:t>
            </a:r>
            <a:endParaRPr lang="en-US" sz="4000" dirty="0"/>
          </a:p>
        </p:txBody>
      </p:sp>
      <p:sp>
        <p:nvSpPr>
          <p:cNvPr id="8" name="Text 5"/>
          <p:cNvSpPr txBox="1"/>
          <p:nvPr/>
        </p:nvSpPr>
        <p:spPr>
          <a:xfrm>
            <a:off x="777240" y="3200400"/>
            <a:ext cx="1578254" cy="731520"/>
          </a:xfrm>
          <a:prstGeom prst="rect">
            <a:avLst/>
          </a:prstGeom>
          <a:noFill/>
          <a:ln/>
        </p:spPr>
        <p:txBody>
          <a:bodyPr wrap="square" lIns="0" tIns="0" rIns="0" bIns="0" rtlCol="0" anchor="t"/>
          <a:lstStyle/>
          <a:p>
            <a:pPr indent="0" marL="0">
              <a:buNone/>
            </a:pPr>
            <a:r>
              <a:rPr lang="en-US" sz="1400" dirty="0">
                <a:solidFill>
                  <a:schemeClr val="tx2"/>
                </a:solidFill>
              </a:rPr>
              <a:t>few false detections</a:t>
            </a:r>
            <a:endParaRPr lang="en-US" sz="1400" dirty="0"/>
          </a:p>
        </p:txBody>
      </p:sp>
      <p:sp>
        <p:nvSpPr>
          <p:cNvPr id="9" name="Stat: Recall"/>
          <p:cNvSpPr/>
          <p:nvPr/>
        </p:nvSpPr>
        <p:spPr>
          <a:xfrm>
            <a:off x="2812694" y="1828800"/>
            <a:ext cx="2035454" cy="2194560"/>
          </a:xfrm>
          <a:prstGeom prst="roundRect">
            <a:avLst>
              <a:gd name="adj" fmla="val 3594"/>
            </a:avLst>
          </a:prstGeom>
          <a:solidFill>
            <a:schemeClr val="bg2"/>
          </a:solidFill>
          <a:ln/>
        </p:spPr>
      </p:sp>
      <p:sp>
        <p:nvSpPr>
          <p:cNvPr id="10" name="Text 7"/>
          <p:cNvSpPr txBox="1"/>
          <p:nvPr/>
        </p:nvSpPr>
        <p:spPr>
          <a:xfrm>
            <a:off x="3041294" y="2011680"/>
            <a:ext cx="1578254" cy="274320"/>
          </a:xfrm>
          <a:prstGeom prst="rect">
            <a:avLst/>
          </a:prstGeom>
          <a:noFill/>
          <a:ln/>
        </p:spPr>
        <p:txBody>
          <a:bodyPr wrap="square" lIns="0" tIns="0" rIns="0" bIns="0" rtlCol="0" anchor="t"/>
          <a:lstStyle/>
          <a:p>
            <a:pPr indent="0" marL="0">
              <a:buNone/>
            </a:pPr>
            <a:r>
              <a:rPr lang="en-US" sz="1400" b="1" dirty="0">
                <a:solidFill>
                  <a:schemeClr val="tx2"/>
                </a:solidFill>
              </a:rPr>
              <a:t>Recall</a:t>
            </a:r>
            <a:endParaRPr lang="en-US" sz="1400" dirty="0"/>
          </a:p>
        </p:txBody>
      </p:sp>
      <p:sp>
        <p:nvSpPr>
          <p:cNvPr id="11" name="Text 8"/>
          <p:cNvSpPr txBox="1"/>
          <p:nvPr/>
        </p:nvSpPr>
        <p:spPr>
          <a:xfrm>
            <a:off x="3041294" y="2331720"/>
            <a:ext cx="1578254"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0.987</a:t>
            </a:r>
            <a:endParaRPr lang="en-US" sz="4000" dirty="0"/>
          </a:p>
        </p:txBody>
      </p:sp>
      <p:sp>
        <p:nvSpPr>
          <p:cNvPr id="12" name="Text 9"/>
          <p:cNvSpPr txBox="1"/>
          <p:nvPr/>
        </p:nvSpPr>
        <p:spPr>
          <a:xfrm>
            <a:off x="3041294" y="3200400"/>
            <a:ext cx="1578254" cy="731520"/>
          </a:xfrm>
          <a:prstGeom prst="rect">
            <a:avLst/>
          </a:prstGeom>
          <a:noFill/>
          <a:ln/>
        </p:spPr>
        <p:txBody>
          <a:bodyPr wrap="square" lIns="0" tIns="0" rIns="0" bIns="0" rtlCol="0" anchor="t"/>
          <a:lstStyle/>
          <a:p>
            <a:pPr indent="0" marL="0">
              <a:buNone/>
            </a:pPr>
            <a:r>
              <a:rPr lang="en-US" sz="1400" dirty="0">
                <a:solidFill>
                  <a:schemeClr val="tx2"/>
                </a:solidFill>
              </a:rPr>
              <a:t>few missed objects</a:t>
            </a:r>
            <a:endParaRPr lang="en-US" sz="1400" dirty="0"/>
          </a:p>
        </p:txBody>
      </p:sp>
      <p:sp>
        <p:nvSpPr>
          <p:cNvPr id="13" name="Stat: mAP@50"/>
          <p:cNvSpPr/>
          <p:nvPr/>
        </p:nvSpPr>
        <p:spPr>
          <a:xfrm>
            <a:off x="5076749" y="1828800"/>
            <a:ext cx="2035454" cy="2194560"/>
          </a:xfrm>
          <a:prstGeom prst="roundRect">
            <a:avLst>
              <a:gd name="adj" fmla="val 3594"/>
            </a:avLst>
          </a:prstGeom>
          <a:solidFill>
            <a:schemeClr val="bg2"/>
          </a:solidFill>
          <a:ln/>
        </p:spPr>
      </p:sp>
      <p:sp>
        <p:nvSpPr>
          <p:cNvPr id="14" name="Text 11"/>
          <p:cNvSpPr txBox="1"/>
          <p:nvPr/>
        </p:nvSpPr>
        <p:spPr>
          <a:xfrm>
            <a:off x="5305349" y="2011680"/>
            <a:ext cx="1578254" cy="274320"/>
          </a:xfrm>
          <a:prstGeom prst="rect">
            <a:avLst/>
          </a:prstGeom>
          <a:noFill/>
          <a:ln/>
        </p:spPr>
        <p:txBody>
          <a:bodyPr wrap="square" lIns="0" tIns="0" rIns="0" bIns="0" rtlCol="0" anchor="t"/>
          <a:lstStyle/>
          <a:p>
            <a:pPr indent="0" marL="0">
              <a:buNone/>
            </a:pPr>
            <a:r>
              <a:rPr lang="en-US" sz="1400" b="1" dirty="0">
                <a:solidFill>
                  <a:schemeClr val="tx2"/>
                </a:solidFill>
              </a:rPr>
              <a:t>mAP@50</a:t>
            </a:r>
            <a:endParaRPr lang="en-US" sz="1400" dirty="0"/>
          </a:p>
        </p:txBody>
      </p:sp>
      <p:sp>
        <p:nvSpPr>
          <p:cNvPr id="15" name="Text 12"/>
          <p:cNvSpPr txBox="1"/>
          <p:nvPr/>
        </p:nvSpPr>
        <p:spPr>
          <a:xfrm>
            <a:off x="5305349" y="2331720"/>
            <a:ext cx="1578254"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0.992</a:t>
            </a:r>
            <a:endParaRPr lang="en-US" sz="4000" dirty="0"/>
          </a:p>
        </p:txBody>
      </p:sp>
      <p:sp>
        <p:nvSpPr>
          <p:cNvPr id="16" name="Text 13"/>
          <p:cNvSpPr txBox="1"/>
          <p:nvPr/>
        </p:nvSpPr>
        <p:spPr>
          <a:xfrm>
            <a:off x="5305349" y="3200400"/>
            <a:ext cx="1578254" cy="731520"/>
          </a:xfrm>
          <a:prstGeom prst="rect">
            <a:avLst/>
          </a:prstGeom>
          <a:noFill/>
          <a:ln/>
        </p:spPr>
        <p:txBody>
          <a:bodyPr wrap="square" lIns="0" tIns="0" rIns="0" bIns="0" rtlCol="0" anchor="t"/>
          <a:lstStyle/>
          <a:p>
            <a:pPr indent="0" marL="0">
              <a:buNone/>
            </a:pPr>
            <a:r>
              <a:rPr lang="en-US" sz="1400" dirty="0">
                <a:solidFill>
                  <a:schemeClr val="tx2"/>
                </a:solidFill>
              </a:rPr>
              <a:t>overlap of at least 50%</a:t>
            </a:r>
            <a:endParaRPr lang="en-US" sz="1400" dirty="0"/>
          </a:p>
        </p:txBody>
      </p:sp>
      <p:sp>
        <p:nvSpPr>
          <p:cNvPr id="17" name="Stat: mAP@50-95"/>
          <p:cNvSpPr/>
          <p:nvPr/>
        </p:nvSpPr>
        <p:spPr>
          <a:xfrm>
            <a:off x="7340803" y="1828800"/>
            <a:ext cx="2035454" cy="2194560"/>
          </a:xfrm>
          <a:prstGeom prst="roundRect">
            <a:avLst>
              <a:gd name="adj" fmla="val 3594"/>
            </a:avLst>
          </a:prstGeom>
          <a:solidFill>
            <a:schemeClr val="bg2"/>
          </a:solidFill>
          <a:ln/>
        </p:spPr>
      </p:sp>
      <p:sp>
        <p:nvSpPr>
          <p:cNvPr id="18" name="Text 15"/>
          <p:cNvSpPr txBox="1"/>
          <p:nvPr/>
        </p:nvSpPr>
        <p:spPr>
          <a:xfrm>
            <a:off x="7569403" y="2011680"/>
            <a:ext cx="1578254" cy="274320"/>
          </a:xfrm>
          <a:prstGeom prst="rect">
            <a:avLst/>
          </a:prstGeom>
          <a:noFill/>
          <a:ln/>
        </p:spPr>
        <p:txBody>
          <a:bodyPr wrap="square" lIns="0" tIns="0" rIns="0" bIns="0" rtlCol="0" anchor="t"/>
          <a:lstStyle/>
          <a:p>
            <a:pPr indent="0" marL="0">
              <a:buNone/>
            </a:pPr>
            <a:r>
              <a:rPr lang="en-US" sz="1400" b="1" dirty="0">
                <a:solidFill>
                  <a:schemeClr val="tx2"/>
                </a:solidFill>
              </a:rPr>
              <a:t>mAP@50-95</a:t>
            </a:r>
            <a:endParaRPr lang="en-US" sz="1400" dirty="0"/>
          </a:p>
        </p:txBody>
      </p:sp>
      <p:sp>
        <p:nvSpPr>
          <p:cNvPr id="19" name="Text 16"/>
          <p:cNvSpPr txBox="1"/>
          <p:nvPr/>
        </p:nvSpPr>
        <p:spPr>
          <a:xfrm>
            <a:off x="7569403" y="2331720"/>
            <a:ext cx="1578254"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0.934</a:t>
            </a:r>
            <a:endParaRPr lang="en-US" sz="4000" dirty="0"/>
          </a:p>
        </p:txBody>
      </p:sp>
      <p:sp>
        <p:nvSpPr>
          <p:cNvPr id="20" name="Text 17"/>
          <p:cNvSpPr txBox="1"/>
          <p:nvPr/>
        </p:nvSpPr>
        <p:spPr>
          <a:xfrm>
            <a:off x="7569403" y="3200400"/>
            <a:ext cx="1578254" cy="731520"/>
          </a:xfrm>
          <a:prstGeom prst="rect">
            <a:avLst/>
          </a:prstGeom>
          <a:noFill/>
          <a:ln/>
        </p:spPr>
        <p:txBody>
          <a:bodyPr wrap="square" lIns="0" tIns="0" rIns="0" bIns="0" rtlCol="0" anchor="t"/>
          <a:lstStyle/>
          <a:p>
            <a:pPr indent="0" marL="0">
              <a:buNone/>
            </a:pPr>
            <a:r>
              <a:rPr lang="en-US" sz="1400" dirty="0">
                <a:solidFill>
                  <a:schemeClr val="tx2"/>
                </a:solidFill>
              </a:rPr>
              <a:t>stricter box placement</a:t>
            </a:r>
            <a:endParaRPr lang="en-US" sz="1400" dirty="0"/>
          </a:p>
        </p:txBody>
      </p:sp>
      <p:sp>
        <p:nvSpPr>
          <p:cNvPr id="21" name="Stat: Objects"/>
          <p:cNvSpPr/>
          <p:nvPr/>
        </p:nvSpPr>
        <p:spPr>
          <a:xfrm>
            <a:off x="9604858" y="1828800"/>
            <a:ext cx="2035454" cy="2194560"/>
          </a:xfrm>
          <a:prstGeom prst="roundRect">
            <a:avLst>
              <a:gd name="adj" fmla="val 3594"/>
            </a:avLst>
          </a:prstGeom>
          <a:solidFill>
            <a:schemeClr val="bg2"/>
          </a:solidFill>
          <a:ln/>
        </p:spPr>
      </p:sp>
      <p:sp>
        <p:nvSpPr>
          <p:cNvPr id="22" name="Text 19"/>
          <p:cNvSpPr txBox="1"/>
          <p:nvPr/>
        </p:nvSpPr>
        <p:spPr>
          <a:xfrm>
            <a:off x="9833458" y="2011680"/>
            <a:ext cx="1578254" cy="274320"/>
          </a:xfrm>
          <a:prstGeom prst="rect">
            <a:avLst/>
          </a:prstGeom>
          <a:noFill/>
          <a:ln/>
        </p:spPr>
        <p:txBody>
          <a:bodyPr wrap="square" lIns="0" tIns="0" rIns="0" bIns="0" rtlCol="0" anchor="t"/>
          <a:lstStyle/>
          <a:p>
            <a:pPr indent="0" marL="0">
              <a:buNone/>
            </a:pPr>
            <a:r>
              <a:rPr lang="en-US" sz="1400" b="1" dirty="0">
                <a:solidFill>
                  <a:schemeClr val="tx2"/>
                </a:solidFill>
              </a:rPr>
              <a:t>Objects</a:t>
            </a:r>
            <a:endParaRPr lang="en-US" sz="1400" dirty="0"/>
          </a:p>
        </p:txBody>
      </p:sp>
      <p:sp>
        <p:nvSpPr>
          <p:cNvPr id="23" name="Text 20"/>
          <p:cNvSpPr txBox="1"/>
          <p:nvPr/>
        </p:nvSpPr>
        <p:spPr>
          <a:xfrm>
            <a:off x="9833458" y="2331720"/>
            <a:ext cx="1578254"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5,108</a:t>
            </a:r>
            <a:endParaRPr lang="en-US" sz="4000" dirty="0"/>
          </a:p>
        </p:txBody>
      </p:sp>
      <p:sp>
        <p:nvSpPr>
          <p:cNvPr id="24" name="Text 21"/>
          <p:cNvSpPr txBox="1"/>
          <p:nvPr/>
        </p:nvSpPr>
        <p:spPr>
          <a:xfrm>
            <a:off x="9833458" y="3200400"/>
            <a:ext cx="1578254" cy="731520"/>
          </a:xfrm>
          <a:prstGeom prst="rect">
            <a:avLst/>
          </a:prstGeom>
          <a:noFill/>
          <a:ln/>
        </p:spPr>
        <p:txBody>
          <a:bodyPr wrap="square" lIns="0" tIns="0" rIns="0" bIns="0" rtlCol="0" anchor="t"/>
          <a:lstStyle/>
          <a:p>
            <a:pPr indent="0" marL="0">
              <a:buNone/>
            </a:pPr>
            <a:r>
              <a:rPr lang="en-US" sz="1400" dirty="0">
                <a:solidFill>
                  <a:schemeClr val="tx2"/>
                </a:solidFill>
              </a:rPr>
              <a:t>in 360 test images</a:t>
            </a:r>
            <a:endParaRPr lang="en-US" sz="1400" dirty="0"/>
          </a:p>
        </p:txBody>
      </p:sp>
      <p:sp>
        <p:nvSpPr>
          <p:cNvPr id="25" name="Text 22"/>
          <p:cNvSpPr txBox="1"/>
          <p:nvPr/>
        </p:nvSpPr>
        <p:spPr>
          <a:xfrm>
            <a:off x="548640" y="425196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Ultralytics validator run on dataset_v2 test images with runs/detect/v2/weights/best.pt, image size 640. Precision and recall are measured at the confidence that maximises F1.</a:t>
            </a:r>
            <a:endParaRPr lang="en-US" sz="1100" dirty="0"/>
          </a:p>
        </p:txBody>
      </p:sp>
      <p:sp>
        <p:nvSpPr>
          <p:cNvPr id="26" name="Callout"/>
          <p:cNvSpPr/>
          <p:nvPr/>
        </p:nvSpPr>
        <p:spPr>
          <a:xfrm>
            <a:off x="548640" y="4937760"/>
            <a:ext cx="11091672" cy="1005840"/>
          </a:xfrm>
          <a:prstGeom prst="roundRect">
            <a:avLst>
              <a:gd name="adj" fmla="val 7273"/>
            </a:avLst>
          </a:prstGeom>
          <a:solidFill>
            <a:schemeClr val="accent1">
              <a:alpha val="10000"/>
            </a:schemeClr>
          </a:solidFill>
          <a:ln/>
        </p:spPr>
      </p:sp>
      <p:sp>
        <p:nvSpPr>
          <p:cNvPr id="27" name="Text 24"/>
          <p:cNvSpPr txBox="1"/>
          <p:nvPr/>
        </p:nvSpPr>
        <p:spPr>
          <a:xfrm>
            <a:off x="822960" y="4937760"/>
            <a:ext cx="10543032" cy="1005840"/>
          </a:xfrm>
          <a:prstGeom prst="rect">
            <a:avLst/>
          </a:prstGeom>
          <a:noFill/>
          <a:ln/>
        </p:spPr>
        <p:txBody>
          <a:bodyPr wrap="square" lIns="0" tIns="0" rIns="0" bIns="0" rtlCol="0" anchor="ctr"/>
          <a:lstStyle/>
          <a:p>
            <a:pPr indent="0" marL="0">
              <a:buNone/>
            </a:pPr>
            <a:r>
              <a:rPr lang="en-US" sz="1600" b="1" dirty="0">
                <a:solidFill>
                  <a:schemeClr val="tx1"/>
                </a:solidFill>
              </a:rPr>
              <a:t>That is why the interesting work is the next slides: </a:t>
            </a:r>
            <a:pPr indent="0" marL="0">
              <a:buNone/>
            </a:pPr>
            <a:r>
              <a:rPr lang="en-US" sz="1600" dirty="0">
                <a:solidFill>
                  <a:schemeClr val="tx1"/>
                </a:solidFill>
              </a:rPr>
              <a:t>turning boxes into a correct graph.</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STROKES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First, a clean ink mask, even from a shadowed photo</a:t>
            </a:r>
            <a:endParaRPr lang="en-US" sz="3400" dirty="0"/>
          </a:p>
        </p:txBody>
      </p:sp>
      <p:sp>
        <p:nvSpPr>
          <p:cNvPr id="5" name="Step 1"/>
          <p:cNvSpPr/>
          <p:nvPr/>
        </p:nvSpPr>
        <p:spPr>
          <a:xfrm>
            <a:off x="548640" y="1828800"/>
            <a:ext cx="2567178" cy="2926080"/>
          </a:xfrm>
          <a:prstGeom prst="roundRect">
            <a:avLst>
              <a:gd name="adj" fmla="val 2850"/>
            </a:avLst>
          </a:prstGeom>
          <a:solidFill>
            <a:schemeClr val="bg2"/>
          </a:solidFill>
          <a:ln/>
        </p:spPr>
      </p:sp>
      <p:sp>
        <p:nvSpPr>
          <p:cNvPr id="6" name="Number 1"/>
          <p:cNvSpPr/>
          <p:nvPr/>
        </p:nvSpPr>
        <p:spPr>
          <a:xfrm>
            <a:off x="777240" y="2057400"/>
            <a:ext cx="457200" cy="457200"/>
          </a:xfrm>
          <a:prstGeom prst="ellipse">
            <a:avLst/>
          </a:prstGeom>
          <a:solidFill>
            <a:schemeClr val="accent1"/>
          </a:solidFill>
          <a:ln/>
        </p:spPr>
      </p:sp>
      <p:sp>
        <p:nvSpPr>
          <p:cNvPr id="7" name="Text 4"/>
          <p:cNvSpPr txBox="1"/>
          <p:nvPr/>
        </p:nvSpPr>
        <p:spPr>
          <a:xfrm>
            <a:off x="777240"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8" name="Text 5"/>
          <p:cNvSpPr txBox="1"/>
          <p:nvPr/>
        </p:nvSpPr>
        <p:spPr>
          <a:xfrm>
            <a:off x="777240" y="2697480"/>
            <a:ext cx="2109978" cy="640080"/>
          </a:xfrm>
          <a:prstGeom prst="rect">
            <a:avLst/>
          </a:prstGeom>
          <a:noFill/>
          <a:ln/>
        </p:spPr>
        <p:txBody>
          <a:bodyPr wrap="square" lIns="0" tIns="0" rIns="0" bIns="0" rtlCol="0" anchor="t"/>
          <a:lstStyle/>
          <a:p>
            <a:pPr indent="0" marL="0">
              <a:buNone/>
            </a:pPr>
            <a:r>
              <a:rPr lang="en-US" sz="1800" b="1" dirty="0">
                <a:solidFill>
                  <a:schemeClr val="tx1"/>
                </a:solidFill>
              </a:rPr>
              <a:t>Estimate background</a:t>
            </a:r>
            <a:endParaRPr lang="en-US" sz="1800" dirty="0"/>
          </a:p>
        </p:txBody>
      </p:sp>
      <p:sp>
        <p:nvSpPr>
          <p:cNvPr id="9" name="Text 6"/>
          <p:cNvSpPr txBox="1"/>
          <p:nvPr/>
        </p:nvSpPr>
        <p:spPr>
          <a:xfrm>
            <a:off x="777240" y="3383280"/>
            <a:ext cx="2109978" cy="1280160"/>
          </a:xfrm>
          <a:prstGeom prst="rect">
            <a:avLst/>
          </a:prstGeom>
          <a:noFill/>
          <a:ln/>
        </p:spPr>
        <p:txBody>
          <a:bodyPr wrap="square" lIns="0" tIns="0" rIns="0" bIns="0" rtlCol="0" anchor="t"/>
          <a:lstStyle/>
          <a:p>
            <a:pPr indent="0" marL="0">
              <a:buNone/>
            </a:pPr>
            <a:r>
              <a:rPr lang="en-US" sz="1500" dirty="0">
                <a:solidFill>
                  <a:schemeClr val="tx1"/>
                </a:solidFill>
              </a:rPr>
              <a:t>A large morphological closing removes thin lines and keeps paper shading.</a:t>
            </a:r>
            <a:endParaRPr lang="en-US" sz="1500" dirty="0"/>
          </a:p>
        </p:txBody>
      </p:sp>
      <p:sp>
        <p:nvSpPr>
          <p:cNvPr id="10" name="Step 2"/>
          <p:cNvSpPr/>
          <p:nvPr/>
        </p:nvSpPr>
        <p:spPr>
          <a:xfrm>
            <a:off x="3390138" y="1828800"/>
            <a:ext cx="2567178" cy="2926080"/>
          </a:xfrm>
          <a:prstGeom prst="roundRect">
            <a:avLst>
              <a:gd name="adj" fmla="val 2850"/>
            </a:avLst>
          </a:prstGeom>
          <a:solidFill>
            <a:schemeClr val="bg2"/>
          </a:solidFill>
          <a:ln/>
        </p:spPr>
      </p:sp>
      <p:sp>
        <p:nvSpPr>
          <p:cNvPr id="11" name="Number 2"/>
          <p:cNvSpPr/>
          <p:nvPr/>
        </p:nvSpPr>
        <p:spPr>
          <a:xfrm>
            <a:off x="3618738" y="2057400"/>
            <a:ext cx="457200" cy="457200"/>
          </a:xfrm>
          <a:prstGeom prst="ellipse">
            <a:avLst/>
          </a:prstGeom>
          <a:solidFill>
            <a:schemeClr val="accent1"/>
          </a:solidFill>
          <a:ln/>
        </p:spPr>
      </p:sp>
      <p:sp>
        <p:nvSpPr>
          <p:cNvPr id="12" name="Text 9"/>
          <p:cNvSpPr txBox="1"/>
          <p:nvPr/>
        </p:nvSpPr>
        <p:spPr>
          <a:xfrm>
            <a:off x="3618738"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3" name="Text 10"/>
          <p:cNvSpPr txBox="1"/>
          <p:nvPr/>
        </p:nvSpPr>
        <p:spPr>
          <a:xfrm>
            <a:off x="3618738" y="2697480"/>
            <a:ext cx="2109978" cy="640080"/>
          </a:xfrm>
          <a:prstGeom prst="rect">
            <a:avLst/>
          </a:prstGeom>
          <a:noFill/>
          <a:ln/>
        </p:spPr>
        <p:txBody>
          <a:bodyPr wrap="square" lIns="0" tIns="0" rIns="0" bIns="0" rtlCol="0" anchor="t"/>
          <a:lstStyle/>
          <a:p>
            <a:pPr indent="0" marL="0">
              <a:buNone/>
            </a:pPr>
            <a:r>
              <a:rPr lang="en-US" sz="1800" b="1" dirty="0">
                <a:solidFill>
                  <a:schemeClr val="tx1"/>
                </a:solidFill>
              </a:rPr>
              <a:t>Divide it out</a:t>
            </a:r>
            <a:endParaRPr lang="en-US" sz="1800" dirty="0"/>
          </a:p>
        </p:txBody>
      </p:sp>
      <p:sp>
        <p:nvSpPr>
          <p:cNvPr id="14" name="Text 11"/>
          <p:cNvSpPr txBox="1"/>
          <p:nvPr/>
        </p:nvSpPr>
        <p:spPr>
          <a:xfrm>
            <a:off x="3618738" y="3383280"/>
            <a:ext cx="2109978" cy="1280160"/>
          </a:xfrm>
          <a:prstGeom prst="rect">
            <a:avLst/>
          </a:prstGeom>
          <a:noFill/>
          <a:ln/>
        </p:spPr>
        <p:txBody>
          <a:bodyPr wrap="square" lIns="0" tIns="0" rIns="0" bIns="0" rtlCol="0" anchor="t"/>
          <a:lstStyle/>
          <a:p>
            <a:pPr indent="0" marL="0">
              <a:buNone/>
            </a:pPr>
            <a:r>
              <a:rPr lang="en-US" sz="1500" dirty="0">
                <a:solidFill>
                  <a:schemeClr val="tx1"/>
                </a:solidFill>
              </a:rPr>
              <a:t>Image divided by background flattens shadows and gradients.</a:t>
            </a:r>
            <a:endParaRPr lang="en-US" sz="1500" dirty="0"/>
          </a:p>
        </p:txBody>
      </p:sp>
      <p:sp>
        <p:nvSpPr>
          <p:cNvPr id="15" name="Step 3"/>
          <p:cNvSpPr/>
          <p:nvPr/>
        </p:nvSpPr>
        <p:spPr>
          <a:xfrm>
            <a:off x="6231636" y="1828800"/>
            <a:ext cx="2567178" cy="2926080"/>
          </a:xfrm>
          <a:prstGeom prst="roundRect">
            <a:avLst>
              <a:gd name="adj" fmla="val 2850"/>
            </a:avLst>
          </a:prstGeom>
          <a:solidFill>
            <a:schemeClr val="bg2"/>
          </a:solidFill>
          <a:ln/>
        </p:spPr>
      </p:sp>
      <p:sp>
        <p:nvSpPr>
          <p:cNvPr id="16" name="Number 3"/>
          <p:cNvSpPr/>
          <p:nvPr/>
        </p:nvSpPr>
        <p:spPr>
          <a:xfrm>
            <a:off x="6460236" y="2057400"/>
            <a:ext cx="457200" cy="457200"/>
          </a:xfrm>
          <a:prstGeom prst="ellipse">
            <a:avLst/>
          </a:prstGeom>
          <a:solidFill>
            <a:schemeClr val="accent1"/>
          </a:solidFill>
          <a:ln/>
        </p:spPr>
      </p:sp>
      <p:sp>
        <p:nvSpPr>
          <p:cNvPr id="17" name="Text 14"/>
          <p:cNvSpPr txBox="1"/>
          <p:nvPr/>
        </p:nvSpPr>
        <p:spPr>
          <a:xfrm>
            <a:off x="6460236"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8" name="Text 15"/>
          <p:cNvSpPr txBox="1"/>
          <p:nvPr/>
        </p:nvSpPr>
        <p:spPr>
          <a:xfrm>
            <a:off x="6460236" y="2697480"/>
            <a:ext cx="2109978" cy="640080"/>
          </a:xfrm>
          <a:prstGeom prst="rect">
            <a:avLst/>
          </a:prstGeom>
          <a:noFill/>
          <a:ln/>
        </p:spPr>
        <p:txBody>
          <a:bodyPr wrap="square" lIns="0" tIns="0" rIns="0" bIns="0" rtlCol="0" anchor="t"/>
          <a:lstStyle/>
          <a:p>
            <a:pPr indent="0" marL="0">
              <a:buNone/>
            </a:pPr>
            <a:r>
              <a:rPr lang="en-US" sz="1800" b="1" dirty="0">
                <a:solidFill>
                  <a:schemeClr val="tx1"/>
                </a:solidFill>
              </a:rPr>
              <a:t>Otsu threshold</a:t>
            </a:r>
            <a:endParaRPr lang="en-US" sz="1800" dirty="0"/>
          </a:p>
        </p:txBody>
      </p:sp>
      <p:sp>
        <p:nvSpPr>
          <p:cNvPr id="19" name="Text 16"/>
          <p:cNvSpPr txBox="1"/>
          <p:nvPr/>
        </p:nvSpPr>
        <p:spPr>
          <a:xfrm>
            <a:off x="6460236" y="3383280"/>
            <a:ext cx="2109978" cy="1280160"/>
          </a:xfrm>
          <a:prstGeom prst="rect">
            <a:avLst/>
          </a:prstGeom>
          <a:noFill/>
          <a:ln/>
        </p:spPr>
        <p:txBody>
          <a:bodyPr wrap="square" lIns="0" tIns="0" rIns="0" bIns="0" rtlCol="0" anchor="t"/>
          <a:lstStyle/>
          <a:p>
            <a:pPr indent="0" marL="0">
              <a:buNone/>
            </a:pPr>
            <a:r>
              <a:rPr lang="en-US" sz="1500" dirty="0">
                <a:solidFill>
                  <a:schemeClr val="tx1"/>
                </a:solidFill>
              </a:rPr>
              <a:t>The ink and paper cut-off is chosen from the histogram.</a:t>
            </a:r>
            <a:endParaRPr lang="en-US" sz="1500" dirty="0"/>
          </a:p>
        </p:txBody>
      </p:sp>
      <p:sp>
        <p:nvSpPr>
          <p:cNvPr id="20" name="Step 4"/>
          <p:cNvSpPr/>
          <p:nvPr/>
        </p:nvSpPr>
        <p:spPr>
          <a:xfrm>
            <a:off x="9073134" y="1828800"/>
            <a:ext cx="2567178" cy="2926080"/>
          </a:xfrm>
          <a:prstGeom prst="roundRect">
            <a:avLst>
              <a:gd name="adj" fmla="val 2850"/>
            </a:avLst>
          </a:prstGeom>
          <a:solidFill>
            <a:schemeClr val="bg2"/>
          </a:solidFill>
          <a:ln/>
        </p:spPr>
      </p:sp>
      <p:sp>
        <p:nvSpPr>
          <p:cNvPr id="21" name="Number 4"/>
          <p:cNvSpPr/>
          <p:nvPr/>
        </p:nvSpPr>
        <p:spPr>
          <a:xfrm>
            <a:off x="9301734" y="2057400"/>
            <a:ext cx="457200" cy="457200"/>
          </a:xfrm>
          <a:prstGeom prst="ellipse">
            <a:avLst/>
          </a:prstGeom>
          <a:solidFill>
            <a:schemeClr val="accent1"/>
          </a:solidFill>
          <a:ln/>
        </p:spPr>
      </p:sp>
      <p:sp>
        <p:nvSpPr>
          <p:cNvPr id="22" name="Text 19"/>
          <p:cNvSpPr txBox="1"/>
          <p:nvPr/>
        </p:nvSpPr>
        <p:spPr>
          <a:xfrm>
            <a:off x="9301734" y="20574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3" name="Text 20"/>
          <p:cNvSpPr txBox="1"/>
          <p:nvPr/>
        </p:nvSpPr>
        <p:spPr>
          <a:xfrm>
            <a:off x="9301734" y="2697480"/>
            <a:ext cx="2109978" cy="640080"/>
          </a:xfrm>
          <a:prstGeom prst="rect">
            <a:avLst/>
          </a:prstGeom>
          <a:noFill/>
          <a:ln/>
        </p:spPr>
        <p:txBody>
          <a:bodyPr wrap="square" lIns="0" tIns="0" rIns="0" bIns="0" rtlCol="0" anchor="t"/>
          <a:lstStyle/>
          <a:p>
            <a:pPr indent="0" marL="0">
              <a:buNone/>
            </a:pPr>
            <a:r>
              <a:rPr lang="en-US" sz="1800" b="1" dirty="0">
                <a:solidFill>
                  <a:schemeClr val="tx1"/>
                </a:solidFill>
              </a:rPr>
              <a:t>Remove speckle</a:t>
            </a:r>
            <a:endParaRPr lang="en-US" sz="1800" dirty="0"/>
          </a:p>
        </p:txBody>
      </p:sp>
      <p:sp>
        <p:nvSpPr>
          <p:cNvPr id="24" name="Text 21"/>
          <p:cNvSpPr txBox="1"/>
          <p:nvPr/>
        </p:nvSpPr>
        <p:spPr>
          <a:xfrm>
            <a:off x="9301734" y="3383280"/>
            <a:ext cx="2109978" cy="1280160"/>
          </a:xfrm>
          <a:prstGeom prst="rect">
            <a:avLst/>
          </a:prstGeom>
          <a:noFill/>
          <a:ln/>
        </p:spPr>
        <p:txBody>
          <a:bodyPr wrap="square" lIns="0" tIns="0" rIns="0" bIns="0" rtlCol="0" anchor="t"/>
          <a:lstStyle/>
          <a:p>
            <a:pPr indent="0" marL="0">
              <a:buNone/>
            </a:pPr>
            <a:r>
              <a:rPr lang="en-US" sz="1500" dirty="0">
                <a:solidFill>
                  <a:schemeClr val="tx1"/>
                </a:solidFill>
              </a:rPr>
              <a:t>A small morphological opening cleans up noise.</a:t>
            </a:r>
            <a:endParaRPr lang="en-US" sz="1500" dirty="0"/>
          </a:p>
        </p:txBody>
      </p:sp>
      <p:sp>
        <p:nvSpPr>
          <p:cNvPr id="25" name="Callout"/>
          <p:cNvSpPr/>
          <p:nvPr/>
        </p:nvSpPr>
        <p:spPr>
          <a:xfrm>
            <a:off x="548640" y="5074920"/>
            <a:ext cx="11091672" cy="868680"/>
          </a:xfrm>
          <a:prstGeom prst="roundRect">
            <a:avLst>
              <a:gd name="adj" fmla="val 8421"/>
            </a:avLst>
          </a:prstGeom>
          <a:solidFill>
            <a:schemeClr val="accent1">
              <a:alpha val="10000"/>
            </a:schemeClr>
          </a:solidFill>
          <a:ln/>
        </p:spPr>
      </p:sp>
      <p:sp>
        <p:nvSpPr>
          <p:cNvPr id="26" name="Text 23"/>
          <p:cNvSpPr txBox="1"/>
          <p:nvPr/>
        </p:nvSpPr>
        <p:spPr>
          <a:xfrm>
            <a:off x="822960" y="5074920"/>
            <a:ext cx="10543032" cy="868680"/>
          </a:xfrm>
          <a:prstGeom prst="rect">
            <a:avLst/>
          </a:prstGeom>
          <a:noFill/>
          <a:ln/>
        </p:spPr>
        <p:txBody>
          <a:bodyPr wrap="square" lIns="0" tIns="0" rIns="0" bIns="0" rtlCol="0" anchor="ctr"/>
          <a:lstStyle/>
          <a:p>
            <a:pPr indent="0" marL="0">
              <a:buNone/>
            </a:pPr>
            <a:r>
              <a:rPr lang="en-US" sz="1600" b="1" dirty="0">
                <a:solidFill>
                  <a:schemeClr val="tx1"/>
                </a:solidFill>
              </a:rPr>
              <a:t>Adaptive by design. </a:t>
            </a:r>
            <a:pPr indent="0" marL="0">
              <a:buNone/>
            </a:pPr>
            <a:r>
              <a:rPr lang="en-US" sz="1600" dirty="0">
                <a:solidFill>
                  <a:schemeClr val="tx1"/>
                </a:solidFill>
              </a:rPr>
              <a:t>The distance transform also gives the median pen width, so the tracer adapts to thick and thin lines.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STROKES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Follow the pen, do not guess the nearest state</a:t>
            </a:r>
            <a:endParaRPr lang="en-US" sz="3400" dirty="0"/>
          </a:p>
        </p:txBody>
      </p:sp>
      <p:sp>
        <p:nvSpPr>
          <p:cNvPr id="5" name="Diagram panel"/>
          <p:cNvSpPr/>
          <p:nvPr/>
        </p:nvSpPr>
        <p:spPr>
          <a:xfrm>
            <a:off x="457200" y="1737360"/>
            <a:ext cx="5274259" cy="3364992"/>
          </a:xfrm>
          <a:prstGeom prst="roundRect">
            <a:avLst>
              <a:gd name="adj" fmla="val 2174"/>
            </a:avLst>
          </a:prstGeom>
          <a:solidFill>
            <a:schemeClr val="bg2"/>
          </a:solidFill>
          <a:ln/>
        </p:spPr>
      </p:sp>
      <p:sp>
        <p:nvSpPr>
          <p:cNvPr id="6" name="Edge C to D"/>
          <p:cNvSpPr/>
          <p:nvPr/>
        </p:nvSpPr>
        <p:spPr>
          <a:xfrm flipV="1">
            <a:off x="1423721" y="2727747"/>
            <a:ext cx="3102559" cy="1503548"/>
          </a:xfrm>
          <a:prstGeom prst="line">
            <a:avLst/>
          </a:prstGeom>
          <a:noFill/>
          <a:ln w="44450">
            <a:solidFill>
              <a:srgbClr val="898781"/>
            </a:solidFill>
            <a:prstDash val="solid"/>
            <a:tailEnd type="triangle"/>
          </a:ln>
        </p:spPr>
      </p:sp>
      <p:sp>
        <p:nvSpPr>
          <p:cNvPr id="7" name="Edge A to B"/>
          <p:cNvSpPr/>
          <p:nvPr/>
        </p:nvSpPr>
        <p:spPr>
          <a:xfrm>
            <a:off x="1423721" y="2608417"/>
            <a:ext cx="3102559" cy="1503548"/>
          </a:xfrm>
          <a:prstGeom prst="line">
            <a:avLst/>
          </a:prstGeom>
          <a:noFill/>
          <a:ln w="63500">
            <a:solidFill>
              <a:schemeClr val="accent1"/>
            </a:solidFill>
            <a:prstDash val="solid"/>
            <a:tailEnd type="triangle"/>
          </a:ln>
        </p:spPr>
      </p:sp>
      <p:sp>
        <p:nvSpPr>
          <p:cNvPr id="8" name="Crossing ring"/>
          <p:cNvSpPr/>
          <p:nvPr/>
        </p:nvSpPr>
        <p:spPr>
          <a:xfrm>
            <a:off x="2998866" y="3324393"/>
            <a:ext cx="190927" cy="190927"/>
          </a:xfrm>
          <a:prstGeom prst="ellipse">
            <a:avLst/>
          </a:prstGeom>
          <a:ln w="38100">
            <a:solidFill>
              <a:schemeClr val="accent2"/>
            </a:solidFill>
            <a:prstDash val="solid"/>
          </a:ln>
        </p:spPr>
      </p:sp>
      <p:sp>
        <p:nvSpPr>
          <p:cNvPr id="9" name="State A"/>
          <p:cNvSpPr/>
          <p:nvPr/>
        </p:nvSpPr>
        <p:spPr>
          <a:xfrm>
            <a:off x="755477" y="2035637"/>
            <a:ext cx="700065" cy="700065"/>
          </a:xfrm>
          <a:prstGeom prst="ellipse">
            <a:avLst/>
          </a:prstGeom>
          <a:solidFill>
            <a:schemeClr val="bg1"/>
          </a:solidFill>
          <a:ln w="25400">
            <a:solidFill>
              <a:schemeClr val="tx1"/>
            </a:solidFill>
            <a:prstDash val="solid"/>
          </a:ln>
        </p:spPr>
      </p:sp>
      <p:sp>
        <p:nvSpPr>
          <p:cNvPr id="10" name="Text 7"/>
          <p:cNvSpPr txBox="1"/>
          <p:nvPr/>
        </p:nvSpPr>
        <p:spPr>
          <a:xfrm>
            <a:off x="755477" y="2035637"/>
            <a:ext cx="700065" cy="700065"/>
          </a:xfrm>
          <a:prstGeom prst="rect">
            <a:avLst/>
          </a:prstGeom>
          <a:noFill/>
          <a:ln/>
        </p:spPr>
        <p:txBody>
          <a:bodyPr wrap="square" lIns="0" tIns="0" rIns="0" bIns="0" rtlCol="0" anchor="ctr"/>
          <a:lstStyle/>
          <a:p>
            <a:pPr algn="ctr" indent="0" marL="0">
              <a:buNone/>
            </a:pPr>
            <a:r>
              <a:rPr lang="en-US" sz="2000" b="1" dirty="0">
                <a:solidFill>
                  <a:schemeClr val="tx1"/>
                </a:solidFill>
              </a:rPr>
              <a:t>A</a:t>
            </a:r>
            <a:endParaRPr lang="en-US" sz="2000" dirty="0"/>
          </a:p>
        </p:txBody>
      </p:sp>
      <p:sp>
        <p:nvSpPr>
          <p:cNvPr id="11" name="State B"/>
          <p:cNvSpPr/>
          <p:nvPr/>
        </p:nvSpPr>
        <p:spPr>
          <a:xfrm>
            <a:off x="4733117" y="4104010"/>
            <a:ext cx="700065" cy="700065"/>
          </a:xfrm>
          <a:prstGeom prst="ellipse">
            <a:avLst/>
          </a:prstGeom>
          <a:solidFill>
            <a:schemeClr val="bg1"/>
          </a:solidFill>
          <a:ln w="25400">
            <a:solidFill>
              <a:schemeClr val="tx1"/>
            </a:solidFill>
            <a:prstDash val="solid"/>
          </a:ln>
        </p:spPr>
      </p:sp>
      <p:sp>
        <p:nvSpPr>
          <p:cNvPr id="12" name="Text 9"/>
          <p:cNvSpPr txBox="1"/>
          <p:nvPr/>
        </p:nvSpPr>
        <p:spPr>
          <a:xfrm>
            <a:off x="4733117" y="4104010"/>
            <a:ext cx="700065" cy="700065"/>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13" name="State C"/>
          <p:cNvSpPr/>
          <p:nvPr/>
        </p:nvSpPr>
        <p:spPr>
          <a:xfrm>
            <a:off x="755477" y="4104010"/>
            <a:ext cx="700065" cy="700065"/>
          </a:xfrm>
          <a:prstGeom prst="ellipse">
            <a:avLst/>
          </a:prstGeom>
          <a:solidFill>
            <a:schemeClr val="bg1"/>
          </a:solidFill>
          <a:ln w="25400">
            <a:solidFill>
              <a:schemeClr val="tx1"/>
            </a:solidFill>
            <a:prstDash val="solid"/>
          </a:ln>
        </p:spPr>
      </p:sp>
      <p:sp>
        <p:nvSpPr>
          <p:cNvPr id="14" name="Text 11"/>
          <p:cNvSpPr txBox="1"/>
          <p:nvPr/>
        </p:nvSpPr>
        <p:spPr>
          <a:xfrm>
            <a:off x="755477" y="4104010"/>
            <a:ext cx="700065" cy="700065"/>
          </a:xfrm>
          <a:prstGeom prst="rect">
            <a:avLst/>
          </a:prstGeom>
          <a:noFill/>
          <a:ln/>
        </p:spPr>
        <p:txBody>
          <a:bodyPr wrap="square" lIns="0" tIns="0" rIns="0" bIns="0" rtlCol="0" anchor="ctr"/>
          <a:lstStyle/>
          <a:p>
            <a:pPr algn="ctr" indent="0" marL="0">
              <a:buNone/>
            </a:pPr>
            <a:r>
              <a:rPr lang="en-US" sz="2000" b="1" dirty="0">
                <a:solidFill>
                  <a:schemeClr val="tx1"/>
                </a:solidFill>
              </a:rPr>
              <a:t>C</a:t>
            </a:r>
            <a:endParaRPr lang="en-US" sz="2000" dirty="0"/>
          </a:p>
        </p:txBody>
      </p:sp>
      <p:sp>
        <p:nvSpPr>
          <p:cNvPr id="15" name="State D"/>
          <p:cNvSpPr/>
          <p:nvPr/>
        </p:nvSpPr>
        <p:spPr>
          <a:xfrm>
            <a:off x="4733117" y="2035637"/>
            <a:ext cx="700065" cy="700065"/>
          </a:xfrm>
          <a:prstGeom prst="ellipse">
            <a:avLst/>
          </a:prstGeom>
          <a:solidFill>
            <a:schemeClr val="bg1"/>
          </a:solidFill>
          <a:ln w="25400">
            <a:solidFill>
              <a:schemeClr val="tx1"/>
            </a:solidFill>
            <a:prstDash val="solid"/>
          </a:ln>
        </p:spPr>
      </p:sp>
      <p:sp>
        <p:nvSpPr>
          <p:cNvPr id="16" name="Text 13"/>
          <p:cNvSpPr txBox="1"/>
          <p:nvPr/>
        </p:nvSpPr>
        <p:spPr>
          <a:xfrm>
            <a:off x="4733117" y="2035637"/>
            <a:ext cx="700065" cy="700065"/>
          </a:xfrm>
          <a:prstGeom prst="rect">
            <a:avLst/>
          </a:prstGeom>
          <a:noFill/>
          <a:ln/>
        </p:spPr>
        <p:txBody>
          <a:bodyPr wrap="square" lIns="0" tIns="0" rIns="0" bIns="0" rtlCol="0" anchor="ctr"/>
          <a:lstStyle/>
          <a:p>
            <a:pPr algn="ctr" indent="0" marL="0">
              <a:buNone/>
            </a:pPr>
            <a:r>
              <a:rPr lang="en-US" sz="2000" b="1" dirty="0">
                <a:solidFill>
                  <a:schemeClr val="tx1"/>
                </a:solidFill>
              </a:rPr>
              <a:t>D</a:t>
            </a:r>
            <a:endParaRPr lang="en-US" sz="2000" dirty="0"/>
          </a:p>
        </p:txBody>
      </p:sp>
      <p:sp>
        <p:nvSpPr>
          <p:cNvPr id="17" name="Text 14"/>
          <p:cNvSpPr txBox="1"/>
          <p:nvPr/>
        </p:nvSpPr>
        <p:spPr>
          <a:xfrm>
            <a:off x="548640" y="5166360"/>
            <a:ext cx="5212080" cy="822960"/>
          </a:xfrm>
          <a:prstGeom prst="rect">
            <a:avLst/>
          </a:prstGeom>
          <a:noFill/>
          <a:ln/>
        </p:spPr>
        <p:txBody>
          <a:bodyPr wrap="square" lIns="0" tIns="0" rIns="0" bIns="0" rtlCol="0" anchor="t"/>
          <a:lstStyle/>
          <a:p>
            <a:pPr indent="0" marL="0">
              <a:buNone/>
            </a:pPr>
            <a:r>
              <a:rPr lang="en-US" sz="1400" dirty="0">
                <a:solidFill>
                  <a:schemeClr val="tx2"/>
                </a:solidFill>
              </a:rPr>
              <a:t>A to B and C to D cross at the orange ring. The tracer keeps its heading, so each edge stays whole.</a:t>
            </a:r>
            <a:endParaRPr lang="en-US" sz="1400" dirty="0"/>
          </a:p>
        </p:txBody>
      </p:sp>
      <p:sp>
        <p:nvSpPr>
          <p:cNvPr id="18" name="Text 15"/>
          <p:cNvSpPr txBox="1"/>
          <p:nvPr/>
        </p:nvSpPr>
        <p:spPr>
          <a:xfrm>
            <a:off x="6126480" y="1828800"/>
            <a:ext cx="5513832" cy="329184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600" b="1" dirty="0">
                <a:solidFill>
                  <a:schemeClr val="tx1"/>
                </a:solidFill>
              </a:rPr>
              <a:t>Regions.</a:t>
            </a:r>
            <a:pPr indent="0" marL="0">
              <a:spcAft>
                <a:spcPts val="1200"/>
              </a:spcAft>
              <a:buNone/>
            </a:pPr>
            <a:r>
              <a:rPr lang="en-US" sz="1600" dirty="0">
                <a:solidFill>
                  <a:schemeClr val="tx1"/>
                </a:solidFill>
              </a:rPr>
              <a:t> Remove each state from the mask, so arrows become free strokes.</a:t>
            </a:r>
            <a:endParaRPr lang="en-US" sz="1600" dirty="0"/>
          </a:p>
          <a:p>
            <a:pPr marL="342900" indent="-342900">
              <a:spcAft>
                <a:spcPts val="1200"/>
              </a:spcAft>
              <a:buSzPct val="100000"/>
              <a:buFont typeface="+mj-lt"/>
              <a:buAutoNum type="arabicPeriod" startAt="1"/>
            </a:pPr>
            <a:r>
              <a:rPr lang="en-US" sz="1600" b="1" dirty="0">
                <a:solidFill>
                  <a:schemeClr val="tx1"/>
                </a:solidFill>
              </a:rPr>
              <a:t>Ports.</a:t>
            </a:r>
            <a:pPr indent="0" marL="0">
              <a:spcAft>
                <a:spcPts val="1200"/>
              </a:spcAft>
              <a:buNone/>
            </a:pPr>
            <a:r>
              <a:rPr lang="en-US" sz="1600" dirty="0">
                <a:solidFill>
                  <a:schemeClr val="tx1"/>
                </a:solidFill>
              </a:rPr>
              <a:t> A port is where ink touches a thin ring around a state.</a:t>
            </a:r>
            <a:endParaRPr lang="en-US" sz="1600" dirty="0"/>
          </a:p>
          <a:p>
            <a:pPr marL="342900" indent="-342900">
              <a:spcAft>
                <a:spcPts val="1200"/>
              </a:spcAft>
              <a:buSzPct val="100000"/>
              <a:buFont typeface="+mj-lt"/>
              <a:buAutoNum type="arabicPeriod" startAt="1"/>
            </a:pPr>
            <a:r>
              <a:rPr lang="en-US" sz="1600" b="1" dirty="0">
                <a:solidFill>
                  <a:schemeClr val="tx1"/>
                </a:solidFill>
              </a:rPr>
              <a:t>Trace.</a:t>
            </a:r>
            <a:pPr indent="0" marL="0">
              <a:spcAft>
                <a:spcPts val="1200"/>
              </a:spcAft>
              <a:buNone/>
            </a:pPr>
            <a:r>
              <a:rPr lang="en-US" sz="1600" dirty="0">
                <a:solidFill>
                  <a:schemeClr val="tx1"/>
                </a:solidFill>
              </a:rPr>
              <a:t> Walk the stroke in 2 px steps. Turning is penalised, and gaps up to 14 px are bridged.</a:t>
            </a:r>
            <a:endParaRPr lang="en-US" sz="1600" dirty="0"/>
          </a:p>
          <a:p>
            <a:pPr marL="342900" indent="-342900">
              <a:spcAft>
                <a:spcPts val="1200"/>
              </a:spcAft>
              <a:buSzPct val="100000"/>
              <a:buFont typeface="+mj-lt"/>
              <a:buAutoNum type="arabicPeriod" startAt="1"/>
            </a:pPr>
            <a:r>
              <a:rPr lang="en-US" sz="1600" b="1" dirty="0">
                <a:solidFill>
                  <a:schemeClr val="tx1"/>
                </a:solidFill>
              </a:rPr>
              <a:t>Stop.</a:t>
            </a:r>
            <a:pPr indent="0" marL="0">
              <a:spcAft>
                <a:spcPts val="1200"/>
              </a:spcAft>
              <a:buNone/>
            </a:pPr>
            <a:r>
              <a:rPr lang="en-US" sz="1600" dirty="0">
                <a:solidFill>
                  <a:schemeClr val="tx1"/>
                </a:solidFill>
              </a:rPr>
              <a:t> Entering a state is an edge, returning to its own state is a self-loop, no ink is a free end.</a:t>
            </a:r>
            <a:endParaRPr lang="en-US" sz="1600" dirty="0"/>
          </a:p>
        </p:txBody>
      </p:sp>
      <p:sp>
        <p:nvSpPr>
          <p:cNvPr id="19" name="Callout"/>
          <p:cNvSpPr/>
          <p:nvPr/>
        </p:nvSpPr>
        <p:spPr>
          <a:xfrm>
            <a:off x="6126480" y="5166360"/>
            <a:ext cx="5513832" cy="822960"/>
          </a:xfrm>
          <a:prstGeom prst="roundRect">
            <a:avLst>
              <a:gd name="adj" fmla="val 8889"/>
            </a:avLst>
          </a:prstGeom>
          <a:solidFill>
            <a:schemeClr val="accent1">
              <a:alpha val="10000"/>
            </a:schemeClr>
          </a:solidFill>
          <a:ln/>
        </p:spPr>
      </p:sp>
      <p:sp>
        <p:nvSpPr>
          <p:cNvPr id="20" name="Text 17"/>
          <p:cNvSpPr txBox="1"/>
          <p:nvPr/>
        </p:nvSpPr>
        <p:spPr>
          <a:xfrm>
            <a:off x="6400800" y="5166360"/>
            <a:ext cx="4965192" cy="822960"/>
          </a:xfrm>
          <a:prstGeom prst="rect">
            <a:avLst/>
          </a:prstGeom>
          <a:noFill/>
          <a:ln/>
        </p:spPr>
        <p:txBody>
          <a:bodyPr wrap="square" lIns="0" tIns="0" rIns="0" bIns="0" rtlCol="0" anchor="ctr"/>
          <a:lstStyle/>
          <a:p>
            <a:pPr indent="0" marL="0">
              <a:buNone/>
            </a:pPr>
            <a:r>
              <a:rPr lang="en-US" sz="1600" b="1" dirty="0">
                <a:solidFill>
                  <a:schemeClr val="tx1"/>
                </a:solidFill>
              </a:rPr>
              <a:t>Cross-checked. </a:t>
            </a:r>
            <a:pPr indent="0" marL="0">
              <a:buNone/>
            </a:pPr>
            <a:r>
              <a:rPr lang="en-US" sz="1600" dirty="0">
                <a:solidFill>
                  <a:schemeClr val="tx1"/>
                </a:solidFill>
              </a:rPr>
              <a:t>Every arrow is traced from both ends and the traces are compared.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MEANING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The arrowhead is the evidence for direction</a:t>
            </a:r>
            <a:endParaRPr lang="en-US" sz="3400" dirty="0"/>
          </a:p>
        </p:txBody>
      </p:sp>
      <p:sp>
        <p:nvSpPr>
          <p:cNvPr id="5" name="Stat: Plain end of the shaft"/>
          <p:cNvSpPr/>
          <p:nvPr/>
        </p:nvSpPr>
        <p:spPr>
          <a:xfrm>
            <a:off x="548640" y="1828800"/>
            <a:ext cx="4206240" cy="1965960"/>
          </a:xfrm>
          <a:prstGeom prst="roundRect">
            <a:avLst>
              <a:gd name="adj" fmla="val 3721"/>
            </a:avLst>
          </a:prstGeom>
          <a:solidFill>
            <a:schemeClr val="bg2"/>
          </a:solidFill>
          <a:ln/>
        </p:spPr>
      </p:sp>
      <p:sp>
        <p:nvSpPr>
          <p:cNvPr id="6" name="Text 3"/>
          <p:cNvSpPr txBox="1"/>
          <p:nvPr/>
        </p:nvSpPr>
        <p:spPr>
          <a:xfrm>
            <a:off x="777240" y="2011680"/>
            <a:ext cx="3749040" cy="274320"/>
          </a:xfrm>
          <a:prstGeom prst="rect">
            <a:avLst/>
          </a:prstGeom>
          <a:noFill/>
          <a:ln/>
        </p:spPr>
        <p:txBody>
          <a:bodyPr wrap="square" lIns="0" tIns="0" rIns="0" bIns="0" rtlCol="0" anchor="t"/>
          <a:lstStyle/>
          <a:p>
            <a:pPr indent="0" marL="0">
              <a:buNone/>
            </a:pPr>
            <a:r>
              <a:rPr lang="en-US" sz="1400" b="1" dirty="0">
                <a:solidFill>
                  <a:schemeClr val="tx2"/>
                </a:solidFill>
              </a:rPr>
              <a:t>Plain end of the shaft</a:t>
            </a:r>
            <a:endParaRPr lang="en-US" sz="1400" dirty="0"/>
          </a:p>
        </p:txBody>
      </p:sp>
      <p:sp>
        <p:nvSpPr>
          <p:cNvPr id="7" name="Text 4"/>
          <p:cNvSpPr txBox="1"/>
          <p:nvPr/>
        </p:nvSpPr>
        <p:spPr>
          <a:xfrm>
            <a:off x="777240" y="2331720"/>
            <a:ext cx="3749040" cy="822960"/>
          </a:xfrm>
          <a:prstGeom prst="rect">
            <a:avLst/>
          </a:prstGeom>
          <a:noFill/>
          <a:ln/>
        </p:spPr>
        <p:txBody>
          <a:bodyPr wrap="square" lIns="0" tIns="0" rIns="0" bIns="0" rtlCol="0" anchor="ctr"/>
          <a:lstStyle/>
          <a:p>
            <a:pPr indent="0" marL="0">
              <a:buNone/>
            </a:pPr>
            <a:r>
              <a:rPr lang="en-US" sz="4800" b="1" dirty="0">
                <a:solidFill>
                  <a:schemeClr val="tx2"/>
                </a:solidFill>
                <a:latin typeface="+mj-lt" pitchFamily="34" charset="0"/>
                <a:ea typeface="+mj-lt" pitchFamily="34" charset="-122"/>
                <a:cs typeface="+mj-lt" pitchFamily="34" charset="-120"/>
              </a:rPr>
              <a:t>1.0</a:t>
            </a:r>
            <a:endParaRPr lang="en-US" sz="4800" dirty="0"/>
          </a:p>
        </p:txBody>
      </p:sp>
      <p:sp>
        <p:nvSpPr>
          <p:cNvPr id="8" name="Text 5"/>
          <p:cNvSpPr txBox="1"/>
          <p:nvPr/>
        </p:nvSpPr>
        <p:spPr>
          <a:xfrm>
            <a:off x="777240" y="3200400"/>
            <a:ext cx="3749040" cy="502920"/>
          </a:xfrm>
          <a:prstGeom prst="rect">
            <a:avLst/>
          </a:prstGeom>
          <a:noFill/>
          <a:ln/>
        </p:spPr>
        <p:txBody>
          <a:bodyPr wrap="square" lIns="0" tIns="0" rIns="0" bIns="0" rtlCol="0" anchor="t"/>
          <a:lstStyle/>
          <a:p>
            <a:pPr indent="0" marL="0">
              <a:buNone/>
            </a:pPr>
            <a:r>
              <a:rPr lang="en-US" sz="1400" dirty="0">
                <a:solidFill>
                  <a:schemeClr val="tx2"/>
                </a:solidFill>
              </a:rPr>
              <a:t>Width ratio, no arrowhead</a:t>
            </a:r>
            <a:endParaRPr lang="en-US" sz="1400" dirty="0"/>
          </a:p>
        </p:txBody>
      </p:sp>
      <p:sp>
        <p:nvSpPr>
          <p:cNvPr id="9" name="Stat: At an arrowhead"/>
          <p:cNvSpPr/>
          <p:nvPr/>
        </p:nvSpPr>
        <p:spPr>
          <a:xfrm>
            <a:off x="548640" y="4023360"/>
            <a:ext cx="4206240" cy="1965960"/>
          </a:xfrm>
          <a:prstGeom prst="roundRect">
            <a:avLst>
              <a:gd name="adj" fmla="val 3721"/>
            </a:avLst>
          </a:prstGeom>
          <a:solidFill>
            <a:schemeClr val="accent1">
              <a:alpha val="12000"/>
            </a:schemeClr>
          </a:solidFill>
          <a:ln/>
        </p:spPr>
      </p:sp>
      <p:sp>
        <p:nvSpPr>
          <p:cNvPr id="10" name="Text 7"/>
          <p:cNvSpPr txBox="1"/>
          <p:nvPr/>
        </p:nvSpPr>
        <p:spPr>
          <a:xfrm>
            <a:off x="777240" y="4206240"/>
            <a:ext cx="3749040" cy="274320"/>
          </a:xfrm>
          <a:prstGeom prst="rect">
            <a:avLst/>
          </a:prstGeom>
          <a:noFill/>
          <a:ln/>
        </p:spPr>
        <p:txBody>
          <a:bodyPr wrap="square" lIns="0" tIns="0" rIns="0" bIns="0" rtlCol="0" anchor="t"/>
          <a:lstStyle/>
          <a:p>
            <a:pPr indent="0" marL="0">
              <a:buNone/>
            </a:pPr>
            <a:r>
              <a:rPr lang="en-US" sz="1400" b="1" dirty="0">
                <a:solidFill>
                  <a:schemeClr val="tx2"/>
                </a:solidFill>
              </a:rPr>
              <a:t>At an arrowhead</a:t>
            </a:r>
            <a:endParaRPr lang="en-US" sz="1400" dirty="0"/>
          </a:p>
        </p:txBody>
      </p:sp>
      <p:sp>
        <p:nvSpPr>
          <p:cNvPr id="11" name="Text 8"/>
          <p:cNvSpPr txBox="1"/>
          <p:nvPr/>
        </p:nvSpPr>
        <p:spPr>
          <a:xfrm>
            <a:off x="777240" y="4526280"/>
            <a:ext cx="3749040" cy="822960"/>
          </a:xfrm>
          <a:prstGeom prst="rect">
            <a:avLst/>
          </a:prstGeom>
          <a:noFill/>
          <a:ln/>
        </p:spPr>
        <p:txBody>
          <a:bodyPr wrap="square" lIns="0" tIns="0" rIns="0" bIns="0" rtlCol="0" anchor="ctr"/>
          <a:lstStyle/>
          <a:p>
            <a:pPr indent="0" marL="0">
              <a:buNone/>
            </a:pPr>
            <a:r>
              <a:rPr lang="en-US" sz="4800" b="1" dirty="0">
                <a:solidFill>
                  <a:schemeClr val="accent1"/>
                </a:solidFill>
                <a:latin typeface="+mj-lt" pitchFamily="34" charset="0"/>
                <a:ea typeface="+mj-lt" pitchFamily="34" charset="-122"/>
                <a:cs typeface="+mj-lt" pitchFamily="34" charset="-120"/>
              </a:rPr>
              <a:t>2.2+</a:t>
            </a:r>
            <a:endParaRPr lang="en-US" sz="4800" dirty="0"/>
          </a:p>
        </p:txBody>
      </p:sp>
      <p:sp>
        <p:nvSpPr>
          <p:cNvPr id="12" name="Text 9"/>
          <p:cNvSpPr txBox="1"/>
          <p:nvPr/>
        </p:nvSpPr>
        <p:spPr>
          <a:xfrm>
            <a:off x="777240" y="5394960"/>
            <a:ext cx="3749040" cy="502920"/>
          </a:xfrm>
          <a:prstGeom prst="rect">
            <a:avLst/>
          </a:prstGeom>
          <a:noFill/>
          <a:ln/>
        </p:spPr>
        <p:txBody>
          <a:bodyPr wrap="square" lIns="0" tIns="0" rIns="0" bIns="0" rtlCol="0" anchor="t"/>
          <a:lstStyle/>
          <a:p>
            <a:pPr indent="0" marL="0">
              <a:buNone/>
            </a:pPr>
            <a:r>
              <a:rPr lang="en-US" sz="1400" dirty="0">
                <a:solidFill>
                  <a:schemeClr val="tx2"/>
                </a:solidFill>
              </a:rPr>
              <a:t>Width ratio (the head_ratio threshold)</a:t>
            </a:r>
            <a:endParaRPr lang="en-US" sz="1400" dirty="0"/>
          </a:p>
        </p:txBody>
      </p:sp>
      <p:sp>
        <p:nvSpPr>
          <p:cNvPr id="13" name="Text 10"/>
          <p:cNvSpPr txBox="1"/>
          <p:nvPr/>
        </p:nvSpPr>
        <p:spPr>
          <a:xfrm>
            <a:off x="5212080" y="1874520"/>
            <a:ext cx="6428232" cy="4114800"/>
          </a:xfrm>
          <a:prstGeom prst="rect">
            <a:avLst/>
          </a:prstGeom>
          <a:noFill/>
          <a:ln/>
        </p:spPr>
        <p:txBody>
          <a:bodyPr wrap="square" lIns="0" tIns="0" rIns="0" bIns="0" rtlCol="0" anchor="t"/>
          <a:lstStyle/>
          <a:p>
            <a:pPr marL="342900" indent="-342900">
              <a:spcAft>
                <a:spcPts val="1400"/>
              </a:spcAft>
              <a:buSzPct val="100000"/>
              <a:buChar char="•"/>
            </a:pPr>
            <a:r>
              <a:rPr lang="en-US" sz="1700" b="1" dirty="0">
                <a:solidFill>
                  <a:schemeClr val="tx1"/>
                </a:solidFill>
              </a:rPr>
              <a:t>Primary:</a:t>
            </a:r>
            <a:pPr indent="0" marL="0">
              <a:spcAft>
                <a:spcPts val="1400"/>
              </a:spcAft>
              <a:buNone/>
            </a:pPr>
            <a:r>
              <a:rPr lang="en-US" sz="1700" dirty="0">
                <a:solidFill>
                  <a:schemeClr val="tx1"/>
                </a:solidFill>
              </a:rPr>
              <a:t> a detected arrowhead box at the arrow's own end.</a:t>
            </a:r>
            <a:endParaRPr lang="en-US" sz="1600" dirty="0"/>
          </a:p>
          <a:p>
            <a:pPr marL="342900" indent="-342900">
              <a:spcAft>
                <a:spcPts val="1400"/>
              </a:spcAft>
              <a:buSzPct val="100000"/>
              <a:buChar char="•"/>
            </a:pPr>
            <a:r>
              <a:rPr lang="en-US" sz="1700" b="1" dirty="0">
                <a:solidFill>
                  <a:schemeClr val="tx1"/>
                </a:solidFill>
              </a:rPr>
              <a:t>Fallback:</a:t>
            </a:r>
            <a:pPr indent="0" marL="0">
              <a:spcAft>
                <a:spcPts val="1400"/>
              </a:spcAft>
              <a:buNone/>
            </a:pPr>
            <a:r>
              <a:rPr lang="en-US" sz="1700" dirty="0">
                <a:solidFill>
                  <a:schemeClr val="tx1"/>
                </a:solidFill>
              </a:rPr>
              <a:t> ink cross-section near each end divided by the shaft width. The wider end is the head.</a:t>
            </a:r>
            <a:endParaRPr lang="en-US" sz="1600" dirty="0"/>
          </a:p>
          <a:p>
            <a:pPr marL="342900" indent="-342900">
              <a:spcAft>
                <a:spcPts val="1400"/>
              </a:spcAft>
              <a:buSzPct val="100000"/>
              <a:buChar char="•"/>
            </a:pPr>
            <a:r>
              <a:rPr lang="en-US" sz="1700" b="1" dirty="0">
                <a:solidFill>
                  <a:schemeClr val="tx1"/>
                </a:solidFill>
              </a:rPr>
              <a:t>Exclusive:</a:t>
            </a:r>
            <a:pPr indent="0" marL="0">
              <a:spcAft>
                <a:spcPts val="1400"/>
              </a:spcAft>
              <a:buNone/>
            </a:pPr>
            <a:r>
              <a:rPr lang="en-US" sz="1700" dirty="0">
                <a:solidFill>
                  <a:schemeClr val="tx1"/>
                </a:solidFill>
              </a:rPr>
              <a:t> each arrowhead belongs to one arrow only.</a:t>
            </a:r>
            <a:endParaRPr lang="en-US" sz="1600" dirty="0"/>
          </a:p>
          <a:p>
            <a:pPr marL="342900" indent="-342900">
              <a:spcAft>
                <a:spcPts val="1400"/>
              </a:spcAft>
              <a:buSzPct val="100000"/>
              <a:buChar char="•"/>
            </a:pPr>
            <a:r>
              <a:rPr lang="en-US" sz="1700" b="1" dirty="0">
                <a:solidFill>
                  <a:schemeClr val="tx1"/>
                </a:solidFill>
              </a:rPr>
              <a:t>Weak evidence:</a:t>
            </a:r>
            <a:pPr indent="0" marL="0">
              <a:spcAft>
                <a:spcPts val="1400"/>
              </a:spcAft>
              <a:buNone/>
            </a:pPr>
            <a:r>
              <a:rPr lang="en-US" sz="1700" dirty="0">
                <a:solidFill>
                  <a:schemeClr val="tx1"/>
                </a:solidFill>
              </a:rPr>
              <a:t> direction becomes unknown and both readings are shown.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MEANING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Start and end states, names and labels</a:t>
            </a:r>
            <a:endParaRPr lang="en-US" sz="3400" dirty="0"/>
          </a:p>
        </p:txBody>
      </p:sp>
      <p:sp>
        <p:nvSpPr>
          <p:cNvPr id="5" name="Card: Initial state"/>
          <p:cNvSpPr/>
          <p:nvPr/>
        </p:nvSpPr>
        <p:spPr>
          <a:xfrm>
            <a:off x="548640" y="1828800"/>
            <a:ext cx="5408676" cy="2103120"/>
          </a:xfrm>
          <a:prstGeom prst="roundRect">
            <a:avLst>
              <a:gd name="adj" fmla="val 3478"/>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Initial state</a:t>
            </a:r>
            <a:endParaRPr lang="en-US" sz="1800" dirty="0"/>
          </a:p>
        </p:txBody>
      </p:sp>
      <p:sp>
        <p:nvSpPr>
          <p:cNvPr id="8" name="Text 5"/>
          <p:cNvSpPr txBox="1"/>
          <p:nvPr/>
        </p:nvSpPr>
        <p:spPr>
          <a:xfrm>
            <a:off x="777240" y="2514600"/>
            <a:ext cx="4951476" cy="1280160"/>
          </a:xfrm>
          <a:prstGeom prst="rect">
            <a:avLst/>
          </a:prstGeom>
          <a:noFill/>
          <a:ln/>
        </p:spPr>
        <p:txBody>
          <a:bodyPr wrap="square" lIns="0" tIns="0" rIns="0" bIns="0" rtlCol="0" anchor="t"/>
          <a:lstStyle/>
          <a:p>
            <a:pPr indent="0" marL="0">
              <a:buNone/>
            </a:pPr>
            <a:r>
              <a:rPr lang="en-US" sz="1500" dirty="0">
                <a:solidFill>
                  <a:schemeClr val="tx1"/>
                </a:solidFill>
              </a:rPr>
              <a:t>A free-ended arrow whose head touches a state, or a detected initial-marker box next to it.</a:t>
            </a:r>
            <a:endParaRPr lang="en-US" sz="1600" dirty="0"/>
          </a:p>
        </p:txBody>
      </p:sp>
      <p:sp>
        <p:nvSpPr>
          <p:cNvPr id="9" name="Card: Final state"/>
          <p:cNvSpPr/>
          <p:nvPr/>
        </p:nvSpPr>
        <p:spPr>
          <a:xfrm>
            <a:off x="6231636" y="1828800"/>
            <a:ext cx="5408676" cy="2103120"/>
          </a:xfrm>
          <a:prstGeom prst="roundRect">
            <a:avLst>
              <a:gd name="adj" fmla="val 3478"/>
            </a:avLst>
          </a:prstGeom>
          <a:solidFill>
            <a:schemeClr val="bg2"/>
          </a:solidFill>
          <a:ln/>
        </p:spPr>
      </p:sp>
      <p:sp>
        <p:nvSpPr>
          <p:cNvPr id="10" name="Dot"/>
          <p:cNvSpPr/>
          <p:nvPr/>
        </p:nvSpPr>
        <p:spPr>
          <a:xfrm>
            <a:off x="6460236" y="2103120"/>
            <a:ext cx="146304" cy="146304"/>
          </a:xfrm>
          <a:prstGeom prst="ellipse">
            <a:avLst/>
          </a:prstGeom>
          <a:solidFill>
            <a:schemeClr val="accent1"/>
          </a:solidFill>
          <a:ln/>
        </p:spPr>
      </p:sp>
      <p:sp>
        <p:nvSpPr>
          <p:cNvPr id="11" name="Text 8"/>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Final state</a:t>
            </a:r>
            <a:endParaRPr lang="en-US" sz="1800" dirty="0"/>
          </a:p>
        </p:txBody>
      </p:sp>
      <p:sp>
        <p:nvSpPr>
          <p:cNvPr id="12" name="Text 9"/>
          <p:cNvSpPr txBox="1"/>
          <p:nvPr/>
        </p:nvSpPr>
        <p:spPr>
          <a:xfrm>
            <a:off x="6460236" y="2514600"/>
            <a:ext cx="4951476" cy="1280160"/>
          </a:xfrm>
          <a:prstGeom prst="rect">
            <a:avLst/>
          </a:prstGeom>
          <a:noFill/>
          <a:ln/>
        </p:spPr>
        <p:txBody>
          <a:bodyPr wrap="square" lIns="0" tIns="0" rIns="0" bIns="0" rtlCol="0" anchor="t"/>
          <a:lstStyle/>
          <a:p>
            <a:pPr indent="0" marL="0">
              <a:buNone/>
            </a:pPr>
            <a:r>
              <a:rPr lang="en-US" sz="1500" dirty="0">
                <a:solidFill>
                  <a:schemeClr val="tx1"/>
                </a:solidFill>
              </a:rPr>
              <a:t>The final_state class, or a double ring found by sampling the radial ink profile at 90 angles.</a:t>
            </a:r>
            <a:endParaRPr lang="en-US" sz="1600" dirty="0"/>
          </a:p>
        </p:txBody>
      </p:sp>
      <p:sp>
        <p:nvSpPr>
          <p:cNvPr id="13" name="Card: Reading text"/>
          <p:cNvSpPr/>
          <p:nvPr/>
        </p:nvSpPr>
        <p:spPr>
          <a:xfrm>
            <a:off x="548640" y="4160520"/>
            <a:ext cx="5408676" cy="2103120"/>
          </a:xfrm>
          <a:prstGeom prst="roundRect">
            <a:avLst>
              <a:gd name="adj" fmla="val 3478"/>
            </a:avLst>
          </a:prstGeom>
          <a:solidFill>
            <a:schemeClr val="bg2"/>
          </a:solidFill>
          <a:ln/>
        </p:spPr>
      </p:sp>
      <p:sp>
        <p:nvSpPr>
          <p:cNvPr id="14" name="Dot"/>
          <p:cNvSpPr/>
          <p:nvPr/>
        </p:nvSpPr>
        <p:spPr>
          <a:xfrm>
            <a:off x="777240" y="4434840"/>
            <a:ext cx="146304" cy="146304"/>
          </a:xfrm>
          <a:prstGeom prst="ellipse">
            <a:avLst/>
          </a:prstGeom>
          <a:solidFill>
            <a:schemeClr val="accent1"/>
          </a:solidFill>
          <a:ln/>
        </p:spPr>
      </p:sp>
      <p:sp>
        <p:nvSpPr>
          <p:cNvPr id="15" name="Text 12"/>
          <p:cNvSpPr txBox="1"/>
          <p:nvPr/>
        </p:nvSpPr>
        <p:spPr>
          <a:xfrm>
            <a:off x="1051560" y="4343400"/>
            <a:ext cx="4677156" cy="365760"/>
          </a:xfrm>
          <a:prstGeom prst="rect">
            <a:avLst/>
          </a:prstGeom>
          <a:noFill/>
          <a:ln/>
        </p:spPr>
        <p:txBody>
          <a:bodyPr wrap="square" lIns="0" tIns="0" rIns="0" bIns="0" rtlCol="0" anchor="t"/>
          <a:lstStyle/>
          <a:p>
            <a:pPr indent="0" marL="0">
              <a:buNone/>
            </a:pPr>
            <a:r>
              <a:rPr lang="en-US" sz="1800" b="1" dirty="0">
                <a:solidFill>
                  <a:schemeClr val="tx1"/>
                </a:solidFill>
              </a:rPr>
              <a:t>Reading text</a:t>
            </a:r>
            <a:endParaRPr lang="en-US" sz="1800" dirty="0"/>
          </a:p>
        </p:txBody>
      </p:sp>
      <p:sp>
        <p:nvSpPr>
          <p:cNvPr id="16" name="Text 13"/>
          <p:cNvSpPr txBox="1"/>
          <p:nvPr/>
        </p:nvSpPr>
        <p:spPr>
          <a:xfrm>
            <a:off x="777240" y="4846320"/>
            <a:ext cx="4951476" cy="1280160"/>
          </a:xfrm>
          <a:prstGeom prst="rect">
            <a:avLst/>
          </a:prstGeom>
          <a:noFill/>
          <a:ln/>
        </p:spPr>
        <p:txBody>
          <a:bodyPr wrap="square" lIns="0" tIns="0" rIns="0" bIns="0" rtlCol="0" anchor="t"/>
          <a:lstStyle/>
          <a:p>
            <a:pPr indent="0" marL="0">
              <a:buNone/>
            </a:pPr>
            <a:r>
              <a:rPr lang="en-US" sz="1500" dirty="0">
                <a:solidFill>
                  <a:schemeClr val="tx1"/>
                </a:solidFill>
              </a:rPr>
              <a:t>Tesseract on an upscaled crop with outline fragments removed first. Each label goes to the transition whose traced path is nearest.</a:t>
            </a:r>
            <a:endParaRPr lang="en-US" sz="1600" dirty="0"/>
          </a:p>
        </p:txBody>
      </p:sp>
      <p:sp>
        <p:nvSpPr>
          <p:cNvPr id="17" name="Card: Label meaning"/>
          <p:cNvSpPr/>
          <p:nvPr/>
        </p:nvSpPr>
        <p:spPr>
          <a:xfrm>
            <a:off x="6231636" y="4160520"/>
            <a:ext cx="5408676" cy="2103120"/>
          </a:xfrm>
          <a:prstGeom prst="roundRect">
            <a:avLst>
              <a:gd name="adj" fmla="val 3478"/>
            </a:avLst>
          </a:prstGeom>
          <a:solidFill>
            <a:schemeClr val="bg2"/>
          </a:solidFill>
          <a:ln/>
        </p:spPr>
      </p:sp>
      <p:sp>
        <p:nvSpPr>
          <p:cNvPr id="18" name="Dot"/>
          <p:cNvSpPr/>
          <p:nvPr/>
        </p:nvSpPr>
        <p:spPr>
          <a:xfrm>
            <a:off x="6460236" y="4434840"/>
            <a:ext cx="146304" cy="146304"/>
          </a:xfrm>
          <a:prstGeom prst="ellipse">
            <a:avLst/>
          </a:prstGeom>
          <a:solidFill>
            <a:schemeClr val="accent1"/>
          </a:solidFill>
          <a:ln/>
        </p:spPr>
      </p:sp>
      <p:sp>
        <p:nvSpPr>
          <p:cNvPr id="19" name="Text 16"/>
          <p:cNvSpPr txBox="1"/>
          <p:nvPr/>
        </p:nvSpPr>
        <p:spPr>
          <a:xfrm>
            <a:off x="6734556" y="4343400"/>
            <a:ext cx="4677156" cy="365760"/>
          </a:xfrm>
          <a:prstGeom prst="rect">
            <a:avLst/>
          </a:prstGeom>
          <a:noFill/>
          <a:ln/>
        </p:spPr>
        <p:txBody>
          <a:bodyPr wrap="square" lIns="0" tIns="0" rIns="0" bIns="0" rtlCol="0" anchor="t"/>
          <a:lstStyle/>
          <a:p>
            <a:pPr indent="0" marL="0">
              <a:buNone/>
            </a:pPr>
            <a:r>
              <a:rPr lang="en-US" sz="1800" b="1" dirty="0">
                <a:solidFill>
                  <a:schemeClr val="tx1"/>
                </a:solidFill>
              </a:rPr>
              <a:t>Label meaning</a:t>
            </a:r>
            <a:endParaRPr lang="en-US" sz="1800" dirty="0"/>
          </a:p>
        </p:txBody>
      </p:sp>
      <p:sp>
        <p:nvSpPr>
          <p:cNvPr id="20" name="Text 17"/>
          <p:cNvSpPr txBox="1"/>
          <p:nvPr/>
        </p:nvSpPr>
        <p:spPr>
          <a:xfrm>
            <a:off x="6460236" y="4846320"/>
            <a:ext cx="4951476" cy="1280160"/>
          </a:xfrm>
          <a:prstGeom prst="rect">
            <a:avLst/>
          </a:prstGeom>
          <a:noFill/>
          <a:ln/>
        </p:spPr>
        <p:txBody>
          <a:bodyPr wrap="square" lIns="0" tIns="0" rIns="0" bIns="0" rtlCol="0" anchor="t"/>
          <a:lstStyle/>
          <a:p>
            <a:pPr indent="0" marL="0">
              <a:spcAft>
                <a:spcPts val="600"/>
              </a:spcAft>
              <a:buNone/>
            </a:pPr>
            <a:r>
              <a:rPr lang="en-US" sz="1500" b="1" dirty="0">
                <a:solidFill>
                  <a:schemeClr val="accent1"/>
                </a:solidFill>
                <a:latin typeface="Courier New" pitchFamily="34" charset="0"/>
                <a:ea typeface="Courier New" pitchFamily="34" charset="-122"/>
                <a:cs typeface="Courier New" pitchFamily="34" charset="-120"/>
              </a:rPr>
              <a:t>timeout [retries&lt;3] / retransmit</a:t>
            </a:r>
            <a:endParaRPr lang="en-US" sz="1600" dirty="0"/>
          </a:p>
          <a:p>
            <a:pPr indent="0" marL="0">
              <a:buNone/>
            </a:pPr>
            <a:r>
              <a:rPr lang="en-US" sz="1500" dirty="0">
                <a:solidFill>
                  <a:schemeClr val="tx1"/>
                </a:solidFill>
              </a:rPr>
              <a:t>Parsed into event, guard and action. Words like SYN, ACK or timeout mark a network event. Unknown words stay plain events.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MEANING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When unsure, the system says so</a:t>
            </a:r>
            <a:endParaRPr lang="en-US" sz="3400" dirty="0"/>
          </a:p>
        </p:txBody>
      </p:sp>
      <p:sp>
        <p:nvSpPr>
          <p:cNvPr id="5" name="Card: Unclear direction"/>
          <p:cNvSpPr/>
          <p:nvPr/>
        </p:nvSpPr>
        <p:spPr>
          <a:xfrm>
            <a:off x="548640" y="1828800"/>
            <a:ext cx="3514344" cy="2468880"/>
          </a:xfrm>
          <a:prstGeom prst="roundRect">
            <a:avLst>
              <a:gd name="adj" fmla="val 2963"/>
            </a:avLst>
          </a:prstGeom>
          <a:solidFill>
            <a:schemeClr val="accent4">
              <a:alpha val="20000"/>
            </a:schemeClr>
          </a:solidFill>
          <a:ln/>
        </p:spPr>
      </p:sp>
      <p:sp>
        <p:nvSpPr>
          <p:cNvPr id="6" name="Dot"/>
          <p:cNvSpPr/>
          <p:nvPr/>
        </p:nvSpPr>
        <p:spPr>
          <a:xfrm>
            <a:off x="777240" y="2103120"/>
            <a:ext cx="146304" cy="146304"/>
          </a:xfrm>
          <a:prstGeom prst="ellipse">
            <a:avLst/>
          </a:prstGeom>
          <a:solidFill>
            <a:schemeClr val="accent4"/>
          </a:solidFill>
          <a:ln/>
        </p:spPr>
      </p:sp>
      <p:sp>
        <p:nvSpPr>
          <p:cNvPr id="7" name="Text 4"/>
          <p:cNvSpPr txBox="1"/>
          <p:nvPr/>
        </p:nvSpPr>
        <p:spPr>
          <a:xfrm>
            <a:off x="1051560"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Unclear direction</a:t>
            </a:r>
            <a:endParaRPr lang="en-US" sz="1800" dirty="0"/>
          </a:p>
        </p:txBody>
      </p:sp>
      <p:sp>
        <p:nvSpPr>
          <p:cNvPr id="8" name="Text 5"/>
          <p:cNvSpPr txBox="1"/>
          <p:nvPr/>
        </p:nvSpPr>
        <p:spPr>
          <a:xfrm>
            <a:off x="777240" y="2514600"/>
            <a:ext cx="3057144" cy="1645920"/>
          </a:xfrm>
          <a:prstGeom prst="rect">
            <a:avLst/>
          </a:prstGeom>
          <a:noFill/>
          <a:ln/>
        </p:spPr>
        <p:txBody>
          <a:bodyPr wrap="square" lIns="0" tIns="0" rIns="0" bIns="0" rtlCol="0" anchor="t"/>
          <a:lstStyle/>
          <a:p>
            <a:pPr indent="0" marL="0">
              <a:buNone/>
            </a:pPr>
            <a:r>
              <a:rPr lang="en-US" sz="1600" dirty="0">
                <a:solidFill>
                  <a:schemeClr val="tx1"/>
                </a:solidFill>
              </a:rPr>
              <a:t>Both readings are listed. The edge is drawn amber and dashed.</a:t>
            </a:r>
            <a:endParaRPr lang="en-US" sz="1600" dirty="0"/>
          </a:p>
        </p:txBody>
      </p:sp>
      <p:sp>
        <p:nvSpPr>
          <p:cNvPr id="9" name="Card: Dangling arrow"/>
          <p:cNvSpPr/>
          <p:nvPr/>
        </p:nvSpPr>
        <p:spPr>
          <a:xfrm>
            <a:off x="4337304" y="1828800"/>
            <a:ext cx="3514344" cy="2468880"/>
          </a:xfrm>
          <a:prstGeom prst="roundRect">
            <a:avLst>
              <a:gd name="adj" fmla="val 2963"/>
            </a:avLst>
          </a:prstGeom>
          <a:solidFill>
            <a:schemeClr val="accent4">
              <a:alpha val="20000"/>
            </a:schemeClr>
          </a:solidFill>
          <a:ln/>
        </p:spPr>
      </p:sp>
      <p:sp>
        <p:nvSpPr>
          <p:cNvPr id="10" name="Dot"/>
          <p:cNvSpPr/>
          <p:nvPr/>
        </p:nvSpPr>
        <p:spPr>
          <a:xfrm>
            <a:off x="4565904" y="2103120"/>
            <a:ext cx="146304" cy="146304"/>
          </a:xfrm>
          <a:prstGeom prst="ellipse">
            <a:avLst/>
          </a:prstGeom>
          <a:solidFill>
            <a:schemeClr val="accent4"/>
          </a:solidFill>
          <a:ln/>
        </p:spPr>
      </p:sp>
      <p:sp>
        <p:nvSpPr>
          <p:cNvPr id="11" name="Text 8"/>
          <p:cNvSpPr txBox="1"/>
          <p:nvPr/>
        </p:nvSpPr>
        <p:spPr>
          <a:xfrm>
            <a:off x="4840224"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Dangling arrow</a:t>
            </a:r>
            <a:endParaRPr lang="en-US" sz="1800" dirty="0"/>
          </a:p>
        </p:txBody>
      </p:sp>
      <p:sp>
        <p:nvSpPr>
          <p:cNvPr id="12" name="Text 9"/>
          <p:cNvSpPr txBox="1"/>
          <p:nvPr/>
        </p:nvSpPr>
        <p:spPr>
          <a:xfrm>
            <a:off x="4565904" y="2514600"/>
            <a:ext cx="3057144" cy="1645920"/>
          </a:xfrm>
          <a:prstGeom prst="rect">
            <a:avLst/>
          </a:prstGeom>
          <a:noFill/>
          <a:ln/>
        </p:spPr>
        <p:txBody>
          <a:bodyPr wrap="square" lIns="0" tIns="0" rIns="0" bIns="0" rtlCol="0" anchor="t"/>
          <a:lstStyle/>
          <a:p>
            <a:pPr indent="0" marL="0">
              <a:buNone/>
            </a:pPr>
            <a:r>
              <a:rPr lang="en-US" sz="1600" dirty="0">
                <a:solidFill>
                  <a:schemeClr val="tx1"/>
                </a:solidFill>
              </a:rPr>
              <a:t>No transition is invented. A warning says a state may be missing.</a:t>
            </a:r>
            <a:endParaRPr lang="en-US" sz="1600" dirty="0"/>
          </a:p>
        </p:txBody>
      </p:sp>
      <p:sp>
        <p:nvSpPr>
          <p:cNvPr id="13" name="Card: Low OCR confidence"/>
          <p:cNvSpPr/>
          <p:nvPr/>
        </p:nvSpPr>
        <p:spPr>
          <a:xfrm>
            <a:off x="8125968" y="1828800"/>
            <a:ext cx="3514344" cy="2468880"/>
          </a:xfrm>
          <a:prstGeom prst="roundRect">
            <a:avLst>
              <a:gd name="adj" fmla="val 2963"/>
            </a:avLst>
          </a:prstGeom>
          <a:solidFill>
            <a:schemeClr val="accent4">
              <a:alpha val="20000"/>
            </a:schemeClr>
          </a:solidFill>
          <a:ln/>
        </p:spPr>
      </p:sp>
      <p:sp>
        <p:nvSpPr>
          <p:cNvPr id="14" name="Dot"/>
          <p:cNvSpPr/>
          <p:nvPr/>
        </p:nvSpPr>
        <p:spPr>
          <a:xfrm>
            <a:off x="8354568" y="2103120"/>
            <a:ext cx="146304" cy="146304"/>
          </a:xfrm>
          <a:prstGeom prst="ellipse">
            <a:avLst/>
          </a:prstGeom>
          <a:solidFill>
            <a:schemeClr val="accent4"/>
          </a:solidFill>
          <a:ln/>
        </p:spPr>
      </p:sp>
      <p:sp>
        <p:nvSpPr>
          <p:cNvPr id="15" name="Text 12"/>
          <p:cNvSpPr txBox="1"/>
          <p:nvPr/>
        </p:nvSpPr>
        <p:spPr>
          <a:xfrm>
            <a:off x="8628888"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Low OCR confidence</a:t>
            </a:r>
            <a:endParaRPr lang="en-US" sz="1800" dirty="0"/>
          </a:p>
        </p:txBody>
      </p:sp>
      <p:sp>
        <p:nvSpPr>
          <p:cNvPr id="16" name="Text 13"/>
          <p:cNvSpPr txBox="1"/>
          <p:nvPr/>
        </p:nvSpPr>
        <p:spPr>
          <a:xfrm>
            <a:off x="8354568" y="2514600"/>
            <a:ext cx="3057144" cy="1645920"/>
          </a:xfrm>
          <a:prstGeom prst="rect">
            <a:avLst/>
          </a:prstGeom>
          <a:noFill/>
          <a:ln/>
        </p:spPr>
        <p:txBody>
          <a:bodyPr wrap="square" lIns="0" tIns="0" rIns="0" bIns="0" rtlCol="0" anchor="t"/>
          <a:lstStyle/>
          <a:p>
            <a:pPr indent="0" marL="0">
              <a:buNone/>
            </a:pPr>
            <a:r>
              <a:rPr lang="en-US" sz="1600" dirty="0">
                <a:solidFill>
                  <a:schemeClr val="tx1"/>
                </a:solidFill>
              </a:rPr>
              <a:t>Text under 0.6 confidence is flagged in the Issues tab for review.</a:t>
            </a:r>
            <a:endParaRPr lang="en-US" sz="1600" dirty="0"/>
          </a:p>
        </p:txBody>
      </p:sp>
      <p:sp>
        <p:nvSpPr>
          <p:cNvPr id="17" name="Callout"/>
          <p:cNvSpPr/>
          <p:nvPr/>
        </p:nvSpPr>
        <p:spPr>
          <a:xfrm>
            <a:off x="548640" y="4663440"/>
            <a:ext cx="11091672" cy="1005840"/>
          </a:xfrm>
          <a:prstGeom prst="roundRect">
            <a:avLst>
              <a:gd name="adj" fmla="val 7273"/>
            </a:avLst>
          </a:prstGeom>
          <a:solidFill>
            <a:schemeClr val="accent1">
              <a:alpha val="10000"/>
            </a:schemeClr>
          </a:solidFill>
          <a:ln/>
        </p:spPr>
      </p:sp>
      <p:sp>
        <p:nvSpPr>
          <p:cNvPr id="18" name="Text 15"/>
          <p:cNvSpPr txBox="1"/>
          <p:nvPr/>
        </p:nvSpPr>
        <p:spPr>
          <a:xfrm>
            <a:off x="822960" y="4663440"/>
            <a:ext cx="10543032" cy="1005840"/>
          </a:xfrm>
          <a:prstGeom prst="rect">
            <a:avLst/>
          </a:prstGeom>
          <a:noFill/>
          <a:ln/>
        </p:spPr>
        <p:txBody>
          <a:bodyPr wrap="square" lIns="0" tIns="0" rIns="0" bIns="0" rtlCol="0" anchor="ctr"/>
          <a:lstStyle/>
          <a:p>
            <a:pPr indent="0" marL="0">
              <a:buNone/>
            </a:pPr>
            <a:r>
              <a:rPr lang="en-US" sz="1600" b="1" dirty="0">
                <a:solidFill>
                  <a:schemeClr val="tx1"/>
                </a:solidFill>
              </a:rPr>
              <a:t>Every uncertainty is recorded: </a:t>
            </a:r>
            <a:pPr indent="0" marL="0">
              <a:buNone/>
            </a:pPr>
            <a:r>
              <a:rPr lang="en-US" sz="1600" dirty="0">
                <a:solidFill>
                  <a:schemeClr val="tx1"/>
                </a:solidFill>
              </a:rPr>
              <a:t>the element, the field, the reason and the candidate readings.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CODE</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One canonical JSON is the source of truth</a:t>
            </a:r>
            <a:endParaRPr lang="en-US" sz="3400" dirty="0"/>
          </a:p>
        </p:txBody>
      </p:sp>
      <p:sp>
        <p:nvSpPr>
          <p:cNvPr id="5" name="Code block"/>
          <p:cNvSpPr/>
          <p:nvPr/>
        </p:nvSpPr>
        <p:spPr>
          <a:xfrm>
            <a:off x="548640" y="1828800"/>
            <a:ext cx="5577840" cy="3566160"/>
          </a:xfrm>
          <a:prstGeom prst="roundRect">
            <a:avLst>
              <a:gd name="adj" fmla="val 2051"/>
            </a:avLst>
          </a:prstGeom>
          <a:solidFill>
            <a:srgbClr val="14232F"/>
          </a:solidFill>
          <a:ln/>
        </p:spPr>
      </p:sp>
      <p:sp>
        <p:nvSpPr>
          <p:cNvPr id="6" name="Text 3"/>
          <p:cNvSpPr txBox="1"/>
          <p:nvPr/>
        </p:nvSpPr>
        <p:spPr>
          <a:xfrm>
            <a:off x="822960" y="2103120"/>
            <a:ext cx="5029200" cy="3108960"/>
          </a:xfrm>
          <a:prstGeom prst="rect">
            <a:avLst/>
          </a:prstGeom>
          <a:noFill/>
          <a:ln/>
        </p:spPr>
        <p:txBody>
          <a:bodyPr wrap="square" lIns="0" tIns="0" rIns="0" bIns="0" rtlCol="0" anchor="t"/>
          <a:lstStyle/>
          <a:p>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"id"</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"T3"</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"source"</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"S1"</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"target"</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"S1"</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"direction"</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"loop"</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"event"</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"timeout"</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"guard"</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"retries&lt; 3"</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"action"</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"retransmit"</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a:p>
            <a:pPr indent="0" marL="0">
              <a:lnSpc>
                <a:spcPct val="115000"/>
              </a:lnSpc>
              <a:buNone/>
            </a:pPr>
            <a:r>
              <a:rPr lang="en-US" sz="1500" dirty="0">
                <a:solidFill>
                  <a:srgbClr val="5FD0C9"/>
                </a:solidFill>
                <a:latin typeface="Courier New" pitchFamily="34" charset="0"/>
                <a:ea typeface="Courier New" pitchFamily="34" charset="-122"/>
                <a:cs typeface="Courier New" pitchFamily="34" charset="-120"/>
              </a:rPr>
              <a:t>  "kind"</a:t>
            </a:r>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 </a:t>
            </a:r>
            <a:pPr indent="0" marL="0">
              <a:lnSpc>
                <a:spcPct val="115000"/>
              </a:lnSpc>
              <a:buNone/>
            </a:pPr>
            <a:r>
              <a:rPr lang="en-US" sz="1500" dirty="0">
                <a:solidFill>
                  <a:srgbClr val="F5C16C"/>
                </a:solidFill>
                <a:latin typeface="Courier New" pitchFamily="34" charset="0"/>
                <a:ea typeface="Courier New" pitchFamily="34" charset="-122"/>
                <a:cs typeface="Courier New" pitchFamily="34" charset="-120"/>
              </a:rPr>
              <a:t>"network_event"</a:t>
            </a:r>
            <a:endParaRPr lang="en-US" sz="1500" dirty="0"/>
          </a:p>
          <a:p>
            <a:pPr indent="0" marL="0">
              <a:lnSpc>
                <a:spcPct val="115000"/>
              </a:lnSpc>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7" name="Text 4"/>
          <p:cNvSpPr txBox="1"/>
          <p:nvPr/>
        </p:nvSpPr>
        <p:spPr>
          <a:xfrm>
            <a:off x="548640" y="557784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Abridged: the retry self-loop on SYN_SENT from the TCP demo image.</a:t>
            </a:r>
            <a:endParaRPr lang="en-US" sz="1100" dirty="0"/>
          </a:p>
        </p:txBody>
      </p:sp>
      <p:sp>
        <p:nvSpPr>
          <p:cNvPr id="8" name="Text 5"/>
          <p:cNvSpPr txBox="1"/>
          <p:nvPr/>
        </p:nvSpPr>
        <p:spPr>
          <a:xfrm>
            <a:off x="6492240" y="1828800"/>
            <a:ext cx="512064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Schema 1.1, validated twice</a:t>
            </a:r>
            <a:endParaRPr lang="en-US" sz="2200" dirty="0"/>
          </a:p>
        </p:txBody>
      </p:sp>
      <p:sp>
        <p:nvSpPr>
          <p:cNvPr id="9" name="Text 6"/>
          <p:cNvSpPr txBox="1"/>
          <p:nvPr/>
        </p:nvSpPr>
        <p:spPr>
          <a:xfrm>
            <a:off x="6492240" y="2331720"/>
            <a:ext cx="5120640" cy="320040"/>
          </a:xfrm>
          <a:prstGeom prst="rect">
            <a:avLst/>
          </a:prstGeom>
          <a:noFill/>
          <a:ln/>
        </p:spPr>
        <p:txBody>
          <a:bodyPr wrap="square" lIns="0" tIns="0" rIns="0" bIns="0" rtlCol="0" anchor="t"/>
          <a:lstStyle/>
          <a:p>
            <a:pPr indent="0" marL="0">
              <a:buNone/>
            </a:pPr>
            <a:r>
              <a:rPr lang="en-US" sz="1500" dirty="0">
                <a:solidFill>
                  <a:schemeClr val="tx2"/>
                </a:solidFill>
              </a:rPr>
              <a:t>JSON Schema first, then graph rules:</a:t>
            </a:r>
            <a:endParaRPr lang="en-US" sz="1500" dirty="0"/>
          </a:p>
        </p:txBody>
      </p:sp>
      <p:sp>
        <p:nvSpPr>
          <p:cNvPr id="10" name="Text 7"/>
          <p:cNvSpPr txBox="1"/>
          <p:nvPr/>
        </p:nvSpPr>
        <p:spPr>
          <a:xfrm>
            <a:off x="6492240" y="2743200"/>
            <a:ext cx="512064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No dangling references or duplicate ids</a:t>
            </a:r>
            <a:endParaRPr lang="en-US" sz="1600" dirty="0"/>
          </a:p>
          <a:p>
            <a:pPr marL="342900" indent="-342900">
              <a:spcAft>
                <a:spcPts val="600"/>
              </a:spcAft>
              <a:buSzPct val="100000"/>
              <a:buChar char="•"/>
            </a:pPr>
            <a:r>
              <a:rPr lang="en-US" sz="1600" dirty="0">
                <a:solidFill>
                  <a:schemeClr val="tx1"/>
                </a:solidFill>
              </a:rPr>
              <a:t>At most one initial state</a:t>
            </a:r>
            <a:endParaRPr lang="en-US" sz="1600" dirty="0"/>
          </a:p>
          <a:p>
            <a:pPr marL="342900" indent="-342900">
              <a:spcAft>
                <a:spcPts val="600"/>
              </a:spcAft>
              <a:buSzPct val="100000"/>
              <a:buChar char="•"/>
            </a:pPr>
            <a:r>
              <a:rPr lang="en-US" sz="1600" dirty="0">
                <a:solidFill>
                  <a:schemeClr val="tx1"/>
                </a:solidFill>
              </a:rPr>
              <a:t>No non-deterministic transitions</a:t>
            </a:r>
            <a:endParaRPr lang="en-US" sz="1600" dirty="0"/>
          </a:p>
          <a:p>
            <a:pPr marL="342900" indent="-342900">
              <a:spcAft>
                <a:spcPts val="600"/>
              </a:spcAft>
              <a:buSzPct val="100000"/>
              <a:buChar char="•"/>
            </a:pPr>
            <a:r>
              <a:rPr lang="en-US" sz="1600" dirty="0">
                <a:solidFill>
                  <a:schemeClr val="tx1"/>
                </a:solidFill>
              </a:rPr>
              <a:t>No transitions out of final states</a:t>
            </a:r>
            <a:endParaRPr lang="en-US" sz="1600" dirty="0"/>
          </a:p>
          <a:p>
            <a:pPr marL="342900" indent="-342900">
              <a:spcAft>
                <a:spcPts val="600"/>
              </a:spcAft>
              <a:buSzPct val="100000"/>
              <a:buChar char="•"/>
            </a:pPr>
            <a:r>
              <a:rPr lang="en-US" sz="1600" dirty="0">
                <a:solidFill>
                  <a:schemeClr val="tx1"/>
                </a:solidFill>
              </a:rPr>
              <a:t>No unreachable states</a:t>
            </a:r>
            <a:endParaRPr lang="en-US" sz="1600" dirty="0"/>
          </a:p>
        </p:txBody>
      </p:sp>
      <p:sp>
        <p:nvSpPr>
          <p:cNvPr id="11" name="Text 8"/>
          <p:cNvSpPr txBox="1"/>
          <p:nvPr/>
        </p:nvSpPr>
        <p:spPr>
          <a:xfrm>
            <a:off x="6492240" y="4846320"/>
            <a:ext cx="5120640" cy="640080"/>
          </a:xfrm>
          <a:prstGeom prst="rect">
            <a:avLst/>
          </a:prstGeom>
          <a:noFill/>
          <a:ln/>
        </p:spPr>
        <p:txBody>
          <a:bodyPr wrap="square" lIns="0" tIns="0" rIns="0" bIns="0" rtlCol="0" anchor="t"/>
          <a:lstStyle/>
          <a:p>
            <a:pPr indent="0" marL="0">
              <a:buNone/>
            </a:pPr>
            <a:r>
              <a:rPr lang="en-US" sz="1500" b="1" dirty="0">
                <a:solidFill>
                  <a:schemeClr val="tx1"/>
                </a:solidFill>
              </a:rPr>
              <a:t>The editor, validator, code generator and evaluation all read this one file.</a:t>
            </a:r>
            <a:endParaRPr lang="en-US" sz="15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CODE</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Generated code is checked against an independent reference</a:t>
            </a:r>
            <a:endParaRPr lang="en-US" sz="3400" dirty="0"/>
          </a:p>
        </p:txBody>
      </p:sp>
      <p:sp>
        <p:nvSpPr>
          <p:cNvPr id="5" name="Card: A. Template generator"/>
          <p:cNvSpPr/>
          <p:nvPr/>
        </p:nvSpPr>
        <p:spPr>
          <a:xfrm>
            <a:off x="548640" y="1828800"/>
            <a:ext cx="3514344" cy="2011680"/>
          </a:xfrm>
          <a:prstGeom prst="roundRect">
            <a:avLst>
              <a:gd name="adj" fmla="val 3636"/>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A. Template generator</a:t>
            </a:r>
            <a:endParaRPr lang="en-US" sz="1800" dirty="0"/>
          </a:p>
        </p:txBody>
      </p:sp>
      <p:sp>
        <p:nvSpPr>
          <p:cNvPr id="8" name="Text 5"/>
          <p:cNvSpPr txBox="1"/>
          <p:nvPr/>
        </p:nvSpPr>
        <p:spPr>
          <a:xfrm>
            <a:off x="777240" y="2514600"/>
            <a:ext cx="3057144" cy="1188720"/>
          </a:xfrm>
          <a:prstGeom prst="rect">
            <a:avLst/>
          </a:prstGeom>
          <a:noFill/>
          <a:ln/>
        </p:spPr>
        <p:txBody>
          <a:bodyPr wrap="square" lIns="0" tIns="0" rIns="0" bIns="0" rtlCol="0" anchor="t"/>
          <a:lstStyle/>
          <a:p>
            <a:pPr indent="0" marL="0">
              <a:buNone/>
            </a:pPr>
            <a:r>
              <a:rPr lang="en-US" sz="1500" dirty="0">
                <a:solidFill>
                  <a:schemeClr val="tx1"/>
                </a:solidFill>
              </a:rPr>
              <a:t>A dependency-free StateMachine class. Guards are injected functions. Actions run before the state changes.</a:t>
            </a:r>
            <a:endParaRPr lang="en-US" sz="1600" dirty="0"/>
          </a:p>
        </p:txBody>
      </p:sp>
      <p:sp>
        <p:nvSpPr>
          <p:cNvPr id="9" name="Card: B. Reference model"/>
          <p:cNvSpPr/>
          <p:nvPr/>
        </p:nvSpPr>
        <p:spPr>
          <a:xfrm>
            <a:off x="4337304" y="1828800"/>
            <a:ext cx="3514344" cy="2011680"/>
          </a:xfrm>
          <a:prstGeom prst="roundRect">
            <a:avLst>
              <a:gd name="adj" fmla="val 3636"/>
            </a:avLst>
          </a:prstGeom>
          <a:solidFill>
            <a:schemeClr val="bg2"/>
          </a:solidFill>
          <a:ln/>
        </p:spPr>
      </p:sp>
      <p:sp>
        <p:nvSpPr>
          <p:cNvPr id="10" name="Dot"/>
          <p:cNvSpPr/>
          <p:nvPr/>
        </p:nvSpPr>
        <p:spPr>
          <a:xfrm>
            <a:off x="4565904" y="2103120"/>
            <a:ext cx="146304" cy="146304"/>
          </a:xfrm>
          <a:prstGeom prst="ellipse">
            <a:avLst/>
          </a:prstGeom>
          <a:solidFill>
            <a:schemeClr val="accent1"/>
          </a:solidFill>
          <a:ln/>
        </p:spPr>
      </p:sp>
      <p:sp>
        <p:nvSpPr>
          <p:cNvPr id="11" name="Text 8"/>
          <p:cNvSpPr txBox="1"/>
          <p:nvPr/>
        </p:nvSpPr>
        <p:spPr>
          <a:xfrm>
            <a:off x="4840224"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B. Reference model</a:t>
            </a:r>
            <a:endParaRPr lang="en-US" sz="1800" dirty="0"/>
          </a:p>
        </p:txBody>
      </p:sp>
      <p:sp>
        <p:nvSpPr>
          <p:cNvPr id="12" name="Text 9"/>
          <p:cNvSpPr txBox="1"/>
          <p:nvPr/>
        </p:nvSpPr>
        <p:spPr>
          <a:xfrm>
            <a:off x="4565904" y="2514600"/>
            <a:ext cx="3057144" cy="1188720"/>
          </a:xfrm>
          <a:prstGeom prst="rect">
            <a:avLst/>
          </a:prstGeom>
          <a:noFill/>
          <a:ln/>
        </p:spPr>
        <p:txBody>
          <a:bodyPr wrap="square" lIns="0" tIns="0" rIns="0" bIns="0" rtlCol="0" anchor="t"/>
          <a:lstStyle/>
          <a:p>
            <a:pPr indent="0" marL="0">
              <a:buNone/>
            </a:pPr>
            <a:r>
              <a:rPr lang="en-US" sz="1500" dirty="0">
                <a:solidFill>
                  <a:schemeClr val="tx1"/>
                </a:solidFill>
              </a:rPr>
              <a:t>A separate implementation of the same semantics, used as the oracle for what should happen.</a:t>
            </a:r>
            <a:endParaRPr lang="en-US" sz="1600" dirty="0"/>
          </a:p>
        </p:txBody>
      </p:sp>
      <p:sp>
        <p:nvSpPr>
          <p:cNvPr id="13" name="Card: A must equal B"/>
          <p:cNvSpPr/>
          <p:nvPr/>
        </p:nvSpPr>
        <p:spPr>
          <a:xfrm>
            <a:off x="8125968" y="1828800"/>
            <a:ext cx="3514344" cy="2011680"/>
          </a:xfrm>
          <a:prstGeom prst="roundRect">
            <a:avLst>
              <a:gd name="adj" fmla="val 3636"/>
            </a:avLst>
          </a:prstGeom>
          <a:solidFill>
            <a:schemeClr val="accent1">
              <a:alpha val="12000"/>
            </a:schemeClr>
          </a:solidFill>
          <a:ln/>
        </p:spPr>
      </p:sp>
      <p:sp>
        <p:nvSpPr>
          <p:cNvPr id="14" name="Dot"/>
          <p:cNvSpPr/>
          <p:nvPr/>
        </p:nvSpPr>
        <p:spPr>
          <a:xfrm>
            <a:off x="8354568" y="2103120"/>
            <a:ext cx="146304" cy="146304"/>
          </a:xfrm>
          <a:prstGeom prst="ellipse">
            <a:avLst/>
          </a:prstGeom>
          <a:solidFill>
            <a:schemeClr val="accent1"/>
          </a:solidFill>
          <a:ln/>
        </p:spPr>
      </p:sp>
      <p:sp>
        <p:nvSpPr>
          <p:cNvPr id="15" name="Text 12"/>
          <p:cNvSpPr txBox="1"/>
          <p:nvPr/>
        </p:nvSpPr>
        <p:spPr>
          <a:xfrm>
            <a:off x="8628888"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A must equal B</a:t>
            </a:r>
            <a:endParaRPr lang="en-US" sz="1800" dirty="0"/>
          </a:p>
        </p:txBody>
      </p:sp>
      <p:sp>
        <p:nvSpPr>
          <p:cNvPr id="16" name="Text 13"/>
          <p:cNvSpPr txBox="1"/>
          <p:nvPr/>
        </p:nvSpPr>
        <p:spPr>
          <a:xfrm>
            <a:off x="8354568" y="2514600"/>
            <a:ext cx="3057144" cy="1188720"/>
          </a:xfrm>
          <a:prstGeom prst="rect">
            <a:avLst/>
          </a:prstGeom>
          <a:noFill/>
          <a:ln/>
        </p:spPr>
        <p:txBody>
          <a:bodyPr wrap="square" lIns="0" tIns="0" rIns="0" bIns="0" rtlCol="0" anchor="t"/>
          <a:lstStyle/>
          <a:p>
            <a:pPr indent="0" marL="0">
              <a:buNone/>
            </a:pPr>
            <a:r>
              <a:rPr lang="en-US" sz="1500" dirty="0">
                <a:solidFill>
                  <a:schemeClr val="tx1"/>
                </a:solidFill>
              </a:rPr>
              <a:t>The plan fires every transition plus guard-rejection and invalid-event probes. States and errors must match exactly.</a:t>
            </a:r>
            <a:endParaRPr lang="en-US" sz="1600" dirty="0"/>
          </a:p>
        </p:txBody>
      </p:sp>
      <p:sp>
        <p:nvSpPr>
          <p:cNvPr id="17" name="Pill"/>
          <p:cNvSpPr/>
          <p:nvPr/>
        </p:nvSpPr>
        <p:spPr>
          <a:xfrm>
            <a:off x="548640" y="4069080"/>
            <a:ext cx="2103120" cy="347472"/>
          </a:xfrm>
          <a:prstGeom prst="roundRect">
            <a:avLst>
              <a:gd name="adj" fmla="val 50000"/>
            </a:avLst>
          </a:prstGeom>
          <a:solidFill>
            <a:schemeClr val="accent1">
              <a:alpha val="12000"/>
            </a:schemeClr>
          </a:solidFill>
          <a:ln/>
        </p:spPr>
      </p:sp>
      <p:sp>
        <p:nvSpPr>
          <p:cNvPr id="18" name="Text 15"/>
          <p:cNvSpPr txBox="1"/>
          <p:nvPr/>
        </p:nvSpPr>
        <p:spPr>
          <a:xfrm>
            <a:off x="548640" y="4069080"/>
            <a:ext cx="210312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InvalidEventError</a:t>
            </a:r>
            <a:endParaRPr lang="en-US" sz="1400" dirty="0"/>
          </a:p>
        </p:txBody>
      </p:sp>
      <p:sp>
        <p:nvSpPr>
          <p:cNvPr id="19" name="Pill"/>
          <p:cNvSpPr/>
          <p:nvPr/>
        </p:nvSpPr>
        <p:spPr>
          <a:xfrm>
            <a:off x="2834640" y="4069080"/>
            <a:ext cx="2286000" cy="347472"/>
          </a:xfrm>
          <a:prstGeom prst="roundRect">
            <a:avLst>
              <a:gd name="adj" fmla="val 50000"/>
            </a:avLst>
          </a:prstGeom>
          <a:solidFill>
            <a:schemeClr val="accent1">
              <a:alpha val="12000"/>
            </a:schemeClr>
          </a:solidFill>
          <a:ln/>
        </p:spPr>
      </p:sp>
      <p:sp>
        <p:nvSpPr>
          <p:cNvPr id="20" name="Text 17"/>
          <p:cNvSpPr txBox="1"/>
          <p:nvPr/>
        </p:nvSpPr>
        <p:spPr>
          <a:xfrm>
            <a:off x="2834640" y="4069080"/>
            <a:ext cx="228600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GuardRejectedError</a:t>
            </a:r>
            <a:endParaRPr lang="en-US" sz="1400" dirty="0"/>
          </a:p>
        </p:txBody>
      </p:sp>
      <p:sp>
        <p:nvSpPr>
          <p:cNvPr id="21" name="Pill"/>
          <p:cNvSpPr/>
          <p:nvPr/>
        </p:nvSpPr>
        <p:spPr>
          <a:xfrm>
            <a:off x="5303520" y="4069080"/>
            <a:ext cx="2194560" cy="347472"/>
          </a:xfrm>
          <a:prstGeom prst="roundRect">
            <a:avLst>
              <a:gd name="adj" fmla="val 50000"/>
            </a:avLst>
          </a:prstGeom>
          <a:solidFill>
            <a:schemeClr val="accent1">
              <a:alpha val="12000"/>
            </a:schemeClr>
          </a:solidFill>
          <a:ln/>
        </p:spPr>
      </p:sp>
      <p:sp>
        <p:nvSpPr>
          <p:cNvPr id="22" name="Text 19"/>
          <p:cNvSpPr txBox="1"/>
          <p:nvPr/>
        </p:nvSpPr>
        <p:spPr>
          <a:xfrm>
            <a:off x="5303520" y="4069080"/>
            <a:ext cx="219456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TerminalStateError</a:t>
            </a:r>
            <a:endParaRPr lang="en-US" sz="1400" dirty="0"/>
          </a:p>
        </p:txBody>
      </p:sp>
      <p:sp>
        <p:nvSpPr>
          <p:cNvPr id="23" name="Pill"/>
          <p:cNvSpPr/>
          <p:nvPr/>
        </p:nvSpPr>
        <p:spPr>
          <a:xfrm>
            <a:off x="7680960" y="4069080"/>
            <a:ext cx="3383280" cy="347472"/>
          </a:xfrm>
          <a:prstGeom prst="roundRect">
            <a:avLst>
              <a:gd name="adj" fmla="val 50000"/>
            </a:avLst>
          </a:prstGeom>
          <a:solidFill>
            <a:schemeClr val="accent1">
              <a:alpha val="12000"/>
            </a:schemeClr>
          </a:solidFill>
          <a:ln/>
        </p:spPr>
      </p:sp>
      <p:sp>
        <p:nvSpPr>
          <p:cNvPr id="24" name="Text 21"/>
          <p:cNvSpPr txBox="1"/>
          <p:nvPr/>
        </p:nvSpPr>
        <p:spPr>
          <a:xfrm>
            <a:off x="7680960" y="4069080"/>
            <a:ext cx="3383280" cy="347472"/>
          </a:xfrm>
          <a:prstGeom prst="rect">
            <a:avLst/>
          </a:prstGeom>
          <a:noFill/>
          <a:ln/>
        </p:spPr>
        <p:txBody>
          <a:bodyPr wrap="square" lIns="0" tIns="0" rIns="0" bIns="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NondeterministicTransitionError</a:t>
            </a:r>
            <a:endParaRPr lang="en-US" sz="1400" dirty="0"/>
          </a:p>
        </p:txBody>
      </p:sp>
      <p:sp>
        <p:nvSpPr>
          <p:cNvPr id="25" name="Callout"/>
          <p:cNvSpPr/>
          <p:nvPr/>
        </p:nvSpPr>
        <p:spPr>
          <a:xfrm>
            <a:off x="548640" y="4709160"/>
            <a:ext cx="11091672" cy="1508760"/>
          </a:xfrm>
          <a:prstGeom prst="roundRect">
            <a:avLst>
              <a:gd name="adj" fmla="val 4848"/>
            </a:avLst>
          </a:prstGeom>
          <a:solidFill>
            <a:schemeClr val="accent1">
              <a:alpha val="10000"/>
            </a:schemeClr>
          </a:solidFill>
          <a:ln/>
        </p:spPr>
      </p:sp>
      <p:sp>
        <p:nvSpPr>
          <p:cNvPr id="26" name="Text 23"/>
          <p:cNvSpPr txBox="1"/>
          <p:nvPr/>
        </p:nvSpPr>
        <p:spPr>
          <a:xfrm>
            <a:off x="822960" y="4709160"/>
            <a:ext cx="10543032" cy="1508760"/>
          </a:xfrm>
          <a:prstGeom prst="rect">
            <a:avLst/>
          </a:prstGeom>
          <a:noFill/>
          <a:ln/>
        </p:spPr>
        <p:txBody>
          <a:bodyPr wrap="square" lIns="0" tIns="0" rIns="0" bIns="0" rtlCol="0" anchor="ctr"/>
          <a:lstStyle/>
          <a:p>
            <a:pPr indent="0" marL="0">
              <a:buNone/>
            </a:pPr>
            <a:r>
              <a:rPr lang="en-US" sz="1600" b="1" dirty="0">
                <a:solidFill>
                  <a:schemeClr val="tx1"/>
                </a:solidFill>
              </a:rPr>
              <a:t>360 of 360 predicted graphs produced code that passed the full plan. </a:t>
            </a:r>
            <a:pPr indent="0" marL="0">
              <a:buNone/>
            </a:pPr>
            <a:r>
              <a:rPr lang="en-US" sz="1600" dirty="0">
                <a:solidFill>
                  <a:schemeClr val="tx1"/>
                </a:solidFill>
              </a:rPr>
              <a:t>Deliberately broken code is caught by mutation tests. Conformance shows the code matches the graph, not that the graph matches the drawing.</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CODE</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Sandboxed execution, and a limited role for Gemini</a:t>
            </a:r>
            <a:endParaRPr lang="en-US" sz="3400" dirty="0"/>
          </a:p>
        </p:txBody>
      </p:sp>
      <p:sp>
        <p:nvSpPr>
          <p:cNvPr id="5" name="Card: Sandbox"/>
          <p:cNvSpPr/>
          <p:nvPr/>
        </p:nvSpPr>
        <p:spPr>
          <a:xfrm>
            <a:off x="548640" y="1828800"/>
            <a:ext cx="5408676" cy="4297680"/>
          </a:xfrm>
          <a:prstGeom prst="roundRect">
            <a:avLst>
              <a:gd name="adj" fmla="val 1702"/>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Sandbox</a:t>
            </a:r>
            <a:endParaRPr lang="en-US" sz="1800" dirty="0"/>
          </a:p>
        </p:txBody>
      </p:sp>
      <p:sp>
        <p:nvSpPr>
          <p:cNvPr id="8" name="Text 5"/>
          <p:cNvSpPr txBox="1"/>
          <p:nvPr/>
        </p:nvSpPr>
        <p:spPr>
          <a:xfrm>
            <a:off x="777240" y="2514600"/>
            <a:ext cx="4951476"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An AST allowlist rejects os, socket, subprocess, open, eval and exec before anything runs</a:t>
            </a:r>
            <a:endParaRPr lang="en-US" sz="1600" dirty="0"/>
          </a:p>
          <a:p>
            <a:pPr marL="342900" indent="-342900">
              <a:spcAft>
                <a:spcPts val="800"/>
              </a:spcAft>
              <a:buSzPct val="100000"/>
              <a:buChar char="•"/>
            </a:pPr>
            <a:r>
              <a:rPr lang="en-US" sz="1500" dirty="0">
                <a:solidFill>
                  <a:schemeClr val="tx1"/>
                </a:solidFill>
              </a:rPr>
              <a:t>Separate isolated interpreter, empty environment, temporary directory</a:t>
            </a:r>
            <a:endParaRPr lang="en-US" sz="1600" dirty="0"/>
          </a:p>
          <a:p>
            <a:pPr marL="342900" indent="-342900">
              <a:spcAft>
                <a:spcPts val="800"/>
              </a:spcAft>
              <a:buSzPct val="100000"/>
              <a:buChar char="•"/>
            </a:pPr>
            <a:r>
              <a:rPr lang="en-US" sz="1500" dirty="0">
                <a:solidFill>
                  <a:schemeClr val="tx1"/>
                </a:solidFill>
              </a:rPr>
              <a:t>Timeout plus CPU, memory, file-size and process limits</a:t>
            </a:r>
            <a:endParaRPr lang="en-US" sz="1600" dirty="0"/>
          </a:p>
          <a:p>
            <a:pPr marL="342900" indent="-342900">
              <a:spcAft>
                <a:spcPts val="800"/>
              </a:spcAft>
              <a:buSzPct val="100000"/>
              <a:buChar char="•"/>
            </a:pPr>
            <a:r>
              <a:rPr lang="en-US" sz="1500" dirty="0">
                <a:solidFill>
                  <a:schemeClr val="tx1"/>
                </a:solidFill>
              </a:rPr>
              <a:t>Audit hook blocks sockets, subprocesses, file writes and ctypes</a:t>
            </a:r>
            <a:endParaRPr lang="en-US" sz="1600" dirty="0"/>
          </a:p>
        </p:txBody>
      </p:sp>
      <p:sp>
        <p:nvSpPr>
          <p:cNvPr id="9" name="Text 6"/>
          <p:cNvSpPr txBox="1"/>
          <p:nvPr/>
        </p:nvSpPr>
        <p:spPr>
          <a:xfrm>
            <a:off x="777240" y="5577840"/>
            <a:ext cx="4951476" cy="365760"/>
          </a:xfrm>
          <a:prstGeom prst="rect">
            <a:avLst/>
          </a:prstGeom>
          <a:noFill/>
          <a:ln/>
        </p:spPr>
        <p:txBody>
          <a:bodyPr wrap="square" lIns="0" tIns="0" rIns="0" bIns="0" rtlCol="0" anchor="t"/>
          <a:lstStyle/>
          <a:p>
            <a:pPr indent="0" marL="0">
              <a:buNone/>
            </a:pPr>
            <a:r>
              <a:rPr lang="en-US" sz="1400" i="1" dirty="0">
                <a:solidFill>
                  <a:schemeClr val="tx2"/>
                </a:solidFill>
              </a:rPr>
              <a:t>Defence in depth for a local tool, not a container.</a:t>
            </a:r>
            <a:endParaRPr lang="en-US" sz="1400" dirty="0"/>
          </a:p>
        </p:txBody>
      </p:sp>
      <p:sp>
        <p:nvSpPr>
          <p:cNvPr id="10" name="Card: Gemini (optional)"/>
          <p:cNvSpPr/>
          <p:nvPr/>
        </p:nvSpPr>
        <p:spPr>
          <a:xfrm>
            <a:off x="6231636" y="1828800"/>
            <a:ext cx="5408676" cy="4297680"/>
          </a:xfrm>
          <a:prstGeom prst="roundRect">
            <a:avLst>
              <a:gd name="adj" fmla="val 1702"/>
            </a:avLst>
          </a:prstGeom>
          <a:solidFill>
            <a:schemeClr val="bg2"/>
          </a:solidFill>
          <a:ln/>
        </p:spPr>
      </p:sp>
      <p:sp>
        <p:nvSpPr>
          <p:cNvPr id="11" name="Dot"/>
          <p:cNvSpPr/>
          <p:nvPr/>
        </p:nvSpPr>
        <p:spPr>
          <a:xfrm>
            <a:off x="6460236" y="2103120"/>
            <a:ext cx="146304" cy="146304"/>
          </a:xfrm>
          <a:prstGeom prst="ellipse">
            <a:avLst/>
          </a:prstGeom>
          <a:solidFill>
            <a:schemeClr val="accent1"/>
          </a:solidFill>
          <a:ln/>
        </p:spPr>
      </p:sp>
      <p:sp>
        <p:nvSpPr>
          <p:cNvPr id="12" name="Text 9"/>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Gemini (optional)</a:t>
            </a:r>
            <a:endParaRPr lang="en-US" sz="1800" dirty="0"/>
          </a:p>
        </p:txBody>
      </p:sp>
      <p:sp>
        <p:nvSpPr>
          <p:cNvPr id="13" name="Text 10"/>
          <p:cNvSpPr txBox="1"/>
          <p:nvPr/>
        </p:nvSpPr>
        <p:spPr>
          <a:xfrm>
            <a:off x="6460236" y="2514600"/>
            <a:ext cx="4951476"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Explains the diagram in plain language</a:t>
            </a:r>
            <a:endParaRPr lang="en-US" sz="1600" dirty="0"/>
          </a:p>
          <a:p>
            <a:pPr marL="342900" indent="-342900">
              <a:spcAft>
                <a:spcPts val="800"/>
              </a:spcAft>
              <a:buSzPct val="100000"/>
              <a:buChar char="•"/>
            </a:pPr>
            <a:r>
              <a:rPr lang="en-US" sz="1500" dirty="0">
                <a:solidFill>
                  <a:schemeClr val="tx1"/>
                </a:solidFill>
              </a:rPr>
              <a:t>Suggests corrections that you accept or reject</a:t>
            </a:r>
            <a:endParaRPr lang="en-US" sz="1600" dirty="0"/>
          </a:p>
          <a:p>
            <a:pPr marL="342900" indent="-342900">
              <a:spcAft>
                <a:spcPts val="800"/>
              </a:spcAft>
              <a:buSzPct val="100000"/>
              <a:buChar char="•"/>
            </a:pPr>
            <a:r>
              <a:rPr lang="en-US" sz="1500" dirty="0">
                <a:solidFill>
                  <a:schemeClr val="tx1"/>
                </a:solidFill>
              </a:rPr>
              <a:t>Can write alternative code, which must pass the same checks</a:t>
            </a:r>
            <a:endParaRPr lang="en-US" sz="1600" dirty="0"/>
          </a:p>
          <a:p>
            <a:pPr marL="342900" indent="-342900">
              <a:spcAft>
                <a:spcPts val="800"/>
              </a:spcAft>
              <a:buSzPct val="100000"/>
              <a:buChar char="•"/>
            </a:pPr>
            <a:r>
              <a:rPr lang="en-US" sz="1500" dirty="0">
                <a:solidFill>
                  <a:schemeClr val="tx1"/>
                </a:solidFill>
              </a:rPr>
              <a:t>Replies must match a JSON contract, and invented states are dropped</a:t>
            </a:r>
            <a:endParaRPr lang="en-US" sz="1600" dirty="0"/>
          </a:p>
        </p:txBody>
      </p:sp>
      <p:sp>
        <p:nvSpPr>
          <p:cNvPr id="14" name="Text 11"/>
          <p:cNvSpPr txBox="1"/>
          <p:nvPr/>
        </p:nvSpPr>
        <p:spPr>
          <a:xfrm>
            <a:off x="6460236" y="5577840"/>
            <a:ext cx="4951476" cy="365760"/>
          </a:xfrm>
          <a:prstGeom prst="rect">
            <a:avLst/>
          </a:prstGeom>
          <a:noFill/>
          <a:ln/>
        </p:spPr>
        <p:txBody>
          <a:bodyPr wrap="square" lIns="0" tIns="0" rIns="0" bIns="0" rtlCol="0" anchor="t"/>
          <a:lstStyle/>
          <a:p>
            <a:pPr indent="0" marL="0">
              <a:buNone/>
            </a:pPr>
            <a:r>
              <a:rPr lang="en-US" sz="1400" i="1" dirty="0">
                <a:solidFill>
                  <a:schemeClr val="tx2"/>
                </a:solidFill>
              </a:rPr>
              <a:t>It never detects arrows, validates the graph or accepts code.</a:t>
            </a:r>
            <a:endParaRPr lang="en-US" sz="14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DATA AND SCORING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Synthetic diagrams with exact ground truth</a:t>
            </a:r>
            <a:endParaRPr lang="en-US" sz="3400" dirty="0"/>
          </a:p>
        </p:txBody>
      </p:sp>
      <p:sp>
        <p:nvSpPr>
          <p:cNvPr id="5" name="Stat: Rendered diagrams"/>
          <p:cNvSpPr/>
          <p:nvPr/>
        </p:nvSpPr>
        <p:spPr>
          <a:xfrm>
            <a:off x="548640" y="1828800"/>
            <a:ext cx="2567178" cy="2148840"/>
          </a:xfrm>
          <a:prstGeom prst="roundRect">
            <a:avLst>
              <a:gd name="adj" fmla="val 3404"/>
            </a:avLst>
          </a:prstGeom>
          <a:solidFill>
            <a:schemeClr val="bg2"/>
          </a:solidFill>
          <a:ln/>
        </p:spPr>
      </p:sp>
      <p:sp>
        <p:nvSpPr>
          <p:cNvPr id="6" name="Text 3"/>
          <p:cNvSpPr txBox="1"/>
          <p:nvPr/>
        </p:nvSpPr>
        <p:spPr>
          <a:xfrm>
            <a:off x="777240" y="2011680"/>
            <a:ext cx="2109978" cy="274320"/>
          </a:xfrm>
          <a:prstGeom prst="rect">
            <a:avLst/>
          </a:prstGeom>
          <a:noFill/>
          <a:ln/>
        </p:spPr>
        <p:txBody>
          <a:bodyPr wrap="square" lIns="0" tIns="0" rIns="0" bIns="0" rtlCol="0" anchor="t"/>
          <a:lstStyle/>
          <a:p>
            <a:pPr indent="0" marL="0">
              <a:buNone/>
            </a:pPr>
            <a:r>
              <a:rPr lang="en-US" sz="1400" b="1" dirty="0">
                <a:solidFill>
                  <a:schemeClr val="tx2"/>
                </a:solidFill>
              </a:rPr>
              <a:t>Rendered diagrams</a:t>
            </a:r>
            <a:endParaRPr lang="en-US" sz="1400" dirty="0"/>
          </a:p>
        </p:txBody>
      </p:sp>
      <p:sp>
        <p:nvSpPr>
          <p:cNvPr id="7" name="Text 4"/>
          <p:cNvSpPr txBox="1"/>
          <p:nvPr/>
        </p:nvSpPr>
        <p:spPr>
          <a:xfrm>
            <a:off x="777240" y="2331720"/>
            <a:ext cx="2109978"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2,400</a:t>
            </a:r>
            <a:endParaRPr lang="en-US" sz="4000" dirty="0"/>
          </a:p>
        </p:txBody>
      </p:sp>
      <p:sp>
        <p:nvSpPr>
          <p:cNvPr id="8" name="Text 5"/>
          <p:cNvSpPr txBox="1"/>
          <p:nvPr/>
        </p:nvSpPr>
        <p:spPr>
          <a:xfrm>
            <a:off x="777240" y="3200400"/>
            <a:ext cx="2109978" cy="685800"/>
          </a:xfrm>
          <a:prstGeom prst="rect">
            <a:avLst/>
          </a:prstGeom>
          <a:noFill/>
          <a:ln/>
        </p:spPr>
        <p:txBody>
          <a:bodyPr wrap="square" lIns="0" tIns="0" rIns="0" bIns="0" rtlCol="0" anchor="t"/>
          <a:lstStyle/>
          <a:p>
            <a:pPr indent="0" marL="0">
              <a:buNone/>
            </a:pPr>
            <a:r>
              <a:rPr lang="en-US" sz="1400" dirty="0">
                <a:solidFill>
                  <a:schemeClr val="tx2"/>
                </a:solidFill>
              </a:rPr>
              <a:t>each with its true graph</a:t>
            </a:r>
            <a:endParaRPr lang="en-US" sz="1400" dirty="0"/>
          </a:p>
        </p:txBody>
      </p:sp>
      <p:sp>
        <p:nvSpPr>
          <p:cNvPr id="9" name="Stat: Held-out test set"/>
          <p:cNvSpPr/>
          <p:nvPr/>
        </p:nvSpPr>
        <p:spPr>
          <a:xfrm>
            <a:off x="3390138" y="1828800"/>
            <a:ext cx="2567178" cy="2148840"/>
          </a:xfrm>
          <a:prstGeom prst="roundRect">
            <a:avLst>
              <a:gd name="adj" fmla="val 3404"/>
            </a:avLst>
          </a:prstGeom>
          <a:solidFill>
            <a:schemeClr val="bg2"/>
          </a:solidFill>
          <a:ln/>
        </p:spPr>
      </p:sp>
      <p:sp>
        <p:nvSpPr>
          <p:cNvPr id="10" name="Text 7"/>
          <p:cNvSpPr txBox="1"/>
          <p:nvPr/>
        </p:nvSpPr>
        <p:spPr>
          <a:xfrm>
            <a:off x="3618738" y="2011680"/>
            <a:ext cx="2109978" cy="274320"/>
          </a:xfrm>
          <a:prstGeom prst="rect">
            <a:avLst/>
          </a:prstGeom>
          <a:noFill/>
          <a:ln/>
        </p:spPr>
        <p:txBody>
          <a:bodyPr wrap="square" lIns="0" tIns="0" rIns="0" bIns="0" rtlCol="0" anchor="t"/>
          <a:lstStyle/>
          <a:p>
            <a:pPr indent="0" marL="0">
              <a:buNone/>
            </a:pPr>
            <a:r>
              <a:rPr lang="en-US" sz="1400" b="1" dirty="0">
                <a:solidFill>
                  <a:schemeClr val="tx2"/>
                </a:solidFill>
              </a:rPr>
              <a:t>Held-out test set</a:t>
            </a:r>
            <a:endParaRPr lang="en-US" sz="1400" dirty="0"/>
          </a:p>
        </p:txBody>
      </p:sp>
      <p:sp>
        <p:nvSpPr>
          <p:cNvPr id="11" name="Text 8"/>
          <p:cNvSpPr txBox="1"/>
          <p:nvPr/>
        </p:nvSpPr>
        <p:spPr>
          <a:xfrm>
            <a:off x="3618738" y="2331720"/>
            <a:ext cx="2109978"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360</a:t>
            </a:r>
            <a:endParaRPr lang="en-US" sz="4000" dirty="0"/>
          </a:p>
        </p:txBody>
      </p:sp>
      <p:sp>
        <p:nvSpPr>
          <p:cNvPr id="12" name="Text 9"/>
          <p:cNvSpPr txBox="1"/>
          <p:nvPr/>
        </p:nvSpPr>
        <p:spPr>
          <a:xfrm>
            <a:off x="3618738" y="3200400"/>
            <a:ext cx="2109978" cy="685800"/>
          </a:xfrm>
          <a:prstGeom prst="rect">
            <a:avLst/>
          </a:prstGeom>
          <a:noFill/>
          <a:ln/>
        </p:spPr>
        <p:txBody>
          <a:bodyPr wrap="square" lIns="0" tIns="0" rIns="0" bIns="0" rtlCol="0" anchor="t"/>
          <a:lstStyle/>
          <a:p>
            <a:pPr indent="0" marL="0">
              <a:buNone/>
            </a:pPr>
            <a:r>
              <a:rPr lang="en-US" sz="1400" dirty="0">
                <a:solidFill>
                  <a:schemeClr val="tx2"/>
                </a:solidFill>
              </a:rPr>
              <a:t>never used for training or tuning</a:t>
            </a:r>
            <a:endParaRPr lang="en-US" sz="1400" dirty="0"/>
          </a:p>
        </p:txBody>
      </p:sp>
      <p:sp>
        <p:nvSpPr>
          <p:cNvPr id="13" name="Stat: Training"/>
          <p:cNvSpPr/>
          <p:nvPr/>
        </p:nvSpPr>
        <p:spPr>
          <a:xfrm>
            <a:off x="6231636" y="1828800"/>
            <a:ext cx="2567178" cy="2148840"/>
          </a:xfrm>
          <a:prstGeom prst="roundRect">
            <a:avLst>
              <a:gd name="adj" fmla="val 3404"/>
            </a:avLst>
          </a:prstGeom>
          <a:solidFill>
            <a:schemeClr val="bg2"/>
          </a:solidFill>
          <a:ln/>
        </p:spPr>
      </p:sp>
      <p:sp>
        <p:nvSpPr>
          <p:cNvPr id="14" name="Text 11"/>
          <p:cNvSpPr txBox="1"/>
          <p:nvPr/>
        </p:nvSpPr>
        <p:spPr>
          <a:xfrm>
            <a:off x="6460236" y="2011680"/>
            <a:ext cx="2109978" cy="274320"/>
          </a:xfrm>
          <a:prstGeom prst="rect">
            <a:avLst/>
          </a:prstGeom>
          <a:noFill/>
          <a:ln/>
        </p:spPr>
        <p:txBody>
          <a:bodyPr wrap="square" lIns="0" tIns="0" rIns="0" bIns="0" rtlCol="0" anchor="t"/>
          <a:lstStyle/>
          <a:p>
            <a:pPr indent="0" marL="0">
              <a:buNone/>
            </a:pPr>
            <a:r>
              <a:rPr lang="en-US" sz="1400" b="1" dirty="0">
                <a:solidFill>
                  <a:schemeClr val="tx2"/>
                </a:solidFill>
              </a:rPr>
              <a:t>Training</a:t>
            </a:r>
            <a:endParaRPr lang="en-US" sz="1400" dirty="0"/>
          </a:p>
        </p:txBody>
      </p:sp>
      <p:sp>
        <p:nvSpPr>
          <p:cNvPr id="15" name="Text 12"/>
          <p:cNvSpPr txBox="1"/>
          <p:nvPr/>
        </p:nvSpPr>
        <p:spPr>
          <a:xfrm>
            <a:off x="6460236" y="2331720"/>
            <a:ext cx="2109978" cy="822960"/>
          </a:xfrm>
          <a:prstGeom prst="rect">
            <a:avLst/>
          </a:prstGeom>
          <a:noFill/>
          <a:ln/>
        </p:spPr>
        <p:txBody>
          <a:bodyPr wrap="square" lIns="0" tIns="0" rIns="0" bIns="0" rtlCol="0" anchor="ctr"/>
          <a:lstStyle/>
          <a:p>
            <a:pPr indent="0" marL="0">
              <a:buNone/>
            </a:pPr>
            <a:r>
              <a:rPr lang="en-US" sz="3000" b="1" dirty="0">
                <a:solidFill>
                  <a:schemeClr val="accent1"/>
                </a:solidFill>
                <a:latin typeface="+mj-lt" pitchFamily="34" charset="0"/>
                <a:ea typeface="+mj-lt" pitchFamily="34" charset="-122"/>
                <a:cs typeface="+mj-lt" pitchFamily="34" charset="-120"/>
              </a:rPr>
              <a:t>60 epochs</a:t>
            </a:r>
            <a:endParaRPr lang="en-US" sz="3000" dirty="0"/>
          </a:p>
        </p:txBody>
      </p:sp>
      <p:sp>
        <p:nvSpPr>
          <p:cNvPr id="16" name="Text 13"/>
          <p:cNvSpPr txBox="1"/>
          <p:nvPr/>
        </p:nvSpPr>
        <p:spPr>
          <a:xfrm>
            <a:off x="6460236" y="3200400"/>
            <a:ext cx="2109978" cy="685800"/>
          </a:xfrm>
          <a:prstGeom prst="rect">
            <a:avLst/>
          </a:prstGeom>
          <a:noFill/>
          <a:ln/>
        </p:spPr>
        <p:txBody>
          <a:bodyPr wrap="square" lIns="0" tIns="0" rIns="0" bIns="0" rtlCol="0" anchor="t"/>
          <a:lstStyle/>
          <a:p>
            <a:pPr indent="0" marL="0">
              <a:buNone/>
            </a:pPr>
            <a:r>
              <a:rPr lang="en-US" sz="1400" dirty="0">
                <a:solidFill>
                  <a:schemeClr val="tx2"/>
                </a:solidFill>
              </a:rPr>
              <a:t>about 9 minutes on a laptop GPU</a:t>
            </a:r>
            <a:endParaRPr lang="en-US" sz="1400" dirty="0"/>
          </a:p>
        </p:txBody>
      </p:sp>
      <p:sp>
        <p:nvSpPr>
          <p:cNvPr id="17" name="Stat: Validation mAP@50"/>
          <p:cNvSpPr/>
          <p:nvPr/>
        </p:nvSpPr>
        <p:spPr>
          <a:xfrm>
            <a:off x="9073134" y="1828800"/>
            <a:ext cx="2567178" cy="2148840"/>
          </a:xfrm>
          <a:prstGeom prst="roundRect">
            <a:avLst>
              <a:gd name="adj" fmla="val 3404"/>
            </a:avLst>
          </a:prstGeom>
          <a:solidFill>
            <a:schemeClr val="bg2"/>
          </a:solidFill>
          <a:ln/>
        </p:spPr>
      </p:sp>
      <p:sp>
        <p:nvSpPr>
          <p:cNvPr id="18" name="Text 15"/>
          <p:cNvSpPr txBox="1"/>
          <p:nvPr/>
        </p:nvSpPr>
        <p:spPr>
          <a:xfrm>
            <a:off x="9301734" y="2011680"/>
            <a:ext cx="2109978" cy="274320"/>
          </a:xfrm>
          <a:prstGeom prst="rect">
            <a:avLst/>
          </a:prstGeom>
          <a:noFill/>
          <a:ln/>
        </p:spPr>
        <p:txBody>
          <a:bodyPr wrap="square" lIns="0" tIns="0" rIns="0" bIns="0" rtlCol="0" anchor="t"/>
          <a:lstStyle/>
          <a:p>
            <a:pPr indent="0" marL="0">
              <a:buNone/>
            </a:pPr>
            <a:r>
              <a:rPr lang="en-US" sz="1400" b="1" dirty="0">
                <a:solidFill>
                  <a:schemeClr val="tx2"/>
                </a:solidFill>
              </a:rPr>
              <a:t>Validation mAP@50</a:t>
            </a:r>
            <a:endParaRPr lang="en-US" sz="1400" dirty="0"/>
          </a:p>
        </p:txBody>
      </p:sp>
      <p:sp>
        <p:nvSpPr>
          <p:cNvPr id="19" name="Text 16"/>
          <p:cNvSpPr txBox="1"/>
          <p:nvPr/>
        </p:nvSpPr>
        <p:spPr>
          <a:xfrm>
            <a:off x="9301734" y="2331720"/>
            <a:ext cx="2109978" cy="82296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0.995</a:t>
            </a:r>
            <a:endParaRPr lang="en-US" sz="4000" dirty="0"/>
          </a:p>
        </p:txBody>
      </p:sp>
      <p:sp>
        <p:nvSpPr>
          <p:cNvPr id="20" name="Text 17"/>
          <p:cNvSpPr txBox="1"/>
          <p:nvPr/>
        </p:nvSpPr>
        <p:spPr>
          <a:xfrm>
            <a:off x="9301734" y="3200400"/>
            <a:ext cx="2109978" cy="685800"/>
          </a:xfrm>
          <a:prstGeom prst="rect">
            <a:avLst/>
          </a:prstGeom>
          <a:noFill/>
          <a:ln/>
        </p:spPr>
        <p:txBody>
          <a:bodyPr wrap="square" lIns="0" tIns="0" rIns="0" bIns="0" rtlCol="0" anchor="t"/>
          <a:lstStyle/>
          <a:p>
            <a:pPr indent="0" marL="0">
              <a:buNone/>
            </a:pPr>
            <a:r>
              <a:rPr lang="en-US" sz="1400" dirty="0">
                <a:solidFill>
                  <a:schemeClr val="tx2"/>
                </a:solidFill>
              </a:rPr>
              <a:t>final epoch, 360 validation images</a:t>
            </a:r>
            <a:endParaRPr lang="en-US" sz="1400" dirty="0"/>
          </a:p>
        </p:txBody>
      </p:sp>
      <p:sp>
        <p:nvSpPr>
          <p:cNvPr id="21" name="Text 18"/>
          <p:cNvSpPr txBox="1"/>
          <p:nvPr/>
        </p:nvSpPr>
        <p:spPr>
          <a:xfrm>
            <a:off x="548640" y="4251960"/>
            <a:ext cx="11091672" cy="201168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tx1"/>
                </a:solidFill>
              </a:rPr>
              <a:t>Split:</a:t>
            </a:r>
            <a:pPr indent="0" marL="0">
              <a:spcAft>
                <a:spcPts val="800"/>
              </a:spcAft>
              <a:buNone/>
            </a:pPr>
            <a:r>
              <a:rPr lang="en-US" sz="1600" dirty="0">
                <a:solidFill>
                  <a:schemeClr val="tx1"/>
                </a:solidFill>
              </a:rPr>
              <a:t> 1,680 train, 360 validation, 360 test. Seed 7.</a:t>
            </a:r>
            <a:endParaRPr lang="en-US" sz="1600" dirty="0"/>
          </a:p>
          <a:p>
            <a:pPr marL="342900" indent="-342900">
              <a:spcAft>
                <a:spcPts val="800"/>
              </a:spcAft>
              <a:buSzPct val="100000"/>
              <a:buChar char="•"/>
            </a:pPr>
            <a:r>
              <a:rPr lang="en-US" sz="1600" b="1" dirty="0">
                <a:solidFill>
                  <a:schemeClr val="tx1"/>
                </a:solidFill>
              </a:rPr>
              <a:t>Variety:</a:t>
            </a:r>
            <a:pPr indent="0" marL="0">
              <a:spcAft>
                <a:spcPts val="800"/>
              </a:spcAft>
              <a:buNone/>
            </a:pPr>
            <a:r>
              <a:rPr lang="en-US" sz="1600" dirty="0">
                <a:solidFill>
                  <a:schemeClr val="tx1"/>
                </a:solidFill>
              </a:rPr>
              <a:t> circle and rounded states, double-ring finals, curved, crossing and two-way edges, self-loops, blur, noise, JPEG.</a:t>
            </a:r>
            <a:endParaRPr lang="en-US" sz="1600" dirty="0"/>
          </a:p>
          <a:p>
            <a:pPr marL="342900" indent="-342900">
              <a:spcAft>
                <a:spcPts val="800"/>
              </a:spcAft>
              <a:buSzPct val="100000"/>
              <a:buChar char="•"/>
            </a:pPr>
            <a:r>
              <a:rPr lang="en-US" sz="1600" b="1" dirty="0">
                <a:solidFill>
                  <a:schemeClr val="tx1"/>
                </a:solidFill>
              </a:rPr>
              <a:t>No horizontal flip:</a:t>
            </a:r>
            <a:pPr indent="0" marL="0">
              <a:spcAft>
                <a:spcPts val="800"/>
              </a:spcAft>
              <a:buNone/>
            </a:pPr>
            <a:r>
              <a:rPr lang="en-US" sz="1600" dirty="0">
                <a:solidFill>
                  <a:schemeClr val="tx1"/>
                </a:solidFill>
              </a:rPr>
              <a:t> mirrored text never occurs in real diagrams.</a:t>
            </a:r>
            <a:endParaRPr lang="en-US" sz="1600" dirty="0"/>
          </a:p>
          <a:p>
            <a:pPr marL="342900" indent="-342900">
              <a:spcAft>
                <a:spcPts val="800"/>
              </a:spcAft>
              <a:buSzPct val="100000"/>
              <a:buChar char="•"/>
            </a:pPr>
            <a:r>
              <a:rPr lang="en-US" sz="1600" b="1" dirty="0">
                <a:solidFill>
                  <a:schemeClr val="tx1"/>
                </a:solidFill>
              </a:rPr>
              <a:t>Tuning:</a:t>
            </a:r>
            <a:pPr indent="0" marL="0">
              <a:spcAft>
                <a:spcPts val="800"/>
              </a:spcAft>
              <a:buNone/>
            </a:pPr>
            <a:r>
              <a:rPr lang="en-US" sz="1600" dirty="0">
                <a:solidFill>
                  <a:schemeClr val="tx1"/>
                </a:solidFill>
              </a:rPr>
              <a:t> tracer thresholds were tuned on the validation split only.</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DATA AND SCORING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We score the whole graph, not just the boxes</a:t>
            </a:r>
            <a:endParaRPr lang="en-US" sz="3400" dirty="0"/>
          </a:p>
        </p:txBody>
      </p:sp>
      <p:sp>
        <p:nvSpPr>
          <p:cNvPr id="5" name="Card: Match by geometry"/>
          <p:cNvSpPr/>
          <p:nvPr/>
        </p:nvSpPr>
        <p:spPr>
          <a:xfrm>
            <a:off x="548640" y="1828800"/>
            <a:ext cx="3514344" cy="2651760"/>
          </a:xfrm>
          <a:prstGeom prst="roundRect">
            <a:avLst>
              <a:gd name="adj" fmla="val 2759"/>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Match by geometry</a:t>
            </a:r>
            <a:endParaRPr lang="en-US" sz="1800" dirty="0"/>
          </a:p>
        </p:txBody>
      </p:sp>
      <p:sp>
        <p:nvSpPr>
          <p:cNvPr id="8" name="Text 5"/>
          <p:cNvSpPr txBox="1"/>
          <p:nvPr/>
        </p:nvSpPr>
        <p:spPr>
          <a:xfrm>
            <a:off x="777240" y="2514600"/>
            <a:ext cx="3057144" cy="1828800"/>
          </a:xfrm>
          <a:prstGeom prst="rect">
            <a:avLst/>
          </a:prstGeom>
          <a:noFill/>
          <a:ln/>
        </p:spPr>
        <p:txBody>
          <a:bodyPr wrap="square" lIns="0" tIns="0" rIns="0" bIns="0" rtlCol="0" anchor="t"/>
          <a:lstStyle/>
          <a:p>
            <a:pPr indent="0" marL="0">
              <a:buNone/>
            </a:pPr>
            <a:r>
              <a:rPr lang="en-US" sz="1500" dirty="0">
                <a:solidFill>
                  <a:schemeClr val="tx1"/>
                </a:solidFill>
              </a:rPr>
              <a:t>Predicted states are paired with true states by box overlap of at least 0.5, using the Hungarian algorithm. Never by id, because ids only record detection order.</a:t>
            </a:r>
            <a:endParaRPr lang="en-US" sz="1600" dirty="0"/>
          </a:p>
        </p:txBody>
      </p:sp>
      <p:sp>
        <p:nvSpPr>
          <p:cNvPr id="9" name="Card: Strict graph checks"/>
          <p:cNvSpPr/>
          <p:nvPr/>
        </p:nvSpPr>
        <p:spPr>
          <a:xfrm>
            <a:off x="4337304" y="1828800"/>
            <a:ext cx="3514344" cy="2651760"/>
          </a:xfrm>
          <a:prstGeom prst="roundRect">
            <a:avLst>
              <a:gd name="adj" fmla="val 2759"/>
            </a:avLst>
          </a:prstGeom>
          <a:solidFill>
            <a:schemeClr val="bg2"/>
          </a:solidFill>
          <a:ln/>
        </p:spPr>
      </p:sp>
      <p:sp>
        <p:nvSpPr>
          <p:cNvPr id="10" name="Dot"/>
          <p:cNvSpPr/>
          <p:nvPr/>
        </p:nvSpPr>
        <p:spPr>
          <a:xfrm>
            <a:off x="4565904" y="2103120"/>
            <a:ext cx="146304" cy="146304"/>
          </a:xfrm>
          <a:prstGeom prst="ellipse">
            <a:avLst/>
          </a:prstGeom>
          <a:solidFill>
            <a:schemeClr val="accent1"/>
          </a:solidFill>
          <a:ln/>
        </p:spPr>
      </p:sp>
      <p:sp>
        <p:nvSpPr>
          <p:cNvPr id="11" name="Text 8"/>
          <p:cNvSpPr txBox="1"/>
          <p:nvPr/>
        </p:nvSpPr>
        <p:spPr>
          <a:xfrm>
            <a:off x="4840224"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Strict graph checks</a:t>
            </a:r>
            <a:endParaRPr lang="en-US" sz="1800" dirty="0"/>
          </a:p>
        </p:txBody>
      </p:sp>
      <p:sp>
        <p:nvSpPr>
          <p:cNvPr id="12" name="Text 9"/>
          <p:cNvSpPr txBox="1"/>
          <p:nvPr/>
        </p:nvSpPr>
        <p:spPr>
          <a:xfrm>
            <a:off x="4565904" y="2514600"/>
            <a:ext cx="3057144" cy="1828800"/>
          </a:xfrm>
          <a:prstGeom prst="rect">
            <a:avLst/>
          </a:prstGeom>
          <a:noFill/>
          <a:ln/>
        </p:spPr>
        <p:txBody>
          <a:bodyPr wrap="square" lIns="0" tIns="0" rIns="0" bIns="0" rtlCol="0" anchor="t"/>
          <a:lstStyle/>
          <a:p>
            <a:pPr indent="0" marL="0">
              <a:buNone/>
            </a:pPr>
            <a:r>
              <a:rPr lang="en-US" sz="1500" dirty="0">
                <a:solidFill>
                  <a:schemeClr val="tx1"/>
                </a:solidFill>
              </a:rPr>
              <a:t>Directed transition F1, endpoint accuracy, initial and final state accuracy, whole-graph exact match.</a:t>
            </a:r>
            <a:endParaRPr lang="en-US" sz="1600" dirty="0"/>
          </a:p>
        </p:txBody>
      </p:sp>
      <p:sp>
        <p:nvSpPr>
          <p:cNvPr id="13" name="Card: Text error"/>
          <p:cNvSpPr/>
          <p:nvPr/>
        </p:nvSpPr>
        <p:spPr>
          <a:xfrm>
            <a:off x="8125968" y="1828800"/>
            <a:ext cx="3514344" cy="2651760"/>
          </a:xfrm>
          <a:prstGeom prst="roundRect">
            <a:avLst>
              <a:gd name="adj" fmla="val 2759"/>
            </a:avLst>
          </a:prstGeom>
          <a:solidFill>
            <a:schemeClr val="bg2"/>
          </a:solidFill>
          <a:ln/>
        </p:spPr>
      </p:sp>
      <p:sp>
        <p:nvSpPr>
          <p:cNvPr id="14" name="Dot"/>
          <p:cNvSpPr/>
          <p:nvPr/>
        </p:nvSpPr>
        <p:spPr>
          <a:xfrm>
            <a:off x="8354568" y="2103120"/>
            <a:ext cx="146304" cy="146304"/>
          </a:xfrm>
          <a:prstGeom prst="ellipse">
            <a:avLst/>
          </a:prstGeom>
          <a:solidFill>
            <a:schemeClr val="accent1"/>
          </a:solidFill>
          <a:ln/>
        </p:spPr>
      </p:sp>
      <p:sp>
        <p:nvSpPr>
          <p:cNvPr id="15" name="Text 12"/>
          <p:cNvSpPr txBox="1"/>
          <p:nvPr/>
        </p:nvSpPr>
        <p:spPr>
          <a:xfrm>
            <a:off x="8628888" y="2011680"/>
            <a:ext cx="2782824" cy="365760"/>
          </a:xfrm>
          <a:prstGeom prst="rect">
            <a:avLst/>
          </a:prstGeom>
          <a:noFill/>
          <a:ln/>
        </p:spPr>
        <p:txBody>
          <a:bodyPr wrap="square" lIns="0" tIns="0" rIns="0" bIns="0" rtlCol="0" anchor="t"/>
          <a:lstStyle/>
          <a:p>
            <a:pPr indent="0" marL="0">
              <a:buNone/>
            </a:pPr>
            <a:r>
              <a:rPr lang="en-US" sz="1800" b="1" dirty="0">
                <a:solidFill>
                  <a:schemeClr val="tx1"/>
                </a:solidFill>
              </a:rPr>
              <a:t>Text error</a:t>
            </a:r>
            <a:endParaRPr lang="en-US" sz="1800" dirty="0"/>
          </a:p>
        </p:txBody>
      </p:sp>
      <p:sp>
        <p:nvSpPr>
          <p:cNvPr id="16" name="Text 13"/>
          <p:cNvSpPr txBox="1"/>
          <p:nvPr/>
        </p:nvSpPr>
        <p:spPr>
          <a:xfrm>
            <a:off x="8354568" y="2514600"/>
            <a:ext cx="3057144" cy="1828800"/>
          </a:xfrm>
          <a:prstGeom prst="rect">
            <a:avLst/>
          </a:prstGeom>
          <a:noFill/>
          <a:ln/>
        </p:spPr>
        <p:txBody>
          <a:bodyPr wrap="square" lIns="0" tIns="0" rIns="0" bIns="0" rtlCol="0" anchor="t"/>
          <a:lstStyle/>
          <a:p>
            <a:pPr indent="0" marL="0">
              <a:buNone/>
            </a:pPr>
            <a:r>
              <a:rPr lang="en-US" sz="1500" dirty="0">
                <a:solidFill>
                  <a:schemeClr val="tx1"/>
                </a:solidFill>
              </a:rPr>
              <a:t>Exact match, and character error rate: edit distance divided by the true length. Zero is perfect.</a:t>
            </a:r>
            <a:endParaRPr lang="en-US" sz="1600" dirty="0"/>
          </a:p>
        </p:txBody>
      </p:sp>
      <p:sp>
        <p:nvSpPr>
          <p:cNvPr id="17" name="Callout"/>
          <p:cNvSpPr/>
          <p:nvPr/>
        </p:nvSpPr>
        <p:spPr>
          <a:xfrm>
            <a:off x="548640" y="4754880"/>
            <a:ext cx="11091672" cy="1371600"/>
          </a:xfrm>
          <a:prstGeom prst="roundRect">
            <a:avLst>
              <a:gd name="adj" fmla="val 5333"/>
            </a:avLst>
          </a:prstGeom>
          <a:solidFill>
            <a:schemeClr val="accent1">
              <a:alpha val="10000"/>
            </a:schemeClr>
          </a:solidFill>
          <a:ln/>
        </p:spPr>
      </p:sp>
      <p:sp>
        <p:nvSpPr>
          <p:cNvPr id="18" name="Text 15"/>
          <p:cNvSpPr txBox="1"/>
          <p:nvPr/>
        </p:nvSpPr>
        <p:spPr>
          <a:xfrm>
            <a:off x="822960" y="4754880"/>
            <a:ext cx="10543032" cy="1371600"/>
          </a:xfrm>
          <a:prstGeom prst="rect">
            <a:avLst/>
          </a:prstGeom>
          <a:noFill/>
          <a:ln/>
        </p:spPr>
        <p:txBody>
          <a:bodyPr wrap="square" lIns="0" tIns="0" rIns="0" bIns="0" rtlCol="0" anchor="ctr"/>
          <a:lstStyle/>
          <a:p>
            <a:pPr indent="0" marL="0">
              <a:buNone/>
            </a:pPr>
            <a:r>
              <a:rPr lang="en-US" sz="1600" b="1" dirty="0">
                <a:solidFill>
                  <a:schemeClr val="tx1"/>
                </a:solidFill>
              </a:rPr>
              <a:t>Three runs isolate each change. </a:t>
            </a:r>
            <a:pPr indent="0" marL="0">
              <a:buNone/>
            </a:pPr>
            <a:r>
              <a:rPr lang="en-US" sz="1600" dirty="0">
                <a:solidFill>
                  <a:schemeClr val="tx1"/>
                </a:solidFill>
              </a:rPr>
              <a:t>A is the original pipeline. B adds the new tracing, OCR and label parsing on the old detector. C adds the retrained 6-class detector. All use the same 360 held-out diagrams.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PRECISION AND RECALL</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Raise the threshold: precision up, recall down</a:t>
            </a:r>
            <a:endParaRPr lang="en-US" sz="3400" dirty="0"/>
          </a:p>
        </p:txBody>
      </p:sp>
      <p:graphicFrame>
        <p:nvGraphicFramePr>
          <p:cNvPr id="5" name="Chart 0" descr=""/>
          <p:cNvGraphicFramePr/>
          <p:nvPr/>
        </p:nvGraphicFramePr>
        <p:xfrm>
          <a:off x="548640" y="1828800"/>
          <a:ext cx="548640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828800"/>
          <a:ext cx="5486400" cy="3520440"/>
        </p:xfrm>
        <a:graphic xmlns:a="http://schemas.openxmlformats.org/drawingml/2006/main">
          <a:graphicData uri="http://schemas.openxmlformats.org/drawingml/2006/chart">
            <c:chart xmlns:c="http://schemas.openxmlformats.org/drawingml/2006/chart" r:id="rId2"/>
          </a:graphicData>
        </a:graphic>
      </p:graphicFrame>
      <p:sp>
        <p:nvSpPr>
          <p:cNvPr id="7" name="Readout"/>
          <p:cNvSpPr/>
          <p:nvPr/>
        </p:nvSpPr>
        <p:spPr>
          <a:xfrm>
            <a:off x="548640" y="5486400"/>
            <a:ext cx="3514344" cy="777240"/>
          </a:xfrm>
          <a:prstGeom prst="roundRect">
            <a:avLst>
              <a:gd name="adj" fmla="val 9412"/>
            </a:avLst>
          </a:prstGeom>
          <a:solidFill>
            <a:schemeClr val="bg2"/>
          </a:solidFill>
          <a:ln/>
        </p:spPr>
      </p:sp>
      <p:sp>
        <p:nvSpPr>
          <p:cNvPr id="8" name="Text 3"/>
          <p:cNvSpPr txBox="1"/>
          <p:nvPr/>
        </p:nvSpPr>
        <p:spPr>
          <a:xfrm>
            <a:off x="731520" y="5486400"/>
            <a:ext cx="3148584" cy="777240"/>
          </a:xfrm>
          <a:prstGeom prst="rect">
            <a:avLst/>
          </a:prstGeom>
          <a:noFill/>
          <a:ln/>
        </p:spPr>
        <p:txBody>
          <a:bodyPr wrap="square" lIns="0" tIns="0" rIns="0" bIns="0" rtlCol="0" anchor="ctr"/>
          <a:lstStyle/>
          <a:p>
            <a:pPr indent="0" marL="0">
              <a:buNone/>
            </a:pPr>
            <a:r>
              <a:rPr lang="en-US" sz="1400" b="1" dirty="0">
                <a:solidFill>
                  <a:schemeClr val="tx1"/>
                </a:solidFill>
              </a:rPr>
              <a:t>At 0.40, the pipeline default</a:t>
            </a:r>
            <a:endParaRPr lang="en-US" sz="1600" dirty="0"/>
          </a:p>
          <a:p>
            <a:pPr indent="0" marL="0">
              <a:buNone/>
            </a:pPr>
            <a:r>
              <a:rPr lang="en-US" sz="1400" dirty="0">
                <a:solidFill>
                  <a:schemeClr val="tx1"/>
                </a:solidFill>
              </a:rPr>
              <a:t>precision 0.987, recall 0.990, F1 0.989</a:t>
            </a:r>
            <a:endParaRPr lang="en-US" sz="1600" dirty="0"/>
          </a:p>
        </p:txBody>
      </p:sp>
      <p:sp>
        <p:nvSpPr>
          <p:cNvPr id="9" name="Readout"/>
          <p:cNvSpPr/>
          <p:nvPr/>
        </p:nvSpPr>
        <p:spPr>
          <a:xfrm>
            <a:off x="4337304" y="5486400"/>
            <a:ext cx="3514344" cy="777240"/>
          </a:xfrm>
          <a:prstGeom prst="roundRect">
            <a:avLst>
              <a:gd name="adj" fmla="val 9412"/>
            </a:avLst>
          </a:prstGeom>
          <a:solidFill>
            <a:schemeClr val="accent4">
              <a:alpha val="20000"/>
            </a:schemeClr>
          </a:solidFill>
          <a:ln/>
        </p:spPr>
      </p:sp>
      <p:sp>
        <p:nvSpPr>
          <p:cNvPr id="10" name="Text 5"/>
          <p:cNvSpPr txBox="1"/>
          <p:nvPr/>
        </p:nvSpPr>
        <p:spPr>
          <a:xfrm>
            <a:off x="4520184" y="5486400"/>
            <a:ext cx="3148584" cy="777240"/>
          </a:xfrm>
          <a:prstGeom prst="rect">
            <a:avLst/>
          </a:prstGeom>
          <a:noFill/>
          <a:ln/>
        </p:spPr>
        <p:txBody>
          <a:bodyPr wrap="square" lIns="0" tIns="0" rIns="0" bIns="0" rtlCol="0" anchor="ctr"/>
          <a:lstStyle/>
          <a:p>
            <a:pPr indent="0" marL="0">
              <a:buNone/>
            </a:pPr>
            <a:r>
              <a:rPr lang="en-US" sz="1400" b="1" dirty="0">
                <a:solidFill>
                  <a:schemeClr val="tx1"/>
                </a:solidFill>
              </a:rPr>
              <a:t>At 0.90</a:t>
            </a:r>
            <a:endParaRPr lang="en-US" sz="1600" dirty="0"/>
          </a:p>
          <a:p>
            <a:pPr indent="0" marL="0">
              <a:buNone/>
            </a:pPr>
            <a:r>
              <a:rPr lang="en-US" sz="1400" dirty="0">
                <a:solidFill>
                  <a:schemeClr val="tx1"/>
                </a:solidFill>
              </a:rPr>
              <a:t>precision 0.998, recall 0.704, F1 0.782</a:t>
            </a:r>
            <a:endParaRPr lang="en-US" sz="1600" dirty="0"/>
          </a:p>
        </p:txBody>
      </p:sp>
      <p:sp>
        <p:nvSpPr>
          <p:cNvPr id="11" name="Readout"/>
          <p:cNvSpPr/>
          <p:nvPr/>
        </p:nvSpPr>
        <p:spPr>
          <a:xfrm>
            <a:off x="8125968" y="5486400"/>
            <a:ext cx="3514344" cy="777240"/>
          </a:xfrm>
          <a:prstGeom prst="roundRect">
            <a:avLst>
              <a:gd name="adj" fmla="val 9412"/>
            </a:avLst>
          </a:prstGeom>
          <a:solidFill>
            <a:schemeClr val="bg2"/>
          </a:solidFill>
          <a:ln/>
        </p:spPr>
      </p:sp>
      <p:sp>
        <p:nvSpPr>
          <p:cNvPr id="12" name="Text 7"/>
          <p:cNvSpPr txBox="1"/>
          <p:nvPr/>
        </p:nvSpPr>
        <p:spPr>
          <a:xfrm>
            <a:off x="8308848" y="5486400"/>
            <a:ext cx="3148584" cy="777240"/>
          </a:xfrm>
          <a:prstGeom prst="rect">
            <a:avLst/>
          </a:prstGeom>
          <a:noFill/>
          <a:ln/>
        </p:spPr>
        <p:txBody>
          <a:bodyPr wrap="square" lIns="0" tIns="0" rIns="0" bIns="0" rtlCol="0" anchor="ctr"/>
          <a:lstStyle/>
          <a:p>
            <a:pPr indent="0" marL="0">
              <a:buNone/>
            </a:pPr>
            <a:r>
              <a:rPr lang="en-US" sz="1400" b="1" dirty="0">
                <a:solidFill>
                  <a:schemeClr val="tx1"/>
                </a:solidFill>
              </a:rPr>
              <a:t>Best F1 at 0.63</a:t>
            </a:r>
            <a:endParaRPr lang="en-US" sz="1600" dirty="0"/>
          </a:p>
          <a:p>
            <a:pPr indent="0" marL="0">
              <a:buNone/>
            </a:pPr>
            <a:r>
              <a:rPr lang="en-US" sz="1400" dirty="0">
                <a:solidFill>
                  <a:schemeClr val="tx1"/>
                </a:solidFill>
              </a:rPr>
              <a:t>F1 0.991, against 0.989 at 0.40</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PRECISION AND RECALL</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Every class at the chosen threshold</a:t>
            </a:r>
            <a:endParaRPr lang="en-US" sz="3400" dirty="0"/>
          </a:p>
        </p:txBody>
      </p:sp>
      <p:sp>
        <p:nvSpPr>
          <p:cNvPr id="5" name="Text 2"/>
          <p:cNvSpPr txBox="1"/>
          <p:nvPr/>
        </p:nvSpPr>
        <p:spPr>
          <a:xfrm>
            <a:off x="548640" y="1783080"/>
            <a:ext cx="11091672" cy="365760"/>
          </a:xfrm>
          <a:prstGeom prst="rect">
            <a:avLst/>
          </a:prstGeom>
          <a:noFill/>
          <a:ln/>
        </p:spPr>
        <p:txBody>
          <a:bodyPr wrap="square" lIns="0" tIns="0" rIns="0" bIns="0" rtlCol="0" anchor="t"/>
          <a:lstStyle/>
          <a:p>
            <a:pPr indent="0" marL="0">
              <a:buNone/>
            </a:pPr>
            <a:r>
              <a:rPr lang="en-US" sz="1700" dirty="0">
                <a:solidFill>
                  <a:schemeClr val="tx1"/>
                </a:solidFill>
              </a:rPr>
              <a:t>Threshold </a:t>
            </a:r>
            <a:pPr indent="0" marL="0">
              <a:buNone/>
            </a:pPr>
            <a:r>
              <a:rPr lang="en-US" sz="1700" b="1" dirty="0">
                <a:solidFill>
                  <a:schemeClr val="accent1"/>
                </a:solidFill>
              </a:rPr>
              <a:t>0.40</a:t>
            </a:r>
            <a:pPr indent="0" marL="0">
              <a:buNone/>
            </a:pPr>
            <a:r>
              <a:rPr lang="en-US" sz="1700" dirty="0">
                <a:solidFill>
                  <a:schemeClr val="tx1"/>
                </a:solidFill>
              </a:rPr>
              <a:t>. The row with the lowest recall is shaded.</a:t>
            </a:r>
            <a:endParaRPr lang="en-US" sz="17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1672" cy="914400"/>
        </p:xfrm>
        <a:graphic>
          <a:graphicData uri="http://schemas.openxmlformats.org/drawingml/2006/table">
            <a:tbl>
              <a:tblPr/>
              <a:tblGrid>
                <a:gridCol w="3291840"/>
                <a:gridCol w="1828800"/>
                <a:gridCol w="2011680"/>
                <a:gridCol w="2011680"/>
                <a:gridCol w="1947672"/>
              </a:tblGrid>
              <a:tr h="457200">
                <a:tc>
                  <a:txBody>
                    <a:bodyPr/>
                    <a:lstStyle/>
                    <a:p>
                      <a:pPr algn="l" indent="0" marL="0">
                        <a:buNone/>
                      </a:pPr>
                      <a:r>
                        <a:rPr lang="en-US" sz="1600" b="1" dirty="0">
                          <a:solidFill>
                            <a:schemeClr val="bg1"/>
                          </a:solidFill>
                        </a:rPr>
                        <a:t>Class</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Objects</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Precision</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Recall</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F1</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457200">
                <a:tc>
                  <a:txBody>
                    <a:bodyPr/>
                    <a:lstStyle/>
                    <a:p>
                      <a:pPr indent="0" marL="0">
                        <a:buNone/>
                      </a:pPr>
                      <a:r>
                        <a:rPr lang="en-US" sz="1600" dirty="0">
                          <a:solidFill>
                            <a:schemeClr val="tx1"/>
                          </a:solidFill>
                        </a:rPr>
                        <a:t>state</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1,128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1.000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1.000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1.000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57200">
                <a:tc>
                  <a:txBody>
                    <a:bodyPr/>
                    <a:lstStyle/>
                    <a:p>
                      <a:pPr indent="0" marL="0">
                        <a:buNone/>
                      </a:pPr>
                      <a:r>
                        <a:rPr lang="en-US" sz="1600" dirty="0">
                          <a:solidFill>
                            <a:schemeClr val="tx1"/>
                          </a:solidFill>
                        </a:rPr>
                        <a:t>arrow</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1,268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0.974</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0.990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0.982</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57200">
                <a:tc>
                  <a:txBody>
                    <a:bodyPr/>
                    <a:lstStyle/>
                    <a:p>
                      <a:pPr indent="0" marL="0">
                        <a:buNone/>
                      </a:pPr>
                      <a:r>
                        <a:rPr lang="en-US" sz="1600" dirty="0">
                          <a:solidFill>
                            <a:schemeClr val="tx1"/>
                          </a:solidFill>
                        </a:rPr>
                        <a:t>final_state</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154</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0.996</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1.000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0.998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57200">
                <a:tc>
                  <a:txBody>
                    <a:bodyPr/>
                    <a:lstStyle/>
                    <a:p>
                      <a:pPr indent="0" marL="0">
                        <a:buNone/>
                      </a:pPr>
                      <a:r>
                        <a:rPr lang="en-US" sz="1600" dirty="0">
                          <a:solidFill>
                            <a:schemeClr val="tx1"/>
                          </a:solidFill>
                        </a:rPr>
                        <a:t>arrowhead</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600" dirty="0">
                          <a:solidFill>
                            <a:schemeClr val="tx1"/>
                          </a:solidFill>
                        </a:rPr>
                        <a:t>1,268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600" dirty="0">
                          <a:solidFill>
                            <a:schemeClr val="tx1"/>
                          </a:solidFill>
                        </a:rPr>
                        <a:t>0.973</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600" b="1" dirty="0">
                          <a:solidFill>
                            <a:schemeClr val="tx1"/>
                          </a:solidFill>
                        </a:rPr>
                        <a:t>0.975</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600" dirty="0">
                          <a:solidFill>
                            <a:schemeClr val="tx1"/>
                          </a:solidFill>
                        </a:rPr>
                        <a:t>0.974</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r>
              <a:tr h="457200">
                <a:tc>
                  <a:txBody>
                    <a:bodyPr/>
                    <a:lstStyle/>
                    <a:p>
                      <a:pPr indent="0" marL="0">
                        <a:buNone/>
                      </a:pPr>
                      <a:r>
                        <a:rPr lang="en-US" sz="1600" dirty="0">
                          <a:solidFill>
                            <a:schemeClr val="tx1"/>
                          </a:solidFill>
                        </a:rPr>
                        <a:t>initial_marker</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360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0.983</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0.978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0.981</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57200">
                <a:tc>
                  <a:txBody>
                    <a:bodyPr/>
                    <a:lstStyle/>
                    <a:p>
                      <a:pPr indent="0" marL="0">
                        <a:buNone/>
                      </a:pPr>
                      <a:r>
                        <a:rPr lang="en-US" sz="1600" dirty="0">
                          <a:solidFill>
                            <a:schemeClr val="tx1"/>
                          </a:solidFill>
                        </a:rPr>
                        <a:t>label</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930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0.997</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1.000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0.999</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57200">
                <a:tc>
                  <a:txBody>
                    <a:bodyPr/>
                    <a:lstStyle/>
                    <a:p>
                      <a:pPr indent="0" marL="0">
                        <a:buNone/>
                      </a:pPr>
                      <a:r>
                        <a:rPr lang="en-US" sz="1600" b="1" dirty="0">
                          <a:solidFill>
                            <a:schemeClr val="tx1"/>
                          </a:solidFill>
                        </a:rPr>
                        <a:t>Mean of classes</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5,108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0.987</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0.990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0.989</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7" name="Text 3"/>
          <p:cNvSpPr txBox="1"/>
          <p:nvPr/>
        </p:nvSpPr>
        <p:spPr>
          <a:xfrm>
            <a:off x="548640" y="603504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precision-confidence, recall-confidence and F1-confidence curves from the validator run on the test split, sampled every 0.01.</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CLASSES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Arrowheads are the hard class</a:t>
            </a:r>
            <a:endParaRPr lang="en-US" sz="3400" dirty="0"/>
          </a:p>
        </p:txBody>
      </p:sp>
      <p:graphicFrame>
        <p:nvGraphicFramePr>
          <p:cNvPr id="5" name="Chart 0" descr=""/>
          <p:cNvGraphicFramePr/>
          <p:nvPr/>
        </p:nvGraphicFramePr>
        <p:xfrm>
          <a:off x="548640" y="1783080"/>
          <a:ext cx="585216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29400" y="1828800"/>
          <a:ext cx="5010912" cy="914400"/>
        </p:xfrm>
        <a:graphic>
          <a:graphicData uri="http://schemas.openxmlformats.org/drawingml/2006/table">
            <a:tbl>
              <a:tblPr/>
              <a:tblGrid>
                <a:gridCol w="1371600"/>
                <a:gridCol w="685800"/>
                <a:gridCol w="594360"/>
                <a:gridCol w="640080"/>
                <a:gridCol w="658368"/>
                <a:gridCol w="1060704"/>
              </a:tblGrid>
              <a:tr h="347472">
                <a:tc>
                  <a:txBody>
                    <a:bodyPr/>
                    <a:lstStyle/>
                    <a:p>
                      <a:pPr algn="l" indent="0" marL="0">
                        <a:buNone/>
                      </a:pPr>
                      <a:r>
                        <a:rPr lang="en-US" sz="1200" b="1" dirty="0">
                          <a:solidFill>
                            <a:schemeClr val="bg1"/>
                          </a:solidFill>
                        </a:rPr>
                        <a:t>Class</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Count</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Prec.</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Recall</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AP@50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AP@50-95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347472">
                <a:tc>
                  <a:txBody>
                    <a:bodyPr/>
                    <a:lstStyle/>
                    <a:p>
                      <a:pPr indent="0" marL="0">
                        <a:buNone/>
                      </a:pPr>
                      <a:r>
                        <a:rPr lang="en-US" sz="1200" dirty="0">
                          <a:solidFill>
                            <a:schemeClr val="tx1"/>
                          </a:solidFill>
                        </a:rPr>
                        <a:t>state</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1,128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1.000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1.000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200" dirty="0">
                          <a:solidFill>
                            <a:schemeClr val="tx1"/>
                          </a:solidFill>
                        </a:rPr>
                        <a:t>arrow</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1,268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0.991</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0.984</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0.994</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0.949</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200" dirty="0">
                          <a:solidFill>
                            <a:schemeClr val="tx1"/>
                          </a:solidFill>
                        </a:rPr>
                        <a:t>final_state</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154</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1.000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200" dirty="0">
                          <a:solidFill>
                            <a:schemeClr val="tx1"/>
                          </a:solidFill>
                        </a:rPr>
                        <a:t>arrowhead</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1,268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0.986</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0.968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0.982</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b="1" dirty="0">
                          <a:solidFill>
                            <a:schemeClr val="tx1"/>
                          </a:solidFill>
                        </a:rPr>
                        <a:t>0.832</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r>
              <a:tr h="347472">
                <a:tc>
                  <a:txBody>
                    <a:bodyPr/>
                    <a:lstStyle/>
                    <a:p>
                      <a:pPr indent="0" marL="0">
                        <a:buNone/>
                      </a:pPr>
                      <a:r>
                        <a:rPr lang="en-US" sz="1200" dirty="0">
                          <a:solidFill>
                            <a:schemeClr val="tx1"/>
                          </a:solidFill>
                        </a:rPr>
                        <a:t>initial_marker</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360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0.992</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0.972</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0.993</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0.935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200" dirty="0">
                          <a:solidFill>
                            <a:schemeClr val="tx1"/>
                          </a:solidFill>
                        </a:rPr>
                        <a:t>label</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930</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0.998</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0.999</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0.995</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0.897</a:t>
                      </a:r>
                      <a:endParaRPr lang="en-US" sz="1200" dirty="0"/>
                    </a:p>
                  </a:txBody>
                  <a:tcPr marL="54864" marR="54864"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7" name="Text 2"/>
          <p:cNvSpPr txBox="1"/>
          <p:nvPr/>
        </p:nvSpPr>
        <p:spPr>
          <a:xfrm>
            <a:off x="6629400" y="4434840"/>
            <a:ext cx="5010912" cy="1188720"/>
          </a:xfrm>
          <a:prstGeom prst="rect">
            <a:avLst/>
          </a:prstGeom>
          <a:noFill/>
          <a:ln/>
        </p:spPr>
        <p:txBody>
          <a:bodyPr wrap="square" lIns="0" tIns="0" rIns="0" bIns="0" rtlCol="0" anchor="t"/>
          <a:lstStyle/>
          <a:p>
            <a:pPr indent="0" marL="0">
              <a:buNone/>
            </a:pPr>
            <a:r>
              <a:rPr lang="en-US" sz="1400" dirty="0">
                <a:solidFill>
                  <a:schemeClr val="tx1"/>
                </a:solidFill>
              </a:rPr>
              <a:t>AP@50 counts a box as correct at 50% overlap. AP@50-95 averages ten stricter levels up to 95%, so it punishes small boxes that are a few pixels off.</a:t>
            </a:r>
            <a:endParaRPr lang="en-US" sz="1400" dirty="0"/>
          </a:p>
        </p:txBody>
      </p:sp>
      <p:sp>
        <p:nvSpPr>
          <p:cNvPr id="8" name="Text 3"/>
          <p:cNvSpPr txBox="1"/>
          <p:nvPr/>
        </p:nvSpPr>
        <p:spPr>
          <a:xfrm>
            <a:off x="548640" y="576072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Ultralytics validator, test split. Precision and recall at the best-F1 confidence.</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CLASSES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The confusion matrix is nearly diagonal</a:t>
            </a:r>
            <a:endParaRPr lang="en-US" sz="3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772400" cy="914400"/>
        </p:xfrm>
        <a:graphic>
          <a:graphicData uri="http://schemas.openxmlformats.org/drawingml/2006/table">
            <a:tbl>
              <a:tblPr/>
              <a:tblGrid>
                <a:gridCol w="1371600"/>
                <a:gridCol w="777240"/>
                <a:gridCol w="777240"/>
                <a:gridCol w="1051560"/>
                <a:gridCol w="1005840"/>
                <a:gridCol w="1234440"/>
                <a:gridCol w="777240"/>
                <a:gridCol w="822960"/>
              </a:tblGrid>
              <a:tr h="530352">
                <a:tc>
                  <a:txBody>
                    <a:bodyPr/>
                    <a:lstStyle/>
                    <a:p>
                      <a:pPr algn="l" indent="0" marL="0">
                        <a:buNone/>
                      </a:pPr>
                      <a:r>
                        <a:rPr lang="en-US" sz="1200" b="1" dirty="0">
                          <a:solidFill>
                            <a:schemeClr val="bg1"/>
                          </a:solidFill>
                        </a:rPr>
                        <a:t>True \ detected</a:t>
                      </a:r>
                      <a:endParaRPr lang="en-US" sz="12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state</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arrow</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final_state</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arrowhead</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initial_marker</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label</a:t>
                      </a:r>
                      <a:endParaRPr lang="en-US" sz="11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Missed</a:t>
                      </a:r>
                      <a:endParaRPr lang="en-US" sz="12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530352">
                <a:tc>
                  <a:txBody>
                    <a:bodyPr/>
                    <a:lstStyle/>
                    <a:p>
                      <a:pPr indent="0" marL="0">
                        <a:buNone/>
                      </a:pPr>
                      <a:r>
                        <a:rPr lang="en-US" sz="1300" b="1" dirty="0">
                          <a:solidFill>
                            <a:schemeClr val="tx1"/>
                          </a:solidFill>
                        </a:rPr>
                        <a:t>state</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2"/>
                          </a:solidFill>
                        </a:rPr>
                        <a:t>1,128</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chemeClr val="tx1"/>
                          </a:solidFill>
                        </a:rPr>
                        <a:t>arrow</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2"/>
                          </a:solidFill>
                        </a:rPr>
                        <a:t>1,262</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AF2FB"/>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D4E4F7"/>
                    </a:solidFill>
                  </a:tcPr>
                </a:tc>
              </a:tr>
              <a:tr h="530352">
                <a:tc>
                  <a:txBody>
                    <a:bodyPr/>
                    <a:lstStyle/>
                    <a:p>
                      <a:pPr indent="0" marL="0">
                        <a:buNone/>
                      </a:pPr>
                      <a:r>
                        <a:rPr lang="en-US" sz="1300" b="1" dirty="0">
                          <a:solidFill>
                            <a:schemeClr val="tx1"/>
                          </a:solidFill>
                        </a:rPr>
                        <a:t>final_state</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2"/>
                          </a:solidFill>
                        </a:rPr>
                        <a:t>154</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chemeClr val="tx1"/>
                          </a:solidFill>
                        </a:rPr>
                        <a:t>arrowhead</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9</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9FC2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b="1" dirty="0">
                          <a:solidFill>
                            <a:schemeClr val="tx2"/>
                          </a:solidFill>
                        </a:rPr>
                        <a:t>1,240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1</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4F8FD"/>
                    </a:solidFill>
                  </a:tcPr>
                </a:tc>
                <a:tc>
                  <a:txBody>
                    <a:bodyPr/>
                    <a:lstStyle/>
                    <a:p>
                      <a:pPr algn="ctr" indent="0" marL="0">
                        <a:buNone/>
                      </a:pPr>
                      <a:r>
                        <a:rPr lang="en-US" sz="1400" dirty="0">
                          <a:solidFill>
                            <a:schemeClr val="tx1"/>
                          </a:solidFill>
                        </a:rPr>
                        <a:t>1</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4F8FD"/>
                    </a:solidFill>
                  </a:tcPr>
                </a:tc>
                <a:tc>
                  <a:txBody>
                    <a:bodyPr/>
                    <a:lstStyle/>
                    <a:p>
                      <a:pPr algn="ctr" indent="0" marL="0">
                        <a:buNone/>
                      </a:pPr>
                      <a:r>
                        <a:rPr lang="en-US" sz="1400" dirty="0">
                          <a:solidFill>
                            <a:schemeClr val="bg1"/>
                          </a:solidFill>
                        </a:rPr>
                        <a:t>17</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4A8CDC"/>
                    </a:solidFill>
                  </a:tcPr>
                </a:tc>
              </a:tr>
              <a:tr h="530352">
                <a:tc>
                  <a:txBody>
                    <a:bodyPr/>
                    <a:lstStyle/>
                    <a:p>
                      <a:pPr indent="0" marL="0">
                        <a:buNone/>
                      </a:pPr>
                      <a:r>
                        <a:rPr lang="en-US" sz="1300" b="1" dirty="0">
                          <a:solidFill>
                            <a:schemeClr val="tx1"/>
                          </a:solidFill>
                        </a:rPr>
                        <a:t>initial_marker</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bg1"/>
                          </a:solidFill>
                        </a:rPr>
                        <a:t>14</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6AA1E2"/>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4F8FD"/>
                    </a:solidFill>
                  </a:tcPr>
                </a:tc>
                <a:tc>
                  <a:txBody>
                    <a:bodyPr/>
                    <a:lstStyle/>
                    <a:p>
                      <a:pPr algn="ctr" indent="0" marL="0">
                        <a:buNone/>
                      </a:pPr>
                      <a:r>
                        <a:rPr lang="en-US" sz="1400" b="1" dirty="0">
                          <a:solidFill>
                            <a:schemeClr val="tx2"/>
                          </a:solidFill>
                        </a:rPr>
                        <a:t>345</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chemeClr val="tx1"/>
                          </a:solidFill>
                        </a:rPr>
                        <a:t>label</a:t>
                      </a:r>
                      <a:endParaRPr lang="en-US" sz="13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2</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AF2FB"/>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4F8FD"/>
                    </a:solidFill>
                  </a:tcPr>
                </a:tc>
                <a:tc>
                  <a:txBody>
                    <a:bodyPr/>
                    <a:lstStyle/>
                    <a:p>
                      <a:pPr algn="ctr" indent="0" marL="0">
                        <a:buNone/>
                      </a:pPr>
                      <a:r>
                        <a:rPr lang="en-US" sz="1400" dirty="0">
                          <a:solidFill>
                            <a:schemeClr val="tx1"/>
                          </a:solidFill>
                        </a:rPr>
                        <a:t>1</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4F8FD"/>
                    </a:solidFill>
                  </a:tcPr>
                </a:tc>
                <a:tc>
                  <a:txBody>
                    <a:bodyPr/>
                    <a:lstStyle/>
                    <a:p>
                      <a:pPr algn="ctr" indent="0" marL="0">
                        <a:buNone/>
                      </a:pPr>
                      <a:r>
                        <a:rPr lang="en-US" sz="1400" b="1" dirty="0">
                          <a:solidFill>
                            <a:schemeClr val="tx2"/>
                          </a:solidFill>
                        </a:rPr>
                        <a:t>926</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E6EAED"/>
                    </a:solidFill>
                  </a:tcPr>
                </a:tc>
                <a:tc>
                  <a:txBody>
                    <a:bodyPr/>
                    <a:lstStyle/>
                    <a:p>
                      <a:pPr algn="ctr" indent="0" marL="0">
                        <a:buNone/>
                      </a:pPr>
                      <a:r>
                        <a:rPr lang="en-US" sz="1400" dirty="0">
                          <a:solidFill>
                            <a:schemeClr val="tx1"/>
                          </a:solidFill>
                        </a:rPr>
                        <a:t>0</a:t>
                      </a:r>
                      <a:endParaRPr lang="en-US" sz="1400" dirty="0"/>
                    </a:p>
                  </a:txBody>
                  <a:tcPr marL="45720" marR="4572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66928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Rows are the true class, columns what the detector said. Grey cells are correct detections; blue shading scales the off-diagonal counts. Missed means no detection overlapped the object. Source: Ultralytics confusion matrix, test split, overlap 0.45. False positives with no matching label are left out.</a:t>
            </a:r>
            <a:endParaRPr lang="en-US" sz="1100" dirty="0"/>
          </a:p>
        </p:txBody>
      </p:sp>
      <p:sp>
        <p:nvSpPr>
          <p:cNvPr id="7" name="Card: Plausible errors"/>
          <p:cNvSpPr/>
          <p:nvPr/>
        </p:nvSpPr>
        <p:spPr>
          <a:xfrm>
            <a:off x="8503920" y="1828800"/>
            <a:ext cx="3136392" cy="3657600"/>
          </a:xfrm>
          <a:prstGeom prst="roundRect">
            <a:avLst>
              <a:gd name="adj" fmla="val 2332"/>
            </a:avLst>
          </a:prstGeom>
          <a:solidFill>
            <a:schemeClr val="accent1">
              <a:alpha val="12000"/>
            </a:schemeClr>
          </a:solidFill>
          <a:ln/>
        </p:spPr>
      </p:sp>
      <p:sp>
        <p:nvSpPr>
          <p:cNvPr id="8" name="Dot"/>
          <p:cNvSpPr/>
          <p:nvPr/>
        </p:nvSpPr>
        <p:spPr>
          <a:xfrm>
            <a:off x="8732520" y="2103120"/>
            <a:ext cx="146304" cy="146304"/>
          </a:xfrm>
          <a:prstGeom prst="ellipse">
            <a:avLst/>
          </a:prstGeom>
          <a:solidFill>
            <a:schemeClr val="accent1"/>
          </a:solidFill>
          <a:ln/>
        </p:spPr>
      </p:sp>
      <p:sp>
        <p:nvSpPr>
          <p:cNvPr id="9" name="Text 5"/>
          <p:cNvSpPr txBox="1"/>
          <p:nvPr/>
        </p:nvSpPr>
        <p:spPr>
          <a:xfrm>
            <a:off x="9006840" y="2011680"/>
            <a:ext cx="2404872" cy="365760"/>
          </a:xfrm>
          <a:prstGeom prst="rect">
            <a:avLst/>
          </a:prstGeom>
          <a:noFill/>
          <a:ln/>
        </p:spPr>
        <p:txBody>
          <a:bodyPr wrap="square" lIns="0" tIns="0" rIns="0" bIns="0" rtlCol="0" anchor="t"/>
          <a:lstStyle/>
          <a:p>
            <a:pPr indent="0" marL="0">
              <a:buNone/>
            </a:pPr>
            <a:r>
              <a:rPr lang="en-US" sz="1800" b="1" dirty="0">
                <a:solidFill>
                  <a:schemeClr val="tx1"/>
                </a:solidFill>
              </a:rPr>
              <a:t>Plausible errors</a:t>
            </a:r>
            <a:endParaRPr lang="en-US" sz="1800" dirty="0"/>
          </a:p>
        </p:txBody>
      </p:sp>
      <p:sp>
        <p:nvSpPr>
          <p:cNvPr id="10" name="Text 6"/>
          <p:cNvSpPr txBox="1"/>
          <p:nvPr/>
        </p:nvSpPr>
        <p:spPr>
          <a:xfrm>
            <a:off x="8732520" y="2514600"/>
            <a:ext cx="2679192" cy="28346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14 initial markers called arrows</a:t>
            </a:r>
            <a:endParaRPr lang="en-US" sz="1600" dirty="0"/>
          </a:p>
          <a:p>
            <a:pPr marL="342900" indent="-342900">
              <a:spcAft>
                <a:spcPts val="800"/>
              </a:spcAft>
              <a:buSzPct val="100000"/>
              <a:buChar char="•"/>
            </a:pPr>
            <a:r>
              <a:rPr lang="en-US" sz="1500" dirty="0">
                <a:solidFill>
                  <a:schemeClr val="tx1"/>
                </a:solidFill>
              </a:rPr>
              <a:t>9 arrows called arrowheads</a:t>
            </a:r>
            <a:endParaRPr lang="en-US" sz="1600" dirty="0"/>
          </a:p>
          <a:p>
            <a:pPr marL="342900" indent="-342900">
              <a:spcAft>
                <a:spcPts val="800"/>
              </a:spcAft>
              <a:buSzPct val="100000"/>
              <a:buChar char="•"/>
            </a:pPr>
            <a:r>
              <a:rPr lang="en-US" sz="1500" dirty="0">
                <a:solidFill>
                  <a:schemeClr val="tx1"/>
                </a:solidFill>
              </a:rPr>
              <a:t>17 arrowheads missed</a:t>
            </a:r>
            <a:endParaRPr lang="en-US" sz="1600" dirty="0"/>
          </a:p>
          <a:p>
            <a:pPr marL="342900" indent="-342900">
              <a:spcAft>
                <a:spcPts val="800"/>
              </a:spcAft>
              <a:buSzPct val="100000"/>
              <a:buChar char="•"/>
            </a:pPr>
            <a:r>
              <a:rPr lang="en-US" sz="1500" dirty="0">
                <a:solidFill>
                  <a:schemeClr val="tx1"/>
                </a:solidFill>
              </a:rPr>
              <a:t>4 arrows missed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TRAINING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Training converged without overfitting</a:t>
            </a:r>
            <a:endParaRPr lang="en-US" sz="3400" dirty="0"/>
          </a:p>
        </p:txBody>
      </p:sp>
      <p:graphicFrame>
        <p:nvGraphicFramePr>
          <p:cNvPr id="5" name="Chart 0" descr=""/>
          <p:cNvGraphicFramePr/>
          <p:nvPr/>
        </p:nvGraphicFramePr>
        <p:xfrm>
          <a:off x="548640" y="1828800"/>
          <a:ext cx="548640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828800"/>
          <a:ext cx="5486400" cy="365760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66928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runs/detect/v2/results.csv. New model: 6 classes, 60 epochs, dataset_v2 validation split. All 60 epochs ran, since the early-stopping patience of 15 never triggered.</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TRAINING</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Run summary</a:t>
            </a:r>
            <a:endParaRPr lang="en-US" sz="3400" dirty="0"/>
          </a:p>
        </p:txBody>
      </p:sp>
      <p:sp>
        <p:nvSpPr>
          <p:cNvPr id="4" name="Text 2"/>
          <p:cNvSpPr txBox="1"/>
          <p:nvPr/>
        </p:nvSpPr>
        <p:spPr>
          <a:xfrm>
            <a:off x="548640" y="1783080"/>
            <a:ext cx="11091672" cy="365760"/>
          </a:xfrm>
          <a:prstGeom prst="rect">
            <a:avLst/>
          </a:prstGeom>
          <a:noFill/>
          <a:ln/>
        </p:spPr>
        <p:txBody>
          <a:bodyPr wrap="square" lIns="0" tIns="0" rIns="0" bIns="0" rtlCol="0" anchor="t"/>
          <a:lstStyle/>
          <a:p>
            <a:pPr indent="0" marL="0">
              <a:buNone/>
            </a:pPr>
            <a:r>
              <a:rPr lang="en-US" sz="1800" b="1" dirty="0">
                <a:solidFill>
                  <a:schemeClr val="tx1"/>
                </a:solidFill>
              </a:rPr>
              <a:t>New model, 6 classes</a:t>
            </a:r>
            <a:pPr indent="0" marL="0">
              <a:buNone/>
            </a:pPr>
            <a:r>
              <a:rPr lang="en-US" sz="1400" dirty="0">
                <a:solidFill>
                  <a:schemeClr val="tx2"/>
                </a:solidFill>
              </a:rPr>
              <a:t>    final box loss: training 0.337, validation 0.327</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91672" cy="914400"/>
        </p:xfrm>
        <a:graphic>
          <a:graphicData uri="http://schemas.openxmlformats.org/drawingml/2006/table">
            <a:tbl>
              <a:tblPr/>
              <a:tblGrid>
                <a:gridCol w="3291840"/>
                <a:gridCol w="1188720"/>
                <a:gridCol w="1737360"/>
                <a:gridCol w="1737360"/>
                <a:gridCol w="1554480"/>
                <a:gridCol w="1581912"/>
              </a:tblGrid>
              <a:tr h="347472">
                <a:tc>
                  <a:txBody>
                    <a:bodyPr/>
                    <a:lstStyle/>
                    <a:p>
                      <a:pPr algn="l" indent="0" marL="0">
                        <a:buNone/>
                      </a:pPr>
                      <a:r>
                        <a:rPr lang="en-US" sz="1400" b="1" dirty="0">
                          <a:solidFill>
                            <a:schemeClr val="bg1"/>
                          </a:solidFill>
                        </a:rPr>
                        <a:t>Point in training</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Precision</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Recall</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mAP@50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mAP@50-95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347472">
                <a:tc>
                  <a:txBody>
                    <a:bodyPr/>
                    <a:lstStyle/>
                    <a:p>
                      <a:pPr indent="0" marL="0">
                        <a:buNone/>
                      </a:pPr>
                      <a:r>
                        <a:rPr lang="en-US" sz="1400" dirty="0">
                          <a:solidFill>
                            <a:schemeClr val="tx1"/>
                          </a:solidFill>
                        </a:rPr>
                        <a:t>First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0.901</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0.927</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0.951</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0.725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400" dirty="0">
                          <a:solidFill>
                            <a:schemeClr val="tx1"/>
                          </a:solidFill>
                        </a:rPr>
                        <a:t>Best mAP@50-95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59</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0.997</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0.987</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0.933</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400" dirty="0">
                          <a:solidFill>
                            <a:schemeClr val="tx1"/>
                          </a:solidFill>
                        </a:rPr>
                        <a:t>Final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60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0.997</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0.988</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0.933</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6" name="Text 3"/>
          <p:cNvSpPr txBox="1"/>
          <p:nvPr/>
        </p:nvSpPr>
        <p:spPr>
          <a:xfrm>
            <a:off x="548640" y="3840480"/>
            <a:ext cx="11091672" cy="365760"/>
          </a:xfrm>
          <a:prstGeom prst="rect">
            <a:avLst/>
          </a:prstGeom>
          <a:noFill/>
          <a:ln/>
        </p:spPr>
        <p:txBody>
          <a:bodyPr wrap="square" lIns="0" tIns="0" rIns="0" bIns="0" rtlCol="0" anchor="t"/>
          <a:lstStyle/>
          <a:p>
            <a:pPr indent="0" marL="0">
              <a:buNone/>
            </a:pPr>
            <a:r>
              <a:rPr lang="en-US" sz="1800" b="1" dirty="0">
                <a:solidFill>
                  <a:schemeClr val="tx1"/>
                </a:solidFill>
              </a:rPr>
              <a:t>Original model, 2 classes</a:t>
            </a:r>
            <a:pPr indent="0" marL="0">
              <a:buNone/>
            </a:pPr>
            <a:r>
              <a:rPr lang="en-US" sz="1400" dirty="0">
                <a:solidFill>
                  <a:schemeClr val="tx2"/>
                </a:solidFill>
              </a:rPr>
              <a:t>    final box loss: training 0.203, validation 0.178</a:t>
            </a:r>
            <a:endParaRPr lang="en-US" sz="16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914400"/>
        </p:xfrm>
        <a:graphic>
          <a:graphicData uri="http://schemas.openxmlformats.org/drawingml/2006/table">
            <a:tbl>
              <a:tblPr/>
              <a:tblGrid>
                <a:gridCol w="3291840"/>
                <a:gridCol w="1188720"/>
                <a:gridCol w="1737360"/>
                <a:gridCol w="1737360"/>
                <a:gridCol w="1554480"/>
                <a:gridCol w="1581912"/>
              </a:tblGrid>
              <a:tr h="347472">
                <a:tc>
                  <a:txBody>
                    <a:bodyPr/>
                    <a:lstStyle/>
                    <a:p>
                      <a:pPr algn="l" indent="0" marL="0">
                        <a:buNone/>
                      </a:pPr>
                      <a:r>
                        <a:rPr lang="en-US" sz="1400" b="1" dirty="0">
                          <a:solidFill>
                            <a:schemeClr val="bg1"/>
                          </a:solidFill>
                        </a:rPr>
                        <a:t>Point in training</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Precision</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Recall</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mAP@50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400" b="1" dirty="0">
                          <a:solidFill>
                            <a:schemeClr val="bg1"/>
                          </a:solidFill>
                        </a:rPr>
                        <a:t>mAP@50-95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347472">
                <a:tc>
                  <a:txBody>
                    <a:bodyPr/>
                    <a:lstStyle/>
                    <a:p>
                      <a:pPr indent="0" marL="0">
                        <a:buNone/>
                      </a:pPr>
                      <a:r>
                        <a:rPr lang="en-US" sz="1400" dirty="0">
                          <a:solidFill>
                            <a:schemeClr val="tx1"/>
                          </a:solidFill>
                        </a:rPr>
                        <a:t>First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1</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0.024</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0.984</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0.798</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0.645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400" dirty="0">
                          <a:solidFill>
                            <a:schemeClr val="tx1"/>
                          </a:solidFill>
                        </a:rPr>
                        <a:t>Best mAP@50-95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47</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0.998</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0.992</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0.980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347472">
                <a:tc>
                  <a:txBody>
                    <a:bodyPr/>
                    <a:lstStyle/>
                    <a:p>
                      <a:pPr indent="0" marL="0">
                        <a:buNone/>
                      </a:pPr>
                      <a:r>
                        <a:rPr lang="en-US" sz="1400" dirty="0">
                          <a:solidFill>
                            <a:schemeClr val="tx1"/>
                          </a:solidFill>
                        </a:rPr>
                        <a:t>Final epoch</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50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1.000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0.990</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dirty="0">
                          <a:solidFill>
                            <a:schemeClr val="tx1"/>
                          </a:solidFill>
                        </a:rPr>
                        <a:t>0.995</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400" b="1" dirty="0">
                          <a:solidFill>
                            <a:schemeClr val="tx1"/>
                          </a:solidFill>
                        </a:rPr>
                        <a:t>0.978</a:t>
                      </a:r>
                      <a:endParaRPr lang="en-US" sz="14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8" name="Text 4"/>
          <p:cNvSpPr txBox="1"/>
          <p:nvPr/>
        </p:nvSpPr>
        <p:spPr>
          <a:xfrm>
            <a:off x="548640" y="598932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The two models ran on different machines, so their training times are not comparable.</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GRAPH RESULTS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Detector accuracy is not graph accuracy</a:t>
            </a:r>
            <a:endParaRPr lang="en-US" sz="3400" dirty="0"/>
          </a:p>
        </p:txBody>
      </p:sp>
      <p:sp>
        <p:nvSpPr>
          <p:cNvPr id="5" name="Text 2"/>
          <p:cNvSpPr txBox="1"/>
          <p:nvPr/>
        </p:nvSpPr>
        <p:spPr>
          <a:xfrm>
            <a:off x="548640" y="1783080"/>
            <a:ext cx="11091672" cy="731520"/>
          </a:xfrm>
          <a:prstGeom prst="rect">
            <a:avLst/>
          </a:prstGeom>
          <a:noFill/>
          <a:ln/>
        </p:spPr>
        <p:txBody>
          <a:bodyPr wrap="square" lIns="0" tIns="0" rIns="0" bIns="0" rtlCol="0" anchor="t"/>
          <a:lstStyle/>
          <a:p>
            <a:pPr indent="0" marL="0">
              <a:buNone/>
            </a:pPr>
            <a:r>
              <a:rPr lang="en-US" sz="1700" dirty="0">
                <a:solidFill>
                  <a:schemeClr val="tx1"/>
                </a:solidFill>
              </a:rPr>
              <a:t>Pipelines A and B use the same original detector. C uses the retrained one. Detection scores barely move, while the share of correctly rebuilt transitions changes almost threefold.</a:t>
            </a:r>
            <a:endParaRPr lang="en-US" sz="1700" dirty="0"/>
          </a:p>
        </p:txBody>
      </p:sp>
      <p:graphicFrame>
        <p:nvGraphicFramePr>
          <p:cNvPr id="6" name="Chart 0" descr=""/>
          <p:cNvGraphicFramePr/>
          <p:nvPr/>
        </p:nvGraphicFramePr>
        <p:xfrm>
          <a:off x="548640" y="2560320"/>
          <a:ext cx="11091672" cy="333756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94360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A and B mAP@50 from the original model's final validation epoch (2 classes, its own validation set). C from the test split (6 classes). The sets differ, so compare the pattern, not the third decimal. Transition F1 from outputs/eval_*.json.</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6"/>
                </a:solidFill>
              </a:rPr>
              <a:t>GRAPH RESULTS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bg1"/>
                </a:solidFill>
              </a:rPr>
              <a:t>Transition F1 on 360 held-out diagrams</a:t>
            </a:r>
            <a:endParaRPr lang="en-US" sz="3400" dirty="0"/>
          </a:p>
        </p:txBody>
      </p:sp>
      <p:sp>
        <p:nvSpPr>
          <p:cNvPr id="5" name="Pipeline A · Original"/>
          <p:cNvSpPr/>
          <p:nvPr/>
        </p:nvSpPr>
        <p:spPr>
          <a:xfrm>
            <a:off x="548640" y="1920240"/>
            <a:ext cx="3200400" cy="2926080"/>
          </a:xfrm>
          <a:prstGeom prst="roundRect">
            <a:avLst>
              <a:gd name="adj" fmla="val 2500"/>
            </a:avLst>
          </a:prstGeom>
          <a:solidFill>
            <a:schemeClr val="bg1">
              <a:alpha val="10000"/>
            </a:schemeClr>
          </a:solidFill>
          <a:ln/>
        </p:spPr>
      </p:sp>
      <p:sp>
        <p:nvSpPr>
          <p:cNvPr id="6" name="Text 3"/>
          <p:cNvSpPr txBox="1"/>
          <p:nvPr/>
        </p:nvSpPr>
        <p:spPr>
          <a:xfrm>
            <a:off x="822960" y="2148840"/>
            <a:ext cx="2651760" cy="365760"/>
          </a:xfrm>
          <a:prstGeom prst="rect">
            <a:avLst/>
          </a:prstGeom>
          <a:noFill/>
          <a:ln/>
        </p:spPr>
        <p:txBody>
          <a:bodyPr wrap="square" lIns="0" tIns="0" rIns="0" bIns="0" rtlCol="0" anchor="t"/>
          <a:lstStyle/>
          <a:p>
            <a:pPr indent="0" marL="0">
              <a:buNone/>
            </a:pPr>
            <a:r>
              <a:rPr lang="en-US" sz="1700" b="1" dirty="0">
                <a:solidFill>
                  <a:schemeClr val="bg1"/>
                </a:solidFill>
              </a:rPr>
              <a:t>A · Original</a:t>
            </a:r>
            <a:endParaRPr lang="en-US" sz="1700" dirty="0"/>
          </a:p>
        </p:txBody>
      </p:sp>
      <p:sp>
        <p:nvSpPr>
          <p:cNvPr id="7" name="Text 4"/>
          <p:cNvSpPr txBox="1"/>
          <p:nvPr/>
        </p:nvSpPr>
        <p:spPr>
          <a:xfrm>
            <a:off x="822960" y="2606040"/>
            <a:ext cx="2651760" cy="1188720"/>
          </a:xfrm>
          <a:prstGeom prst="rect">
            <a:avLst/>
          </a:prstGeom>
          <a:noFill/>
          <a:ln/>
        </p:spPr>
        <p:txBody>
          <a:bodyPr wrap="square" lIns="0" tIns="0" rIns="0" bIns="0" rtlCol="0" anchor="ctr"/>
          <a:lstStyle/>
          <a:p>
            <a:pPr indent="0" marL="0">
              <a:buNone/>
            </a:pPr>
            <a:r>
              <a:rPr lang="en-US" sz="7200" b="1" dirty="0">
                <a:solidFill>
                  <a:schemeClr val="bg1">
                    <a:alpha val="65000"/>
                  </a:schemeClr>
                </a:solidFill>
                <a:latin typeface="+mj-lt" pitchFamily="34" charset="0"/>
                <a:ea typeface="+mj-lt" pitchFamily="34" charset="-122"/>
                <a:cs typeface="+mj-lt" pitchFamily="34" charset="-120"/>
              </a:rPr>
              <a:t>0.32</a:t>
            </a:r>
            <a:endParaRPr lang="en-US" sz="7200" dirty="0"/>
          </a:p>
        </p:txBody>
      </p:sp>
      <p:sp>
        <p:nvSpPr>
          <p:cNvPr id="8" name="Text 5"/>
          <p:cNvSpPr txBox="1"/>
          <p:nvPr/>
        </p:nvSpPr>
        <p:spPr>
          <a:xfrm>
            <a:off x="822960" y="3931920"/>
            <a:ext cx="2651760" cy="822960"/>
          </a:xfrm>
          <a:prstGeom prst="rect">
            <a:avLst/>
          </a:prstGeom>
          <a:noFill/>
          <a:ln/>
        </p:spPr>
        <p:txBody>
          <a:bodyPr wrap="square" lIns="0" tIns="0" rIns="0" bIns="0" rtlCol="0" anchor="t"/>
          <a:lstStyle/>
          <a:p>
            <a:pPr indent="0" marL="0">
              <a:buNone/>
            </a:pPr>
            <a:r>
              <a:rPr lang="en-US" sz="1500" dirty="0">
                <a:solidFill>
                  <a:schemeClr val="bg1"/>
                </a:solidFill>
              </a:rPr>
              <a:t>Nearest-centre linking, 2 classes</a:t>
            </a:r>
            <a:endParaRPr lang="en-US" sz="1500" dirty="0"/>
          </a:p>
        </p:txBody>
      </p:sp>
      <p:sp>
        <p:nvSpPr>
          <p:cNvPr id="9" name="Arrow"/>
          <p:cNvSpPr/>
          <p:nvPr/>
        </p:nvSpPr>
        <p:spPr>
          <a:xfrm>
            <a:off x="3858768" y="3154680"/>
            <a:ext cx="525780" cy="411480"/>
          </a:xfrm>
          <a:prstGeom prst="rightArrow">
            <a:avLst/>
          </a:prstGeom>
          <a:solidFill>
            <a:schemeClr val="accent6"/>
          </a:solidFill>
          <a:ln/>
        </p:spPr>
      </p:sp>
      <p:sp>
        <p:nvSpPr>
          <p:cNvPr id="10" name="Pipeline B · Stroke tracing"/>
          <p:cNvSpPr/>
          <p:nvPr/>
        </p:nvSpPr>
        <p:spPr>
          <a:xfrm>
            <a:off x="4494276" y="1920240"/>
            <a:ext cx="3200400" cy="2926080"/>
          </a:xfrm>
          <a:prstGeom prst="roundRect">
            <a:avLst>
              <a:gd name="adj" fmla="val 2500"/>
            </a:avLst>
          </a:prstGeom>
          <a:solidFill>
            <a:schemeClr val="bg1">
              <a:alpha val="10000"/>
            </a:schemeClr>
          </a:solidFill>
          <a:ln/>
        </p:spPr>
      </p:sp>
      <p:sp>
        <p:nvSpPr>
          <p:cNvPr id="11" name="Text 8"/>
          <p:cNvSpPr txBox="1"/>
          <p:nvPr/>
        </p:nvSpPr>
        <p:spPr>
          <a:xfrm>
            <a:off x="4768596" y="2148840"/>
            <a:ext cx="2651760" cy="365760"/>
          </a:xfrm>
          <a:prstGeom prst="rect">
            <a:avLst/>
          </a:prstGeom>
          <a:noFill/>
          <a:ln/>
        </p:spPr>
        <p:txBody>
          <a:bodyPr wrap="square" lIns="0" tIns="0" rIns="0" bIns="0" rtlCol="0" anchor="t"/>
          <a:lstStyle/>
          <a:p>
            <a:pPr indent="0" marL="0">
              <a:buNone/>
            </a:pPr>
            <a:r>
              <a:rPr lang="en-US" sz="1700" b="1" dirty="0">
                <a:solidFill>
                  <a:schemeClr val="bg1"/>
                </a:solidFill>
              </a:rPr>
              <a:t>B · Stroke tracing</a:t>
            </a:r>
            <a:endParaRPr lang="en-US" sz="1700" dirty="0"/>
          </a:p>
        </p:txBody>
      </p:sp>
      <p:sp>
        <p:nvSpPr>
          <p:cNvPr id="12" name="Text 9"/>
          <p:cNvSpPr txBox="1"/>
          <p:nvPr/>
        </p:nvSpPr>
        <p:spPr>
          <a:xfrm>
            <a:off x="4768596" y="2606040"/>
            <a:ext cx="2651760" cy="1188720"/>
          </a:xfrm>
          <a:prstGeom prst="rect">
            <a:avLst/>
          </a:prstGeom>
          <a:noFill/>
          <a:ln/>
        </p:spPr>
        <p:txBody>
          <a:bodyPr wrap="square" lIns="0" tIns="0" rIns="0" bIns="0" rtlCol="0" anchor="ctr"/>
          <a:lstStyle/>
          <a:p>
            <a:pPr indent="0" marL="0">
              <a:buNone/>
            </a:pPr>
            <a:r>
              <a:rPr lang="en-US" sz="7200" b="1" dirty="0">
                <a:solidFill>
                  <a:schemeClr val="bg1">
                    <a:alpha val="65000"/>
                  </a:schemeClr>
                </a:solidFill>
                <a:latin typeface="+mj-lt" pitchFamily="34" charset="0"/>
                <a:ea typeface="+mj-lt" pitchFamily="34" charset="-122"/>
                <a:cs typeface="+mj-lt" pitchFamily="34" charset="-120"/>
              </a:rPr>
              <a:t>0.59</a:t>
            </a:r>
            <a:endParaRPr lang="en-US" sz="7200" dirty="0"/>
          </a:p>
        </p:txBody>
      </p:sp>
      <p:sp>
        <p:nvSpPr>
          <p:cNvPr id="13" name="Text 10"/>
          <p:cNvSpPr txBox="1"/>
          <p:nvPr/>
        </p:nvSpPr>
        <p:spPr>
          <a:xfrm>
            <a:off x="4768596" y="3931920"/>
            <a:ext cx="2651760" cy="822960"/>
          </a:xfrm>
          <a:prstGeom prst="rect">
            <a:avLst/>
          </a:prstGeom>
          <a:noFill/>
          <a:ln/>
        </p:spPr>
        <p:txBody>
          <a:bodyPr wrap="square" lIns="0" tIns="0" rIns="0" bIns="0" rtlCol="0" anchor="t"/>
          <a:lstStyle/>
          <a:p>
            <a:pPr indent="0" marL="0">
              <a:buNone/>
            </a:pPr>
            <a:r>
              <a:rPr lang="en-US" sz="1500" dirty="0">
                <a:solidFill>
                  <a:schemeClr val="bg1"/>
                </a:solidFill>
              </a:rPr>
              <a:t>Plus tracing, OCR and semantics, same detector</a:t>
            </a:r>
            <a:endParaRPr lang="en-US" sz="1500" dirty="0"/>
          </a:p>
        </p:txBody>
      </p:sp>
      <p:sp>
        <p:nvSpPr>
          <p:cNvPr id="14" name="Arrow"/>
          <p:cNvSpPr/>
          <p:nvPr/>
        </p:nvSpPr>
        <p:spPr>
          <a:xfrm>
            <a:off x="7804404" y="3154680"/>
            <a:ext cx="525780" cy="411480"/>
          </a:xfrm>
          <a:prstGeom prst="rightArrow">
            <a:avLst/>
          </a:prstGeom>
          <a:solidFill>
            <a:schemeClr val="accent6"/>
          </a:solidFill>
          <a:ln/>
        </p:spPr>
      </p:sp>
      <p:sp>
        <p:nvSpPr>
          <p:cNvPr id="15" name="Pipeline C · Retrained"/>
          <p:cNvSpPr/>
          <p:nvPr/>
        </p:nvSpPr>
        <p:spPr>
          <a:xfrm>
            <a:off x="8439912" y="1920240"/>
            <a:ext cx="3200400" cy="2926080"/>
          </a:xfrm>
          <a:prstGeom prst="roundRect">
            <a:avLst>
              <a:gd name="adj" fmla="val 2500"/>
            </a:avLst>
          </a:prstGeom>
          <a:solidFill>
            <a:schemeClr val="accent6">
              <a:alpha val="22000"/>
            </a:schemeClr>
          </a:solidFill>
          <a:ln w="25400">
            <a:solidFill>
              <a:srgbClr val="5FD0C9"/>
            </a:solidFill>
            <a:prstDash val="solid"/>
          </a:ln>
        </p:spPr>
      </p:sp>
      <p:sp>
        <p:nvSpPr>
          <p:cNvPr id="16" name="Text 13"/>
          <p:cNvSpPr txBox="1"/>
          <p:nvPr/>
        </p:nvSpPr>
        <p:spPr>
          <a:xfrm>
            <a:off x="8714232" y="2148840"/>
            <a:ext cx="2651760" cy="365760"/>
          </a:xfrm>
          <a:prstGeom prst="rect">
            <a:avLst/>
          </a:prstGeom>
          <a:noFill/>
          <a:ln/>
        </p:spPr>
        <p:txBody>
          <a:bodyPr wrap="square" lIns="0" tIns="0" rIns="0" bIns="0" rtlCol="0" anchor="t"/>
          <a:lstStyle/>
          <a:p>
            <a:pPr indent="0" marL="0">
              <a:buNone/>
            </a:pPr>
            <a:r>
              <a:rPr lang="en-US" sz="1700" b="1" dirty="0">
                <a:solidFill>
                  <a:schemeClr val="bg1"/>
                </a:solidFill>
              </a:rPr>
              <a:t>C · Retrained</a:t>
            </a:r>
            <a:endParaRPr lang="en-US" sz="1700" dirty="0"/>
          </a:p>
        </p:txBody>
      </p:sp>
      <p:sp>
        <p:nvSpPr>
          <p:cNvPr id="17" name="Text 14"/>
          <p:cNvSpPr txBox="1"/>
          <p:nvPr/>
        </p:nvSpPr>
        <p:spPr>
          <a:xfrm>
            <a:off x="8714232" y="2606040"/>
            <a:ext cx="2651760" cy="1188720"/>
          </a:xfrm>
          <a:prstGeom prst="rect">
            <a:avLst/>
          </a:prstGeom>
          <a:noFill/>
          <a:ln/>
        </p:spPr>
        <p:txBody>
          <a:bodyPr wrap="square" lIns="0" tIns="0" rIns="0" bIns="0" rtlCol="0" anchor="ctr"/>
          <a:lstStyle/>
          <a:p>
            <a:pPr indent="0" marL="0">
              <a:buNone/>
            </a:pPr>
            <a:r>
              <a:rPr lang="en-US" sz="7200" b="1" dirty="0">
                <a:solidFill>
                  <a:schemeClr val="accent6"/>
                </a:solidFill>
                <a:latin typeface="+mj-lt" pitchFamily="34" charset="0"/>
                <a:ea typeface="+mj-lt" pitchFamily="34" charset="-122"/>
                <a:cs typeface="+mj-lt" pitchFamily="34" charset="-120"/>
              </a:rPr>
              <a:t>0.93</a:t>
            </a:r>
            <a:endParaRPr lang="en-US" sz="7200" dirty="0"/>
          </a:p>
        </p:txBody>
      </p:sp>
      <p:sp>
        <p:nvSpPr>
          <p:cNvPr id="18" name="Text 15"/>
          <p:cNvSpPr txBox="1"/>
          <p:nvPr/>
        </p:nvSpPr>
        <p:spPr>
          <a:xfrm>
            <a:off x="8714232" y="3931920"/>
            <a:ext cx="2651760" cy="822960"/>
          </a:xfrm>
          <a:prstGeom prst="rect">
            <a:avLst/>
          </a:prstGeom>
          <a:noFill/>
          <a:ln/>
        </p:spPr>
        <p:txBody>
          <a:bodyPr wrap="square" lIns="0" tIns="0" rIns="0" bIns="0" rtlCol="0" anchor="t"/>
          <a:lstStyle/>
          <a:p>
            <a:pPr indent="0" marL="0">
              <a:buNone/>
            </a:pPr>
            <a:r>
              <a:rPr lang="en-US" sz="1500" dirty="0">
                <a:solidFill>
                  <a:schemeClr val="bg1"/>
                </a:solidFill>
              </a:rPr>
              <a:t>Plus the retrained 6-class detector</a:t>
            </a:r>
            <a:endParaRPr lang="en-US" sz="1500" dirty="0"/>
          </a:p>
        </p:txBody>
      </p:sp>
      <p:sp>
        <p:nvSpPr>
          <p:cNvPr id="19" name="Text 16"/>
          <p:cNvSpPr txBox="1"/>
          <p:nvPr/>
        </p:nvSpPr>
        <p:spPr>
          <a:xfrm>
            <a:off x="548640" y="5303520"/>
            <a:ext cx="11091672" cy="731520"/>
          </a:xfrm>
          <a:prstGeom prst="rect">
            <a:avLst/>
          </a:prstGeom>
          <a:noFill/>
          <a:ln/>
        </p:spPr>
        <p:txBody>
          <a:bodyPr wrap="square" lIns="0" tIns="0" rIns="0" bIns="0" rtlCol="0" anchor="t"/>
          <a:lstStyle/>
          <a:p>
            <a:pPr indent="0" marL="0">
              <a:buNone/>
            </a:pPr>
            <a:r>
              <a:rPr lang="en-US" sz="2800" b="1" dirty="0">
                <a:solidFill>
                  <a:schemeClr val="bg1"/>
                </a:solidFill>
                <a:latin typeface="+mj-lt" pitchFamily="34" charset="0"/>
                <a:ea typeface="+mj-lt" pitchFamily="34" charset="-122"/>
                <a:cs typeface="+mj-lt" pitchFamily="34" charset="-120"/>
              </a:rPr>
              <a:t>Algorithm change: +0.27. Better detector: +0.34. Both matter.</a:t>
            </a:r>
            <a:endParaRPr lang="en-US" sz="28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GRAPH RESULTS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Where the transitions went</a:t>
            </a:r>
            <a:endParaRPr lang="en-US" sz="3400" dirty="0"/>
          </a:p>
        </p:txBody>
      </p:sp>
      <p:graphicFrame>
        <p:nvGraphicFramePr>
          <p:cNvPr id="5" name="Chart 0" descr=""/>
          <p:cNvGraphicFramePr/>
          <p:nvPr/>
        </p:nvGraphicFramePr>
        <p:xfrm>
          <a:off x="548640" y="1828800"/>
          <a:ext cx="5486400" cy="37490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153912" y="1828800"/>
          <a:ext cx="5486400" cy="3749040"/>
        </p:xfrm>
        <a:graphic xmlns:a="http://schemas.openxmlformats.org/drawingml/2006/main">
          <a:graphicData uri="http://schemas.openxmlformats.org/drawingml/2006/chart">
            <c:chart xmlns:c="http://schemas.openxmlformats.org/drawingml/2006/chart" r:id="rId2"/>
          </a:graphicData>
        </a:graphic>
      </p:graphicFrame>
      <p:sp>
        <p:nvSpPr>
          <p:cNvPr id="7" name="Text 2"/>
          <p:cNvSpPr txBox="1"/>
          <p:nvPr/>
        </p:nvSpPr>
        <p:spPr>
          <a:xfrm>
            <a:off x="548640" y="5760720"/>
            <a:ext cx="11091672" cy="411480"/>
          </a:xfrm>
          <a:prstGeom prst="rect">
            <a:avLst/>
          </a:prstGeom>
          <a:noFill/>
          <a:ln/>
        </p:spPr>
        <p:txBody>
          <a:bodyPr wrap="square" lIns="0" tIns="0" rIns="0" bIns="0" rtlCol="0" anchor="t"/>
          <a:lstStyle/>
          <a:p>
            <a:pPr indent="0" marL="0">
              <a:buNone/>
            </a:pPr>
            <a:r>
              <a:rPr lang="en-US" sz="1100" dirty="0">
                <a:solidFill>
                  <a:schemeClr val="tx2">
                    <a:alpha val="75000"/>
                  </a:schemeClr>
                </a:solidFill>
              </a:rPr>
              <a:t>Source: counts in outputs/eval_*.json. A transition is correct only with the right pair of states and the right direction. Reversed means the right pair, wrong direction.</a:t>
            </a:r>
            <a:endParaRPr lang="en-US" sz="11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GRAPH RESULTS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Precision and recall by hand</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194560"/>
                <a:gridCol w="3566160"/>
                <a:gridCol w="1737360"/>
                <a:gridCol w="1737360"/>
                <a:gridCol w="1856232"/>
              </a:tblGrid>
              <a:tr h="475488">
                <a:tc>
                  <a:txBody>
                    <a:bodyPr/>
                    <a:lstStyle/>
                    <a:p>
                      <a:pPr algn="l" indent="0" marL="0">
                        <a:buNone/>
                      </a:pPr>
                      <a:r>
                        <a:rPr lang="en-US" sz="1600" b="1" dirty="0">
                          <a:solidFill>
                            <a:schemeClr val="bg1"/>
                          </a:solidFill>
                        </a:rPr>
                        <a:t>Quantity</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l" indent="0" marL="0">
                        <a:buNone/>
                      </a:pPr>
                      <a:r>
                        <a:rPr lang="en-US" sz="1600" b="1" dirty="0">
                          <a:solidFill>
                            <a:schemeClr val="bg1"/>
                          </a:solidFill>
                        </a:rPr>
                        <a:t>How it is computed</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A original</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B new linking</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600" b="1" dirty="0">
                          <a:solidFill>
                            <a:schemeClr val="bg1"/>
                          </a:solidFill>
                        </a:rPr>
                        <a:t>C new + detector</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475488">
                <a:tc>
                  <a:txBody>
                    <a:bodyPr/>
                    <a:lstStyle/>
                    <a:p>
                      <a:pPr indent="0" marL="0">
                        <a:buNone/>
                      </a:pPr>
                      <a:r>
                        <a:rPr lang="en-US" sz="1600" b="1" dirty="0">
                          <a:solidFill>
                            <a:schemeClr val="tx1"/>
                          </a:solidFill>
                        </a:rPr>
                        <a:t>True transitions</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Read from the ground truth</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1,268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1,268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1,268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75488">
                <a:tc>
                  <a:txBody>
                    <a:bodyPr/>
                    <a:lstStyle/>
                    <a:p>
                      <a:pPr indent="0" marL="0">
                        <a:buNone/>
                      </a:pPr>
                      <a:r>
                        <a:rPr lang="en-US" sz="1600" b="1" dirty="0">
                          <a:solidFill>
                            <a:schemeClr val="tx1"/>
                          </a:solidFill>
                        </a:rPr>
                        <a:t>Predicted transitions</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Everything the pipeline output</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1,660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920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1,212</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75488">
                <a:tc>
                  <a:txBody>
                    <a:bodyPr/>
                    <a:lstStyle/>
                    <a:p>
                      <a:pPr indent="0" marL="0">
                        <a:buNone/>
                      </a:pPr>
                      <a:r>
                        <a:rPr lang="en-US" sz="1600" b="1" dirty="0">
                          <a:solidFill>
                            <a:schemeClr val="tx1"/>
                          </a:solidFill>
                        </a:rPr>
                        <a:t>Correct (TP)</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Right states and right direction</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469</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640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1,151</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75488">
                <a:tc>
                  <a:txBody>
                    <a:bodyPr/>
                    <a:lstStyle/>
                    <a:p>
                      <a:pPr indent="0" marL="0">
                        <a:buNone/>
                      </a:pPr>
                      <a:r>
                        <a:rPr lang="en-US" sz="1600" b="1" dirty="0">
                          <a:solidFill>
                            <a:schemeClr val="tx1"/>
                          </a:solidFill>
                        </a:rPr>
                        <a:t>Precision</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TP / predicted</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0.283</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0.696</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0.950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75488">
                <a:tc>
                  <a:txBody>
                    <a:bodyPr/>
                    <a:lstStyle/>
                    <a:p>
                      <a:pPr indent="0" marL="0">
                        <a:buNone/>
                      </a:pPr>
                      <a:r>
                        <a:rPr lang="en-US" sz="1600" b="1" dirty="0">
                          <a:solidFill>
                            <a:schemeClr val="tx1"/>
                          </a:solidFill>
                        </a:rPr>
                        <a:t>Recall</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TP / true</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0.370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dirty="0">
                          <a:solidFill>
                            <a:schemeClr val="tx1"/>
                          </a:solidFill>
                        </a:rPr>
                        <a:t>0.505</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0.908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475488">
                <a:tc>
                  <a:txBody>
                    <a:bodyPr/>
                    <a:lstStyle/>
                    <a:p>
                      <a:pPr indent="0" marL="0">
                        <a:buNone/>
                      </a:pPr>
                      <a:r>
                        <a:rPr lang="en-US" sz="1600" b="1" dirty="0">
                          <a:solidFill>
                            <a:schemeClr val="tx1"/>
                          </a:solidFill>
                        </a:rPr>
                        <a:t>F1</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indent="0" marL="0">
                        <a:buNone/>
                      </a:pPr>
                      <a:r>
                        <a:rPr lang="en-US" sz="1600" dirty="0">
                          <a:solidFill>
                            <a:schemeClr val="tx2"/>
                          </a:solidFill>
                        </a:rPr>
                        <a:t>2 x P x R / (P + R)</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0.320</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0.585</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600" b="1" dirty="0">
                          <a:solidFill>
                            <a:schemeClr val="tx1"/>
                          </a:solidFill>
                        </a:rPr>
                        <a:t>0.928</a:t>
                      </a:r>
                      <a:endParaRPr lang="en-US" sz="1600" dirty="0"/>
                    </a:p>
                  </a:txBody>
                  <a:tcPr marL="91440" marR="91440" marT="27432" marB="27432"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6" name="Callout"/>
          <p:cNvSpPr/>
          <p:nvPr/>
        </p:nvSpPr>
        <p:spPr>
          <a:xfrm>
            <a:off x="548640" y="5394960"/>
            <a:ext cx="11091672" cy="822960"/>
          </a:xfrm>
          <a:prstGeom prst="roundRect">
            <a:avLst>
              <a:gd name="adj" fmla="val 8889"/>
            </a:avLst>
          </a:prstGeom>
          <a:solidFill>
            <a:schemeClr val="accent1">
              <a:alpha val="10000"/>
            </a:schemeClr>
          </a:solidFill>
          <a:ln/>
        </p:spPr>
      </p:sp>
      <p:sp>
        <p:nvSpPr>
          <p:cNvPr id="7" name="Text 3"/>
          <p:cNvSpPr txBox="1"/>
          <p:nvPr/>
        </p:nvSpPr>
        <p:spPr>
          <a:xfrm>
            <a:off x="822960" y="5394960"/>
            <a:ext cx="10543032" cy="822960"/>
          </a:xfrm>
          <a:prstGeom prst="rect">
            <a:avLst/>
          </a:prstGeom>
          <a:noFill/>
          <a:ln/>
        </p:spPr>
        <p:txBody>
          <a:bodyPr wrap="square" lIns="0" tIns="0" rIns="0" bIns="0" rtlCol="0" anchor="ctr"/>
          <a:lstStyle/>
          <a:p>
            <a:pPr indent="0" marL="0">
              <a:buNone/>
            </a:pPr>
            <a:r>
              <a:rPr lang="en-US" sz="1600" b="1" dirty="0">
                <a:solidFill>
                  <a:schemeClr val="tx1"/>
                </a:solidFill>
              </a:rPr>
              <a:t>Pipeline A over-predicted: </a:t>
            </a:r>
            <a:pPr indent="0" marL="0">
              <a:buNone/>
            </a:pPr>
            <a:r>
              <a:rPr lang="en-US" sz="1600" dirty="0">
                <a:solidFill>
                  <a:schemeClr val="tx1"/>
                </a:solidFill>
              </a:rPr>
              <a:t>1,660 transitions for 1,268 real ones. B was cautious at 920. C predicted 1,212 and got 1,151 right.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GRAPH RESULTS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Structure is strong, text is the weak spot</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4937760"/>
                <a:gridCol w="1828800"/>
                <a:gridCol w="2011680"/>
                <a:gridCol w="2313432"/>
              </a:tblGrid>
              <a:tr h="251460">
                <a:tc>
                  <a:txBody>
                    <a:bodyPr/>
                    <a:lstStyle/>
                    <a:p>
                      <a:pPr algn="l" indent="0" marL="0">
                        <a:buNone/>
                      </a:pPr>
                      <a:r>
                        <a:rPr lang="en-US" sz="1200" b="1" dirty="0">
                          <a:solidFill>
                            <a:schemeClr val="bg1"/>
                          </a:solidFill>
                        </a:rPr>
                        <a:t>Metric</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A original</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B new linking</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c>
                  <a:txBody>
                    <a:bodyPr/>
                    <a:lstStyle/>
                    <a:p>
                      <a:pPr algn="r" indent="0" marL="0">
                        <a:buNone/>
                      </a:pPr>
                      <a:r>
                        <a:rPr lang="en-US" sz="1200" b="1" dirty="0">
                          <a:solidFill>
                            <a:schemeClr val="bg1"/>
                          </a:solidFill>
                        </a:rPr>
                        <a:t>C new linking, new detector</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tx2"/>
                    </a:solidFill>
                  </a:tcPr>
                </a:tc>
              </a:tr>
              <a:tr h="251460">
                <a:tc>
                  <a:txBody>
                    <a:bodyPr/>
                    <a:lstStyle/>
                    <a:p>
                      <a:pPr indent="0" marL="0">
                        <a:buNone/>
                      </a:pPr>
                      <a:r>
                        <a:rPr lang="en-US" sz="1200" dirty="0">
                          <a:solidFill>
                            <a:schemeClr val="tx1"/>
                          </a:solidFill>
                        </a:rPr>
                        <a:t>State F1</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0.877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0.877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1.000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Transition precision</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0.282</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0.696</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0.950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Transition recall</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0.370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0.505</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0.908</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Transition F1, directed</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0.320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0.585</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0.928</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Transition F1, direction ignored</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0.486</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0.717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0.957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Endpoint accuracy</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0.614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0.793</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0.964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Initial-state accuracy</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0.519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0.983</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Final-state F1</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n/a</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0.279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0.997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State name read exactly</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0.835</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0.847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State name error rate (CER, lower is better)</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0.058</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0.052</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Label read exactly</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0.214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0.654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Label error rate (CER, lower is better)</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1.000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0.617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0.228</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Event exact</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0.254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0.747</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r h="251460">
                <a:tc>
                  <a:txBody>
                    <a:bodyPr/>
                    <a:lstStyle/>
                    <a:p>
                      <a:pPr indent="0" marL="0">
                        <a:buNone/>
                      </a:pPr>
                      <a:r>
                        <a:rPr lang="en-US" sz="1200" dirty="0">
                          <a:solidFill>
                            <a:schemeClr val="tx1"/>
                          </a:solidFill>
                        </a:rPr>
                        <a:t>Whole graph exact, structure only</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0.089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b="1" dirty="0">
                          <a:solidFill>
                            <a:schemeClr val="tx1"/>
                          </a:solidFill>
                        </a:rPr>
                        <a:t>0.719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r>
              <a:tr h="251460">
                <a:tc>
                  <a:txBody>
                    <a:bodyPr/>
                    <a:lstStyle/>
                    <a:p>
                      <a:pPr indent="0" marL="0">
                        <a:buNone/>
                      </a:pPr>
                      <a:r>
                        <a:rPr lang="en-US" sz="1200" dirty="0">
                          <a:solidFill>
                            <a:schemeClr val="tx1"/>
                          </a:solidFill>
                        </a:rPr>
                        <a:t>Whole graph exact, with all text</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dirty="0">
                          <a:solidFill>
                            <a:schemeClr val="tx1"/>
                          </a:solidFill>
                        </a:rPr>
                        <a:t>0.019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c>
                  <a:txBody>
                    <a:bodyPr/>
                    <a:lstStyle/>
                    <a:p>
                      <a:pPr algn="r" indent="0" marL="0">
                        <a:buNone/>
                      </a:pPr>
                      <a:r>
                        <a:rPr lang="en-US" sz="1200" b="1" dirty="0">
                          <a:solidFill>
                            <a:schemeClr val="tx1"/>
                          </a:solidFill>
                        </a:rPr>
                        <a:t>0.269</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solidFill>
                      <a:schemeClr val="accent4">
                        <a:alpha val="22000"/>
                      </a:schemeClr>
                    </a:solidFill>
                  </a:tcPr>
                </a:tc>
              </a:tr>
              <a:tr h="251460">
                <a:tc>
                  <a:txBody>
                    <a:bodyPr/>
                    <a:lstStyle/>
                    <a:p>
                      <a:pPr indent="0" marL="0">
                        <a:buNone/>
                      </a:pPr>
                      <a:r>
                        <a:rPr lang="en-US" sz="1200" dirty="0">
                          <a:solidFill>
                            <a:schemeClr val="tx1"/>
                          </a:solidFill>
                        </a:rPr>
                        <a:t>Generated code passes its tests</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dirty="0">
                          <a:solidFill>
                            <a:schemeClr val="tx1"/>
                          </a:solidFill>
                        </a:rPr>
                        <a:t>0.994</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c>
                  <a:txBody>
                    <a:bodyPr/>
                    <a:lstStyle/>
                    <a:p>
                      <a:pPr algn="r" indent="0" marL="0">
                        <a:buNone/>
                      </a:pPr>
                      <a:r>
                        <a:rPr lang="en-US" sz="1200" b="1" dirty="0">
                          <a:solidFill>
                            <a:schemeClr val="tx1"/>
                          </a:solidFill>
                        </a:rPr>
                        <a:t>1.000</a:t>
                      </a:r>
                      <a:endParaRPr lang="en-US" sz="1200" dirty="0"/>
                    </a:p>
                  </a:txBody>
                  <a:tcPr marL="91440" marR="91440" marT="9144" marB="9144" anchor="ctr">
                    <a:lnL w="9525" cap="flat" cmpd="sng" algn="ctr">
                      <a:solidFill>
                        <a:srgbClr val="D5DADD"/>
                      </a:solidFill>
                      <a:prstDash val="solid"/>
                      <a:round/>
                      <a:headEnd type="none" w="med" len="med"/>
                      <a:tailEnd type="none" w="med" len="med"/>
                    </a:lnL>
                    <a:lnR w="9525" cap="flat" cmpd="sng" algn="ctr">
                      <a:solidFill>
                        <a:srgbClr val="D5DADD"/>
                      </a:solidFill>
                      <a:prstDash val="solid"/>
                      <a:round/>
                      <a:headEnd type="none" w="med" len="med"/>
                      <a:tailEnd type="none" w="med" len="med"/>
                    </a:lnR>
                    <a:lnT w="9525" cap="flat" cmpd="sng" algn="ctr">
                      <a:solidFill>
                        <a:srgbClr val="D5DADD"/>
                      </a:solidFill>
                      <a:prstDash val="solid"/>
                      <a:round/>
                      <a:headEnd type="none" w="med" len="med"/>
                      <a:tailEnd type="none" w="med" len="med"/>
                    </a:lnT>
                    <a:lnB w="9525" cap="flat" cmpd="sng" algn="ctr">
                      <a:solidFill>
                        <a:srgbClr val="D5DADD"/>
                      </a:solidFill>
                      <a:prstDash val="solid"/>
                      <a:round/>
                      <a:headEnd type="none" w="med" len="med"/>
                      <a:tailEnd type="none" w="med" len="med"/>
                    </a:lnB>
                  </a:tcPr>
                </a:tc>
              </a:tr>
            </a:tbl>
          </a:graphicData>
        </a:graphic>
      </p:graphicFrame>
      <p:sp>
        <p:nvSpPr>
          <p:cNvPr id="6" name="Text 2"/>
          <p:cNvSpPr txBox="1"/>
          <p:nvPr/>
        </p:nvSpPr>
        <p:spPr>
          <a:xfrm>
            <a:off x="548640" y="6108192"/>
            <a:ext cx="11091672" cy="274320"/>
          </a:xfrm>
          <a:prstGeom prst="rect">
            <a:avLst/>
          </a:prstGeom>
          <a:noFill/>
          <a:ln/>
        </p:spPr>
        <p:txBody>
          <a:bodyPr wrap="square" lIns="0" tIns="0" rIns="0" bIns="0" rtlCol="0" anchor="t"/>
          <a:lstStyle/>
          <a:p>
            <a:pPr indent="0" marL="0">
              <a:buNone/>
            </a:pPr>
            <a:r>
              <a:rPr lang="en-US" sz="1000" dirty="0">
                <a:solidFill>
                  <a:schemeClr val="tx2"/>
                </a:solidFill>
              </a:rPr>
              <a:t>Source: outputs/eval_A, eval_B and eval_C json files, 360 test diagrams each. Error-rate rows (CER) are better when lower.</a:t>
            </a:r>
            <a:endParaRPr lang="en-US" sz="10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EDITOR</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A web editor, and a loop that learns from fixes</a:t>
            </a:r>
            <a:endParaRPr lang="en-US" sz="3400" dirty="0"/>
          </a:p>
        </p:txBody>
      </p:sp>
      <p:sp>
        <p:nvSpPr>
          <p:cNvPr id="5" name="Card: Editor"/>
          <p:cNvSpPr/>
          <p:nvPr/>
        </p:nvSpPr>
        <p:spPr>
          <a:xfrm>
            <a:off x="548640" y="1828800"/>
            <a:ext cx="5408676" cy="4297680"/>
          </a:xfrm>
          <a:prstGeom prst="roundRect">
            <a:avLst>
              <a:gd name="adj" fmla="val 1702"/>
            </a:avLst>
          </a:prstGeom>
          <a:solidFill>
            <a:schemeClr val="bg2"/>
          </a:solidFill>
          <a:ln/>
        </p:spPr>
      </p:sp>
      <p:sp>
        <p:nvSpPr>
          <p:cNvPr id="6" name="Dot"/>
          <p:cNvSpPr/>
          <p:nvPr/>
        </p:nvSpPr>
        <p:spPr>
          <a:xfrm>
            <a:off x="777240" y="2103120"/>
            <a:ext cx="146304" cy="146304"/>
          </a:xfrm>
          <a:prstGeom prst="ellipse">
            <a:avLst/>
          </a:prstGeom>
          <a:solidFill>
            <a:schemeClr val="accent1"/>
          </a:solidFill>
          <a:ln/>
        </p:spPr>
      </p:sp>
      <p:sp>
        <p:nvSpPr>
          <p:cNvPr id="7"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Editor</a:t>
            </a:r>
            <a:endParaRPr lang="en-US" sz="1800" dirty="0"/>
          </a:p>
        </p:txBody>
      </p:sp>
      <p:sp>
        <p:nvSpPr>
          <p:cNvPr id="8" name="Text 5"/>
          <p:cNvSpPr txBox="1"/>
          <p:nvPr/>
        </p:nvSpPr>
        <p:spPr>
          <a:xfrm>
            <a:off x="777240" y="2514600"/>
            <a:ext cx="4951476" cy="3474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Detections shown over the image, next to the rebuilt graph</a:t>
            </a:r>
            <a:endParaRPr lang="en-US" sz="1600" dirty="0"/>
          </a:p>
          <a:p>
            <a:pPr marL="342900" indent="-342900">
              <a:spcAft>
                <a:spcPts val="800"/>
              </a:spcAft>
              <a:buSzPct val="100000"/>
              <a:buChar char="•"/>
            </a:pPr>
            <a:r>
              <a:rPr lang="en-US" sz="1500" dirty="0">
                <a:solidFill>
                  <a:schemeClr val="tx1"/>
                </a:solidFill>
              </a:rPr>
              <a:t>Drag states, add transitions, reverse direction, undo and redo</a:t>
            </a:r>
            <a:endParaRPr lang="en-US" sz="1600" dirty="0"/>
          </a:p>
          <a:p>
            <a:pPr marL="342900" indent="-342900">
              <a:spcAft>
                <a:spcPts val="800"/>
              </a:spcAft>
              <a:buSzPct val="100000"/>
              <a:buChar char="•"/>
            </a:pPr>
            <a:r>
              <a:rPr lang="en-US" sz="1500" dirty="0">
                <a:solidFill>
                  <a:schemeClr val="tx1"/>
                </a:solidFill>
              </a:rPr>
              <a:t>Uncertain items are amber and dashed, and the Issues tab lists them</a:t>
            </a:r>
            <a:endParaRPr lang="en-US" sz="1600" dirty="0"/>
          </a:p>
          <a:p>
            <a:pPr marL="342900" indent="-342900">
              <a:spcAft>
                <a:spcPts val="800"/>
              </a:spcAft>
              <a:buSzPct val="100000"/>
              <a:buChar char="•"/>
            </a:pPr>
            <a:r>
              <a:rPr lang="en-US" sz="1500" dirty="0">
                <a:solidFill>
                  <a:schemeClr val="tx1"/>
                </a:solidFill>
              </a:rPr>
              <a:t>Edits to the JSON are validated before they are accepted</a:t>
            </a:r>
            <a:endParaRPr lang="en-US" sz="1600" dirty="0"/>
          </a:p>
          <a:p>
            <a:pPr marL="342900" indent="-342900">
              <a:spcAft>
                <a:spcPts val="800"/>
              </a:spcAft>
              <a:buSzPct val="100000"/>
              <a:buChar char="•"/>
            </a:pPr>
            <a:r>
              <a:rPr lang="en-US" sz="1500" dirty="0">
                <a:solidFill>
                  <a:schemeClr val="tx1"/>
                </a:solidFill>
              </a:rPr>
              <a:t>The Code tab marks generated code stale after any change</a:t>
            </a:r>
            <a:endParaRPr lang="en-US" sz="1600" dirty="0"/>
          </a:p>
        </p:txBody>
      </p:sp>
      <p:sp>
        <p:nvSpPr>
          <p:cNvPr id="9" name="Card: Correction loop"/>
          <p:cNvSpPr/>
          <p:nvPr/>
        </p:nvSpPr>
        <p:spPr>
          <a:xfrm>
            <a:off x="6231636" y="1828800"/>
            <a:ext cx="5408676" cy="4297680"/>
          </a:xfrm>
          <a:prstGeom prst="roundRect">
            <a:avLst>
              <a:gd name="adj" fmla="val 1702"/>
            </a:avLst>
          </a:prstGeom>
          <a:solidFill>
            <a:schemeClr val="accent1">
              <a:alpha val="12000"/>
            </a:schemeClr>
          </a:solidFill>
          <a:ln/>
        </p:spPr>
      </p:sp>
      <p:sp>
        <p:nvSpPr>
          <p:cNvPr id="10" name="Dot"/>
          <p:cNvSpPr/>
          <p:nvPr/>
        </p:nvSpPr>
        <p:spPr>
          <a:xfrm>
            <a:off x="6460236" y="2103120"/>
            <a:ext cx="146304" cy="146304"/>
          </a:xfrm>
          <a:prstGeom prst="ellipse">
            <a:avLst/>
          </a:prstGeom>
          <a:solidFill>
            <a:schemeClr val="accent1"/>
          </a:solidFill>
          <a:ln/>
        </p:spPr>
      </p:sp>
      <p:sp>
        <p:nvSpPr>
          <p:cNvPr id="11" name="Text 8"/>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Correction loop</a:t>
            </a:r>
            <a:endParaRPr lang="en-US" sz="1800" dirty="0"/>
          </a:p>
        </p:txBody>
      </p:sp>
      <p:sp>
        <p:nvSpPr>
          <p:cNvPr id="12" name="Text 9"/>
          <p:cNvSpPr txBox="1"/>
          <p:nvPr/>
        </p:nvSpPr>
        <p:spPr>
          <a:xfrm>
            <a:off x="6460236" y="2560320"/>
            <a:ext cx="4951476" cy="33832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chemeClr val="tx1"/>
                </a:solidFill>
              </a:rPr>
              <a:t>Predict and review the graph</a:t>
            </a:r>
            <a:endParaRPr lang="en-US" sz="1600" dirty="0"/>
          </a:p>
          <a:p>
            <a:pPr marL="342900" indent="-342900">
              <a:spcAft>
                <a:spcPts val="800"/>
              </a:spcAft>
              <a:buSzPct val="100000"/>
              <a:buFont typeface="+mj-lt"/>
              <a:buAutoNum type="arabicPeriod" startAt="1"/>
            </a:pPr>
            <a:r>
              <a:rPr lang="en-US" sz="1500" dirty="0">
                <a:solidFill>
                  <a:schemeClr val="tx1"/>
                </a:solidFill>
              </a:rPr>
              <a:t>Fix it and click Save correction</a:t>
            </a:r>
            <a:endParaRPr lang="en-US" sz="1600" dirty="0"/>
          </a:p>
          <a:p>
            <a:pPr marL="342900" indent="-342900">
              <a:spcAft>
                <a:spcPts val="800"/>
              </a:spcAft>
              <a:buSzPct val="100000"/>
              <a:buFont typeface="+mj-lt"/>
              <a:buAutoNum type="arabicPeriod" startAt="1"/>
            </a:pPr>
            <a:r>
              <a:rPr lang="en-US" sz="1500" dirty="0">
                <a:solidFill>
                  <a:schemeClr val="tx1"/>
                </a:solidFill>
              </a:rPr>
              <a:t>Export corrections as YOLO labels</a:t>
            </a:r>
            <a:endParaRPr lang="en-US" sz="1600" dirty="0"/>
          </a:p>
          <a:p>
            <a:pPr marL="342900" indent="-342900">
              <a:spcAft>
                <a:spcPts val="800"/>
              </a:spcAft>
              <a:buSzPct val="100000"/>
              <a:buFont typeface="+mj-lt"/>
              <a:buAutoNum type="arabicPeriod" startAt="1"/>
            </a:pPr>
            <a:r>
              <a:rPr lang="en-US" sz="1500" dirty="0">
                <a:solidFill>
                  <a:schemeClr val="tx1"/>
                </a:solidFill>
              </a:rPr>
              <a:t>Fine-tune the detector</a:t>
            </a:r>
            <a:endParaRPr lang="en-US" sz="1600" dirty="0"/>
          </a:p>
          <a:p>
            <a:pPr marL="342900" indent="-342900">
              <a:spcAft>
                <a:spcPts val="800"/>
              </a:spcAft>
              <a:buSzPct val="100000"/>
              <a:buFont typeface="+mj-lt"/>
              <a:buAutoNum type="arabicPeriod" startAt="1"/>
            </a:pPr>
            <a:r>
              <a:rPr lang="en-US" sz="1500" dirty="0">
                <a:solidFill>
                  <a:schemeClr val="tx1"/>
                </a:solidFill>
              </a:rPr>
              <a:t>Measure on held-out corrections that were never trained on</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WRAP-UP</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the numbers do not claim</a:t>
            </a:r>
            <a:endParaRPr lang="en-US" sz="3400" dirty="0"/>
          </a:p>
        </p:txBody>
      </p:sp>
      <p:sp>
        <p:nvSpPr>
          <p:cNvPr id="5" name="Card: Synthetic data only"/>
          <p:cNvSpPr/>
          <p:nvPr/>
        </p:nvSpPr>
        <p:spPr>
          <a:xfrm>
            <a:off x="548640" y="1828800"/>
            <a:ext cx="5408676" cy="2103120"/>
          </a:xfrm>
          <a:prstGeom prst="roundRect">
            <a:avLst>
              <a:gd name="adj" fmla="val 3478"/>
            </a:avLst>
          </a:prstGeom>
          <a:solidFill>
            <a:schemeClr val="accent4">
              <a:alpha val="20000"/>
            </a:schemeClr>
          </a:solidFill>
          <a:ln/>
        </p:spPr>
      </p:sp>
      <p:sp>
        <p:nvSpPr>
          <p:cNvPr id="6" name="Dot"/>
          <p:cNvSpPr/>
          <p:nvPr/>
        </p:nvSpPr>
        <p:spPr>
          <a:xfrm>
            <a:off x="777240" y="2103120"/>
            <a:ext cx="146304" cy="146304"/>
          </a:xfrm>
          <a:prstGeom prst="ellipse">
            <a:avLst/>
          </a:prstGeom>
          <a:solidFill>
            <a:schemeClr val="accent4"/>
          </a:solidFill>
          <a:ln/>
        </p:spPr>
      </p:sp>
      <p:sp>
        <p:nvSpPr>
          <p:cNvPr id="7"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Synthetic data only</a:t>
            </a:r>
            <a:endParaRPr lang="en-US" sz="1800" dirty="0"/>
          </a:p>
        </p:txBody>
      </p:sp>
      <p:sp>
        <p:nvSpPr>
          <p:cNvPr id="8" name="Text 5"/>
          <p:cNvSpPr txBox="1"/>
          <p:nvPr/>
        </p:nvSpPr>
        <p:spPr>
          <a:xfrm>
            <a:off x="777240" y="2514600"/>
            <a:ext cx="4951476" cy="1280160"/>
          </a:xfrm>
          <a:prstGeom prst="rect">
            <a:avLst/>
          </a:prstGeom>
          <a:noFill/>
          <a:ln/>
        </p:spPr>
        <p:txBody>
          <a:bodyPr wrap="square" lIns="0" tIns="0" rIns="0" bIns="0" rtlCol="0" anchor="t"/>
          <a:lstStyle/>
          <a:p>
            <a:pPr indent="0" marL="0">
              <a:buNone/>
            </a:pPr>
            <a:r>
              <a:rPr lang="en-US" sz="1600" dirty="0">
                <a:solidFill>
                  <a:schemeClr val="tx1"/>
                </a:solidFill>
              </a:rPr>
              <a:t>Photos and handwriting are out of distribution. No real corrections have been trained on yet.</a:t>
            </a:r>
            <a:endParaRPr lang="en-US" sz="1600" dirty="0"/>
          </a:p>
        </p:txBody>
      </p:sp>
      <p:sp>
        <p:nvSpPr>
          <p:cNvPr id="9" name="Card: Label OCR is the weakest stage"/>
          <p:cNvSpPr/>
          <p:nvPr/>
        </p:nvSpPr>
        <p:spPr>
          <a:xfrm>
            <a:off x="6231636" y="1828800"/>
            <a:ext cx="5408676" cy="2103120"/>
          </a:xfrm>
          <a:prstGeom prst="roundRect">
            <a:avLst>
              <a:gd name="adj" fmla="val 3478"/>
            </a:avLst>
          </a:prstGeom>
          <a:solidFill>
            <a:schemeClr val="accent4">
              <a:alpha val="20000"/>
            </a:schemeClr>
          </a:solidFill>
          <a:ln/>
        </p:spPr>
      </p:sp>
      <p:sp>
        <p:nvSpPr>
          <p:cNvPr id="10" name="Dot"/>
          <p:cNvSpPr/>
          <p:nvPr/>
        </p:nvSpPr>
        <p:spPr>
          <a:xfrm>
            <a:off x="6460236" y="2103120"/>
            <a:ext cx="146304" cy="146304"/>
          </a:xfrm>
          <a:prstGeom prst="ellipse">
            <a:avLst/>
          </a:prstGeom>
          <a:solidFill>
            <a:schemeClr val="accent4"/>
          </a:solidFill>
          <a:ln/>
        </p:spPr>
      </p:sp>
      <p:sp>
        <p:nvSpPr>
          <p:cNvPr id="11" name="Text 8"/>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Label OCR is the weakest stage</a:t>
            </a:r>
            <a:endParaRPr lang="en-US" sz="1800" dirty="0"/>
          </a:p>
        </p:txBody>
      </p:sp>
      <p:sp>
        <p:nvSpPr>
          <p:cNvPr id="12" name="Text 9"/>
          <p:cNvSpPr txBox="1"/>
          <p:nvPr/>
        </p:nvSpPr>
        <p:spPr>
          <a:xfrm>
            <a:off x="6460236" y="2514600"/>
            <a:ext cx="4951476" cy="1280160"/>
          </a:xfrm>
          <a:prstGeom prst="rect">
            <a:avLst/>
          </a:prstGeom>
          <a:noFill/>
          <a:ln/>
        </p:spPr>
        <p:txBody>
          <a:bodyPr wrap="square" lIns="0" tIns="0" rIns="0" bIns="0" rtlCol="0" anchor="t"/>
          <a:lstStyle/>
          <a:p>
            <a:pPr indent="0" marL="0">
              <a:buNone/>
            </a:pPr>
            <a:r>
              <a:rPr lang="en-US" sz="1600" dirty="0">
                <a:solidFill>
                  <a:schemeClr val="tx1"/>
                </a:solidFill>
              </a:rPr>
              <a:t>65 percent of labels are read exactly. A misread guard changes behaviour, so review guards.</a:t>
            </a:r>
            <a:endParaRPr lang="en-US" sz="1600" dirty="0"/>
          </a:p>
        </p:txBody>
      </p:sp>
      <p:sp>
        <p:nvSpPr>
          <p:cNvPr id="13" name="Card: Hard association cases"/>
          <p:cNvSpPr/>
          <p:nvPr/>
        </p:nvSpPr>
        <p:spPr>
          <a:xfrm>
            <a:off x="548640" y="4114800"/>
            <a:ext cx="5408676" cy="2103120"/>
          </a:xfrm>
          <a:prstGeom prst="roundRect">
            <a:avLst>
              <a:gd name="adj" fmla="val 3478"/>
            </a:avLst>
          </a:prstGeom>
          <a:solidFill>
            <a:schemeClr val="accent4">
              <a:alpha val="20000"/>
            </a:schemeClr>
          </a:solidFill>
          <a:ln/>
        </p:spPr>
      </p:sp>
      <p:sp>
        <p:nvSpPr>
          <p:cNvPr id="14" name="Dot"/>
          <p:cNvSpPr/>
          <p:nvPr/>
        </p:nvSpPr>
        <p:spPr>
          <a:xfrm>
            <a:off x="777240" y="4389120"/>
            <a:ext cx="146304" cy="146304"/>
          </a:xfrm>
          <a:prstGeom prst="ellipse">
            <a:avLst/>
          </a:prstGeom>
          <a:solidFill>
            <a:schemeClr val="accent4"/>
          </a:solidFill>
          <a:ln/>
        </p:spPr>
      </p:sp>
      <p:sp>
        <p:nvSpPr>
          <p:cNvPr id="15" name="Text 12"/>
          <p:cNvSpPr txBox="1"/>
          <p:nvPr/>
        </p:nvSpPr>
        <p:spPr>
          <a:xfrm>
            <a:off x="1051560" y="4297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Hard association cases</a:t>
            </a:r>
            <a:endParaRPr lang="en-US" sz="1800" dirty="0"/>
          </a:p>
        </p:txBody>
      </p:sp>
      <p:sp>
        <p:nvSpPr>
          <p:cNvPr id="16" name="Text 13"/>
          <p:cNvSpPr txBox="1"/>
          <p:nvPr/>
        </p:nvSpPr>
        <p:spPr>
          <a:xfrm>
            <a:off x="777240" y="4800600"/>
            <a:ext cx="4951476" cy="1280160"/>
          </a:xfrm>
          <a:prstGeom prst="rect">
            <a:avLst/>
          </a:prstGeom>
          <a:noFill/>
          <a:ln/>
        </p:spPr>
        <p:txBody>
          <a:bodyPr wrap="square" lIns="0" tIns="0" rIns="0" bIns="0" rtlCol="0" anchor="t"/>
          <a:lstStyle/>
          <a:p>
            <a:pPr indent="0" marL="0">
              <a:buNone/>
            </a:pPr>
            <a:r>
              <a:rPr lang="en-US" sz="1600" dirty="0">
                <a:solidFill>
                  <a:schemeClr val="tx1"/>
                </a:solidFill>
              </a:rPr>
              <a:t>Shallow crossings, arrows under text and tiny self-loops. Flagged when detected, not always.</a:t>
            </a:r>
            <a:endParaRPr lang="en-US" sz="1600" dirty="0"/>
          </a:p>
        </p:txBody>
      </p:sp>
      <p:sp>
        <p:nvSpPr>
          <p:cNvPr id="17" name="Card: Scope of verification"/>
          <p:cNvSpPr/>
          <p:nvPr/>
        </p:nvSpPr>
        <p:spPr>
          <a:xfrm>
            <a:off x="6231636" y="4114800"/>
            <a:ext cx="5408676" cy="2103120"/>
          </a:xfrm>
          <a:prstGeom prst="roundRect">
            <a:avLst>
              <a:gd name="adj" fmla="val 3478"/>
            </a:avLst>
          </a:prstGeom>
          <a:solidFill>
            <a:schemeClr val="accent4">
              <a:alpha val="20000"/>
            </a:schemeClr>
          </a:solidFill>
          <a:ln/>
        </p:spPr>
      </p:sp>
      <p:sp>
        <p:nvSpPr>
          <p:cNvPr id="18" name="Dot"/>
          <p:cNvSpPr/>
          <p:nvPr/>
        </p:nvSpPr>
        <p:spPr>
          <a:xfrm>
            <a:off x="6460236" y="4389120"/>
            <a:ext cx="146304" cy="146304"/>
          </a:xfrm>
          <a:prstGeom prst="ellipse">
            <a:avLst/>
          </a:prstGeom>
          <a:solidFill>
            <a:schemeClr val="accent4"/>
          </a:solidFill>
          <a:ln/>
        </p:spPr>
      </p:sp>
      <p:sp>
        <p:nvSpPr>
          <p:cNvPr id="19" name="Text 16"/>
          <p:cNvSpPr txBox="1"/>
          <p:nvPr/>
        </p:nvSpPr>
        <p:spPr>
          <a:xfrm>
            <a:off x="6734556" y="4297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Scope of verification</a:t>
            </a:r>
            <a:endParaRPr lang="en-US" sz="1800" dirty="0"/>
          </a:p>
        </p:txBody>
      </p:sp>
      <p:sp>
        <p:nvSpPr>
          <p:cNvPr id="20" name="Text 17"/>
          <p:cNvSpPr txBox="1"/>
          <p:nvPr/>
        </p:nvSpPr>
        <p:spPr>
          <a:xfrm>
            <a:off x="6460236" y="4800600"/>
            <a:ext cx="4951476" cy="1280160"/>
          </a:xfrm>
          <a:prstGeom prst="rect">
            <a:avLst/>
          </a:prstGeom>
          <a:noFill/>
          <a:ln/>
        </p:spPr>
        <p:txBody>
          <a:bodyPr wrap="square" lIns="0" tIns="0" rIns="0" bIns="0" rtlCol="0" anchor="t"/>
          <a:lstStyle/>
          <a:p>
            <a:pPr indent="0" marL="0">
              <a:buNone/>
            </a:pPr>
            <a:r>
              <a:rPr lang="en-US" sz="1600" dirty="0">
                <a:solidFill>
                  <a:schemeClr val="tx1"/>
                </a:solidFill>
              </a:rPr>
              <a:t>Only Python is executed and checked. The sandbox is process isolation, not a container.</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WRAP-UP</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we used and what we built</a:t>
            </a:r>
            <a:endParaRPr lang="en-US" sz="3400" dirty="0"/>
          </a:p>
        </p:txBody>
      </p:sp>
      <p:sp>
        <p:nvSpPr>
          <p:cNvPr id="4" name="Card: Used off the shelf"/>
          <p:cNvSpPr/>
          <p:nvPr/>
        </p:nvSpPr>
        <p:spPr>
          <a:xfrm>
            <a:off x="548640" y="1828800"/>
            <a:ext cx="5408676" cy="4206240"/>
          </a:xfrm>
          <a:prstGeom prst="roundRect">
            <a:avLst>
              <a:gd name="adj" fmla="val 1739"/>
            </a:avLst>
          </a:prstGeom>
          <a:solidFill>
            <a:schemeClr val="bg2"/>
          </a:solidFill>
          <a:ln/>
        </p:spPr>
      </p:sp>
      <p:sp>
        <p:nvSpPr>
          <p:cNvPr id="5" name="Dot"/>
          <p:cNvSpPr/>
          <p:nvPr/>
        </p:nvSpPr>
        <p:spPr>
          <a:xfrm>
            <a:off x="777240" y="2103120"/>
            <a:ext cx="146304" cy="146304"/>
          </a:xfrm>
          <a:prstGeom prst="ellipse">
            <a:avLst/>
          </a:prstGeom>
          <a:solidFill>
            <a:schemeClr val="accent1"/>
          </a:solidFill>
          <a:ln/>
        </p:spPr>
      </p:sp>
      <p:sp>
        <p:nvSpPr>
          <p:cNvPr id="6" name="Text 4"/>
          <p:cNvSpPr txBox="1"/>
          <p:nvPr/>
        </p:nvSpPr>
        <p:spPr>
          <a:xfrm>
            <a:off x="1051560"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Used off the shelf</a:t>
            </a:r>
            <a:endParaRPr lang="en-US" sz="1800" dirty="0"/>
          </a:p>
        </p:txBody>
      </p:sp>
      <p:sp>
        <p:nvSpPr>
          <p:cNvPr id="7" name="Text 5"/>
          <p:cNvSpPr txBox="1"/>
          <p:nvPr/>
        </p:nvSpPr>
        <p:spPr>
          <a:xfrm>
            <a:off x="777240" y="2514600"/>
            <a:ext cx="4951476"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YOLO11n from Ultralytics</a:t>
            </a:r>
            <a:endParaRPr lang="en-US" sz="1600" dirty="0"/>
          </a:p>
          <a:p>
            <a:pPr marL="342900" indent="-342900">
              <a:spcAft>
                <a:spcPts val="800"/>
              </a:spcAft>
              <a:buSzPct val="100000"/>
              <a:buChar char="•"/>
            </a:pPr>
            <a:r>
              <a:rPr lang="en-US" sz="1600" dirty="0">
                <a:solidFill>
                  <a:schemeClr val="tx1"/>
                </a:solidFill>
              </a:rPr>
              <a:t>Tesseract OCR</a:t>
            </a:r>
            <a:endParaRPr lang="en-US" sz="1600" dirty="0"/>
          </a:p>
          <a:p>
            <a:pPr marL="342900" indent="-342900">
              <a:spcAft>
                <a:spcPts val="800"/>
              </a:spcAft>
              <a:buSzPct val="100000"/>
              <a:buChar char="•"/>
            </a:pPr>
            <a:r>
              <a:rPr lang="en-US" sz="1600" dirty="0">
                <a:solidFill>
                  <a:schemeClr val="tx1"/>
                </a:solidFill>
              </a:rPr>
              <a:t>OpenCV and SciPy primitives</a:t>
            </a:r>
            <a:endParaRPr lang="en-US" sz="1600" dirty="0"/>
          </a:p>
          <a:p>
            <a:pPr marL="342900" indent="-342900">
              <a:spcAft>
                <a:spcPts val="800"/>
              </a:spcAft>
              <a:buSzPct val="100000"/>
              <a:buChar char="•"/>
            </a:pPr>
            <a:r>
              <a:rPr lang="en-US" sz="1600" dirty="0">
                <a:solidFill>
                  <a:schemeClr val="tx1"/>
                </a:solidFill>
              </a:rPr>
              <a:t>Gemini API (optional)</a:t>
            </a:r>
            <a:endParaRPr lang="en-US" sz="1600" dirty="0"/>
          </a:p>
        </p:txBody>
      </p:sp>
      <p:sp>
        <p:nvSpPr>
          <p:cNvPr id="8" name="Card: Built by us"/>
          <p:cNvSpPr/>
          <p:nvPr/>
        </p:nvSpPr>
        <p:spPr>
          <a:xfrm>
            <a:off x="6231636" y="1828800"/>
            <a:ext cx="5408676" cy="4206240"/>
          </a:xfrm>
          <a:prstGeom prst="roundRect">
            <a:avLst>
              <a:gd name="adj" fmla="val 1739"/>
            </a:avLst>
          </a:prstGeom>
          <a:solidFill>
            <a:schemeClr val="accent1">
              <a:alpha val="12000"/>
            </a:schemeClr>
          </a:solidFill>
          <a:ln/>
        </p:spPr>
      </p:sp>
      <p:sp>
        <p:nvSpPr>
          <p:cNvPr id="9" name="Dot"/>
          <p:cNvSpPr/>
          <p:nvPr/>
        </p:nvSpPr>
        <p:spPr>
          <a:xfrm>
            <a:off x="6460236" y="2103120"/>
            <a:ext cx="146304" cy="146304"/>
          </a:xfrm>
          <a:prstGeom prst="ellipse">
            <a:avLst/>
          </a:prstGeom>
          <a:solidFill>
            <a:schemeClr val="accent1"/>
          </a:solidFill>
          <a:ln/>
        </p:spPr>
      </p:sp>
      <p:sp>
        <p:nvSpPr>
          <p:cNvPr id="10" name="Text 8"/>
          <p:cNvSpPr txBox="1"/>
          <p:nvPr/>
        </p:nvSpPr>
        <p:spPr>
          <a:xfrm>
            <a:off x="6734556" y="2011680"/>
            <a:ext cx="4677156" cy="365760"/>
          </a:xfrm>
          <a:prstGeom prst="rect">
            <a:avLst/>
          </a:prstGeom>
          <a:noFill/>
          <a:ln/>
        </p:spPr>
        <p:txBody>
          <a:bodyPr wrap="square" lIns="0" tIns="0" rIns="0" bIns="0" rtlCol="0" anchor="t"/>
          <a:lstStyle/>
          <a:p>
            <a:pPr indent="0" marL="0">
              <a:buNone/>
            </a:pPr>
            <a:r>
              <a:rPr lang="en-US" sz="1800" b="1" dirty="0">
                <a:solidFill>
                  <a:schemeClr val="tx1"/>
                </a:solidFill>
              </a:rPr>
              <a:t>Built by us</a:t>
            </a:r>
            <a:endParaRPr lang="en-US" sz="1800" dirty="0"/>
          </a:p>
        </p:txBody>
      </p:sp>
      <p:sp>
        <p:nvSpPr>
          <p:cNvPr id="11" name="Text 9"/>
          <p:cNvSpPr txBox="1"/>
          <p:nvPr/>
        </p:nvSpPr>
        <p:spPr>
          <a:xfrm>
            <a:off x="6460236" y="2514600"/>
            <a:ext cx="4951476"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Synthetic diagram generator with exact ground truth</a:t>
            </a:r>
            <a:endParaRPr lang="en-US" sz="1600" dirty="0"/>
          </a:p>
          <a:p>
            <a:pPr marL="342900" indent="-342900">
              <a:spcAft>
                <a:spcPts val="800"/>
              </a:spcAft>
              <a:buSzPct val="100000"/>
              <a:buChar char="•"/>
            </a:pPr>
            <a:r>
              <a:rPr lang="en-US" sz="1600" dirty="0">
                <a:solidFill>
                  <a:schemeClr val="tx1"/>
                </a:solidFill>
              </a:rPr>
              <a:t>Stroke-tracing association and arrowhead direction logic</a:t>
            </a:r>
            <a:endParaRPr lang="en-US" sz="1600" dirty="0"/>
          </a:p>
          <a:p>
            <a:pPr marL="342900" indent="-342900">
              <a:spcAft>
                <a:spcPts val="800"/>
              </a:spcAft>
              <a:buSzPct val="100000"/>
              <a:buChar char="•"/>
            </a:pPr>
            <a:r>
              <a:rPr lang="en-US" sz="1600" dirty="0">
                <a:solidFill>
                  <a:schemeClr val="tx1"/>
                </a:solidFill>
              </a:rPr>
              <a:t>Canonical schema, validator and label parser</a:t>
            </a:r>
            <a:endParaRPr lang="en-US" sz="1600" dirty="0"/>
          </a:p>
          <a:p>
            <a:pPr marL="342900" indent="-342900">
              <a:spcAft>
                <a:spcPts val="800"/>
              </a:spcAft>
              <a:buSzPct val="100000"/>
              <a:buChar char="•"/>
            </a:pPr>
            <a:r>
              <a:rPr lang="en-US" sz="1600" dirty="0">
                <a:solidFill>
                  <a:schemeClr val="tx1"/>
                </a:solidFill>
              </a:rPr>
              <a:t>Code generator, reference model and sandboxed conformance tests</a:t>
            </a:r>
            <a:endParaRPr lang="en-US" sz="1600" dirty="0"/>
          </a:p>
          <a:p>
            <a:pPr marL="342900" indent="-342900">
              <a:spcAft>
                <a:spcPts val="800"/>
              </a:spcAft>
              <a:buSzPct val="100000"/>
              <a:buChar char="•"/>
            </a:pPr>
            <a:r>
              <a:rPr lang="en-US" sz="1600" dirty="0">
                <a:solidFill>
                  <a:schemeClr val="tx1"/>
                </a:solidFill>
              </a:rPr>
              <a:t>Evaluation framework, threshold tuner, editor and correction loop</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WRAP-UP</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Live demo, about ten minutes</a:t>
            </a:r>
            <a:endParaRPr lang="en-US" sz="3400" dirty="0"/>
          </a:p>
        </p:txBody>
      </p:sp>
      <p:sp>
        <p:nvSpPr>
          <p:cNvPr id="4" name="Demo item"/>
          <p:cNvSpPr/>
          <p:nvPr/>
        </p:nvSpPr>
        <p:spPr>
          <a:xfrm>
            <a:off x="548640" y="1828800"/>
            <a:ext cx="4206240" cy="731520"/>
          </a:xfrm>
          <a:prstGeom prst="roundRect">
            <a:avLst>
              <a:gd name="adj" fmla="val 10000"/>
            </a:avLst>
          </a:prstGeom>
          <a:solidFill>
            <a:srgbClr val="14232F"/>
          </a:solidFill>
          <a:ln/>
        </p:spPr>
      </p:sp>
      <p:sp>
        <p:nvSpPr>
          <p:cNvPr id="5" name="Text 3"/>
          <p:cNvSpPr txBox="1"/>
          <p:nvPr/>
        </p:nvSpPr>
        <p:spPr>
          <a:xfrm>
            <a:off x="777240" y="1828800"/>
            <a:ext cx="3840480" cy="73152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tcp_handshake.png</a:t>
            </a:r>
            <a:endParaRPr lang="en-US" sz="1600" dirty="0"/>
          </a:p>
        </p:txBody>
      </p:sp>
      <p:sp>
        <p:nvSpPr>
          <p:cNvPr id="6" name="Text 4"/>
          <p:cNvSpPr txBox="1"/>
          <p:nvPr/>
        </p:nvSpPr>
        <p:spPr>
          <a:xfrm>
            <a:off x="5074920" y="1828800"/>
            <a:ext cx="6565392" cy="731520"/>
          </a:xfrm>
          <a:prstGeom prst="rect">
            <a:avLst/>
          </a:prstGeom>
          <a:noFill/>
          <a:ln/>
        </p:spPr>
        <p:txBody>
          <a:bodyPr wrap="square" lIns="0" tIns="0" rIns="0" bIns="0" rtlCol="0" anchor="ctr"/>
          <a:lstStyle/>
          <a:p>
            <a:pPr indent="0" marL="0">
              <a:buNone/>
            </a:pPr>
            <a:r>
              <a:rPr lang="en-US" sz="1700" dirty="0">
                <a:solidFill>
                  <a:schemeClr val="tx1"/>
                </a:solidFill>
              </a:rPr>
              <a:t>Network events, guard, action, retry self-loop, initial and final state</a:t>
            </a:r>
            <a:endParaRPr lang="en-US" sz="1700" dirty="0"/>
          </a:p>
        </p:txBody>
      </p:sp>
      <p:sp>
        <p:nvSpPr>
          <p:cNvPr id="7" name="Demo item"/>
          <p:cNvSpPr/>
          <p:nvPr/>
        </p:nvSpPr>
        <p:spPr>
          <a:xfrm>
            <a:off x="548640" y="2697480"/>
            <a:ext cx="4206240" cy="731520"/>
          </a:xfrm>
          <a:prstGeom prst="roundRect">
            <a:avLst>
              <a:gd name="adj" fmla="val 10000"/>
            </a:avLst>
          </a:prstGeom>
          <a:solidFill>
            <a:srgbClr val="14232F"/>
          </a:solidFill>
          <a:ln/>
        </p:spPr>
      </p:sp>
      <p:sp>
        <p:nvSpPr>
          <p:cNvPr id="8" name="Text 6"/>
          <p:cNvSpPr txBox="1"/>
          <p:nvPr/>
        </p:nvSpPr>
        <p:spPr>
          <a:xfrm>
            <a:off x="777240" y="2697480"/>
            <a:ext cx="3840480" cy="73152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crossing_edges.png</a:t>
            </a:r>
            <a:endParaRPr lang="en-US" sz="1600" dirty="0"/>
          </a:p>
        </p:txBody>
      </p:sp>
      <p:sp>
        <p:nvSpPr>
          <p:cNvPr id="9" name="Text 7"/>
          <p:cNvSpPr txBox="1"/>
          <p:nvPr/>
        </p:nvSpPr>
        <p:spPr>
          <a:xfrm>
            <a:off x="5074920" y="2697480"/>
            <a:ext cx="6565392" cy="731520"/>
          </a:xfrm>
          <a:prstGeom prst="rect">
            <a:avLst/>
          </a:prstGeom>
          <a:noFill/>
          <a:ln/>
        </p:spPr>
        <p:txBody>
          <a:bodyPr wrap="square" lIns="0" tIns="0" rIns="0" bIns="0" rtlCol="0" anchor="ctr"/>
          <a:lstStyle/>
          <a:p>
            <a:pPr indent="0" marL="0">
              <a:buNone/>
            </a:pPr>
            <a:r>
              <a:rPr lang="en-US" sz="1700" dirty="0">
                <a:solidFill>
                  <a:schemeClr val="tx1"/>
                </a:solidFill>
              </a:rPr>
              <a:t>Crossing arrows are not confused</a:t>
            </a:r>
            <a:endParaRPr lang="en-US" sz="1700" dirty="0"/>
          </a:p>
        </p:txBody>
      </p:sp>
      <p:sp>
        <p:nvSpPr>
          <p:cNvPr id="10" name="Demo item"/>
          <p:cNvSpPr/>
          <p:nvPr/>
        </p:nvSpPr>
        <p:spPr>
          <a:xfrm>
            <a:off x="548640" y="3566160"/>
            <a:ext cx="4206240" cy="731520"/>
          </a:xfrm>
          <a:prstGeom prst="roundRect">
            <a:avLst>
              <a:gd name="adj" fmla="val 10000"/>
            </a:avLst>
          </a:prstGeom>
          <a:solidFill>
            <a:srgbClr val="14232F"/>
          </a:solidFill>
          <a:ln/>
        </p:spPr>
      </p:sp>
      <p:sp>
        <p:nvSpPr>
          <p:cNvPr id="11" name="Text 9"/>
          <p:cNvSpPr txBox="1"/>
          <p:nvPr/>
        </p:nvSpPr>
        <p:spPr>
          <a:xfrm>
            <a:off x="777240" y="3566160"/>
            <a:ext cx="3840480" cy="73152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arrow_without_head.png</a:t>
            </a:r>
            <a:endParaRPr lang="en-US" sz="1600" dirty="0"/>
          </a:p>
        </p:txBody>
      </p:sp>
      <p:sp>
        <p:nvSpPr>
          <p:cNvPr id="12" name="Text 10"/>
          <p:cNvSpPr txBox="1"/>
          <p:nvPr/>
        </p:nvSpPr>
        <p:spPr>
          <a:xfrm>
            <a:off x="5074920" y="3566160"/>
            <a:ext cx="6565392" cy="731520"/>
          </a:xfrm>
          <a:prstGeom prst="rect">
            <a:avLst/>
          </a:prstGeom>
          <a:noFill/>
          <a:ln/>
        </p:spPr>
        <p:txBody>
          <a:bodyPr wrap="square" lIns="0" tIns="0" rIns="0" bIns="0" rtlCol="0" anchor="ctr"/>
          <a:lstStyle/>
          <a:p>
            <a:pPr indent="0" marL="0">
              <a:buNone/>
            </a:pPr>
            <a:r>
              <a:rPr lang="en-US" sz="1700" dirty="0">
                <a:solidFill>
                  <a:schemeClr val="tx1"/>
                </a:solidFill>
              </a:rPr>
              <a:t>Unclear direction becomes an amber warning, not a guess</a:t>
            </a:r>
            <a:endParaRPr lang="en-US" sz="1700" dirty="0"/>
          </a:p>
        </p:txBody>
      </p:sp>
      <p:sp>
        <p:nvSpPr>
          <p:cNvPr id="13" name="Demo item"/>
          <p:cNvSpPr/>
          <p:nvPr/>
        </p:nvSpPr>
        <p:spPr>
          <a:xfrm>
            <a:off x="548640" y="4434840"/>
            <a:ext cx="4206240" cy="731520"/>
          </a:xfrm>
          <a:prstGeom prst="roundRect">
            <a:avLst>
              <a:gd name="adj" fmla="val 10000"/>
            </a:avLst>
          </a:prstGeom>
          <a:solidFill>
            <a:srgbClr val="14232F"/>
          </a:solidFill>
          <a:ln/>
        </p:spPr>
      </p:sp>
      <p:sp>
        <p:nvSpPr>
          <p:cNvPr id="14" name="Text 12"/>
          <p:cNvSpPr txBox="1"/>
          <p:nvPr/>
        </p:nvSpPr>
        <p:spPr>
          <a:xfrm>
            <a:off x="777240" y="4434840"/>
            <a:ext cx="3840480" cy="73152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Code tab: Generate and verify</a:t>
            </a:r>
            <a:endParaRPr lang="en-US" sz="1600" dirty="0"/>
          </a:p>
        </p:txBody>
      </p:sp>
      <p:sp>
        <p:nvSpPr>
          <p:cNvPr id="15" name="Text 13"/>
          <p:cNvSpPr txBox="1"/>
          <p:nvPr/>
        </p:nvSpPr>
        <p:spPr>
          <a:xfrm>
            <a:off x="5074920" y="4434840"/>
            <a:ext cx="6565392" cy="731520"/>
          </a:xfrm>
          <a:prstGeom prst="rect">
            <a:avLst/>
          </a:prstGeom>
          <a:noFill/>
          <a:ln/>
        </p:spPr>
        <p:txBody>
          <a:bodyPr wrap="square" lIns="0" tIns="0" rIns="0" bIns="0" rtlCol="0" anchor="ctr"/>
          <a:lstStyle/>
          <a:p>
            <a:pPr indent="0" marL="0">
              <a:buNone/>
            </a:pPr>
            <a:r>
              <a:rPr lang="en-US" sz="1700" dirty="0">
                <a:solidFill>
                  <a:schemeClr val="tx1"/>
                </a:solidFill>
              </a:rPr>
              <a:t>Edit the graph, see the stale badge, regenerate, tests pass</a:t>
            </a:r>
            <a:endParaRPr lang="en-US" sz="1700" dirty="0"/>
          </a:p>
        </p:txBody>
      </p:sp>
      <p:sp>
        <p:nvSpPr>
          <p:cNvPr id="16" name="Demo item"/>
          <p:cNvSpPr/>
          <p:nvPr/>
        </p:nvSpPr>
        <p:spPr>
          <a:xfrm>
            <a:off x="548640" y="5303520"/>
            <a:ext cx="4206240" cy="731520"/>
          </a:xfrm>
          <a:prstGeom prst="roundRect">
            <a:avLst>
              <a:gd name="adj" fmla="val 10000"/>
            </a:avLst>
          </a:prstGeom>
          <a:solidFill>
            <a:srgbClr val="14232F"/>
          </a:solidFill>
          <a:ln/>
        </p:spPr>
      </p:sp>
      <p:sp>
        <p:nvSpPr>
          <p:cNvPr id="17" name="Text 15"/>
          <p:cNvSpPr txBox="1"/>
          <p:nvPr/>
        </p:nvSpPr>
        <p:spPr>
          <a:xfrm>
            <a:off x="777240" y="5303520"/>
            <a:ext cx="3840480" cy="731520"/>
          </a:xfrm>
          <a:prstGeom prst="rect">
            <a:avLst/>
          </a:prstGeom>
          <a:noFill/>
          <a:ln/>
        </p:spPr>
        <p:txBody>
          <a:bodyPr wrap="square" lIns="0" tIns="0" rIns="0" bIns="0" rtlCol="0" anchor="ctr"/>
          <a:lstStyle/>
          <a:p>
            <a:pPr indent="0" marL="0">
              <a:buNone/>
            </a:pPr>
            <a:r>
              <a:rPr lang="en-US" sz="1600" b="1" dirty="0">
                <a:solidFill>
                  <a:schemeClr val="accent6"/>
                </a:solidFill>
                <a:latin typeface="Courier New" pitchFamily="34" charset="0"/>
                <a:ea typeface="Courier New" pitchFamily="34" charset="-122"/>
                <a:cs typeface="Courier New" pitchFamily="34" charset="-120"/>
              </a:rPr>
              <a:t>net_01_photo.jpg</a:t>
            </a:r>
            <a:endParaRPr lang="en-US" sz="1600" dirty="0"/>
          </a:p>
        </p:txBody>
      </p:sp>
      <p:sp>
        <p:nvSpPr>
          <p:cNvPr id="18" name="Text 16"/>
          <p:cNvSpPr txBox="1"/>
          <p:nvPr/>
        </p:nvSpPr>
        <p:spPr>
          <a:xfrm>
            <a:off x="5074920" y="5303520"/>
            <a:ext cx="6565392" cy="731520"/>
          </a:xfrm>
          <a:prstGeom prst="rect">
            <a:avLst/>
          </a:prstGeom>
          <a:noFill/>
          <a:ln/>
        </p:spPr>
        <p:txBody>
          <a:bodyPr wrap="square" lIns="0" tIns="0" rIns="0" bIns="0" rtlCol="0" anchor="ctr"/>
          <a:lstStyle/>
          <a:p>
            <a:pPr indent="0" marL="0">
              <a:buNone/>
            </a:pPr>
            <a:r>
              <a:rPr lang="en-US" sz="1700" dirty="0">
                <a:solidFill>
                  <a:schemeClr val="tx1"/>
                </a:solidFill>
              </a:rPr>
              <a:t>A photo-like image shows the honest limit: names can be misread</a:t>
            </a:r>
            <a:endParaRPr lang="en-US" sz="17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QUESTIONS</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Questions and answers</a:t>
            </a:r>
            <a:endParaRPr lang="en-US" sz="3400" dirty="0"/>
          </a:p>
        </p:txBody>
      </p:sp>
      <p:sp>
        <p:nvSpPr>
          <p:cNvPr id="4" name="Q&amp;A badge"/>
          <p:cNvSpPr/>
          <p:nvPr/>
        </p:nvSpPr>
        <p:spPr>
          <a:xfrm>
            <a:off x="548640" y="2103120"/>
            <a:ext cx="2926080" cy="2926080"/>
          </a:xfrm>
          <a:prstGeom prst="ellipse">
            <a:avLst/>
          </a:prstGeom>
          <a:solidFill>
            <a:srgbClr val="14232F"/>
          </a:solidFill>
          <a:ln/>
        </p:spPr>
      </p:sp>
      <p:sp>
        <p:nvSpPr>
          <p:cNvPr id="5" name="Text 3"/>
          <p:cNvSpPr txBox="1"/>
          <p:nvPr/>
        </p:nvSpPr>
        <p:spPr>
          <a:xfrm>
            <a:off x="548640" y="2103120"/>
            <a:ext cx="2926080" cy="2926080"/>
          </a:xfrm>
          <a:prstGeom prst="rect">
            <a:avLst/>
          </a:prstGeom>
          <a:noFill/>
          <a:ln/>
        </p:spPr>
        <p:txBody>
          <a:bodyPr wrap="square" lIns="0" tIns="0" rIns="0" bIns="0" rtlCol="0" anchor="ctr"/>
          <a:lstStyle/>
          <a:p>
            <a:pPr algn="ctr" indent="0" marL="0">
              <a:buNone/>
            </a:pPr>
            <a:r>
              <a:rPr lang="en-US" sz="4800" b="1" dirty="0">
                <a:solidFill>
                  <a:schemeClr val="accent6"/>
                </a:solidFill>
                <a:latin typeface="+mj-lt" pitchFamily="34" charset="0"/>
                <a:ea typeface="+mj-lt" pitchFamily="34" charset="-122"/>
                <a:cs typeface="+mj-lt" pitchFamily="34" charset="-120"/>
              </a:rPr>
              <a:t>Q&amp;A</a:t>
            </a:r>
            <a:endParaRPr lang="en-US" sz="4800" dirty="0"/>
          </a:p>
        </p:txBody>
      </p:sp>
      <p:sp>
        <p:nvSpPr>
          <p:cNvPr id="6" name="Text 4"/>
          <p:cNvSpPr txBox="1"/>
          <p:nvPr/>
        </p:nvSpPr>
        <p:spPr>
          <a:xfrm>
            <a:off x="4023360" y="1828800"/>
            <a:ext cx="7616952" cy="43891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What do precision, recall and F1 mean for this detector?</a:t>
            </a:r>
            <a:endParaRPr lang="en-US" sz="1600" dirty="0"/>
          </a:p>
          <a:p>
            <a:pPr marL="342900" indent="-342900">
              <a:spcAft>
                <a:spcPts val="500"/>
              </a:spcAft>
              <a:buSzPct val="100000"/>
              <a:buFont typeface="+mj-lt"/>
              <a:buAutoNum type="arabicPeriod" startAt="1"/>
            </a:pPr>
            <a:r>
              <a:rPr lang="en-US" sz="1500" dirty="0">
                <a:solidFill>
                  <a:schemeClr val="tx1"/>
                </a:solidFill>
              </a:rPr>
              <a:t>Why is there a confidence threshold, and why 0.40?</a:t>
            </a:r>
            <a:endParaRPr lang="en-US" sz="1600" dirty="0"/>
          </a:p>
          <a:p>
            <a:pPr marL="342900" indent="-342900">
              <a:spcAft>
                <a:spcPts val="500"/>
              </a:spcAft>
              <a:buSzPct val="100000"/>
              <a:buFont typeface="+mj-lt"/>
              <a:buAutoNum type="arabicPeriod" startAt="1"/>
            </a:pPr>
            <a:r>
              <a:rPr lang="en-US" sz="1500" dirty="0">
                <a:solidFill>
                  <a:schemeClr val="tx1"/>
                </a:solidFill>
              </a:rPr>
              <a:t>What is the difference between mAP@50 and mAP@50-95?</a:t>
            </a:r>
            <a:endParaRPr lang="en-US" sz="1600" dirty="0"/>
          </a:p>
          <a:p>
            <a:pPr marL="342900" indent="-342900">
              <a:spcAft>
                <a:spcPts val="500"/>
              </a:spcAft>
              <a:buSzPct val="100000"/>
              <a:buFont typeface="+mj-lt"/>
              <a:buAutoNum type="arabicPeriod" startAt="1"/>
            </a:pPr>
            <a:r>
              <a:rPr lang="en-US" sz="1500" dirty="0">
                <a:solidFill>
                  <a:schemeClr val="tx1"/>
                </a:solidFill>
              </a:rPr>
              <a:t>Why does a 0.99 detector give a 0.32 graph in the original pipeline?</a:t>
            </a:r>
            <a:endParaRPr lang="en-US" sz="1600" dirty="0"/>
          </a:p>
          <a:p>
            <a:pPr marL="342900" indent="-342900">
              <a:spcAft>
                <a:spcPts val="500"/>
              </a:spcAft>
              <a:buSzPct val="100000"/>
              <a:buFont typeface="+mj-lt"/>
              <a:buAutoNum type="arabicPeriod" startAt="1"/>
            </a:pPr>
            <a:r>
              <a:rPr lang="en-US" sz="1500" dirty="0">
                <a:solidFill>
                  <a:schemeClr val="tx1"/>
                </a:solidFill>
              </a:rPr>
              <a:t>How do precision and recall differ at graph level?</a:t>
            </a:r>
            <a:endParaRPr lang="en-US" sz="1600" dirty="0"/>
          </a:p>
          <a:p>
            <a:pPr marL="342900" indent="-342900">
              <a:spcAft>
                <a:spcPts val="500"/>
              </a:spcAft>
              <a:buSzPct val="100000"/>
              <a:buFont typeface="+mj-lt"/>
              <a:buAutoNum type="arabicPeriod" startAt="1"/>
            </a:pPr>
            <a:r>
              <a:rPr lang="en-US" sz="1500" dirty="0">
                <a:solidFill>
                  <a:schemeClr val="tx1"/>
                </a:solidFill>
              </a:rPr>
              <a:t>Why report the test split and not the validation split?</a:t>
            </a:r>
            <a:endParaRPr lang="en-US" sz="1600" dirty="0"/>
          </a:p>
          <a:p>
            <a:pPr marL="342900" indent="-342900">
              <a:spcAft>
                <a:spcPts val="500"/>
              </a:spcAft>
              <a:buSzPct val="100000"/>
              <a:buFont typeface="+mj-lt"/>
              <a:buAutoNum type="arabicPeriod" startAt="1"/>
            </a:pPr>
            <a:r>
              <a:rPr lang="en-US" sz="1500" dirty="0">
                <a:solidFill>
                  <a:schemeClr val="tx1"/>
                </a:solidFill>
              </a:rPr>
              <a:t>What do the training curves tell us?</a:t>
            </a:r>
            <a:endParaRPr lang="en-US" sz="1600" dirty="0"/>
          </a:p>
          <a:p>
            <a:pPr marL="342900" indent="-342900">
              <a:spcAft>
                <a:spcPts val="500"/>
              </a:spcAft>
              <a:buSzPct val="100000"/>
              <a:buFont typeface="+mj-lt"/>
              <a:buAutoNum type="arabicPeriod" startAt="1"/>
            </a:pPr>
            <a:r>
              <a:rPr lang="en-US" sz="1500" dirty="0">
                <a:solidFill>
                  <a:schemeClr val="tx1"/>
                </a:solidFill>
              </a:rPr>
              <a:t>What does the confusion matrix show?</a:t>
            </a:r>
            <a:endParaRPr lang="en-US" sz="1600" dirty="0"/>
          </a:p>
          <a:p>
            <a:pPr marL="342900" indent="-342900">
              <a:spcAft>
                <a:spcPts val="500"/>
              </a:spcAft>
              <a:buSzPct val="100000"/>
              <a:buFont typeface="+mj-lt"/>
              <a:buAutoNum type="arabicPeriod" startAt="1"/>
            </a:pPr>
            <a:r>
              <a:rPr lang="en-US" sz="1500" dirty="0">
                <a:solidFill>
                  <a:schemeClr val="tx1"/>
                </a:solidFill>
              </a:rPr>
              <a:t>Why is whole-graph accuracy with text only 0.269?</a:t>
            </a:r>
            <a:endParaRPr lang="en-US" sz="1600" dirty="0"/>
          </a:p>
          <a:p>
            <a:pPr marL="342900" indent="-342900">
              <a:spcAft>
                <a:spcPts val="500"/>
              </a:spcAft>
              <a:buSzPct val="100000"/>
              <a:buFont typeface="+mj-lt"/>
              <a:buAutoNum type="arabicPeriod" startAt="1"/>
            </a:pPr>
            <a:r>
              <a:rPr lang="en-US" sz="1500" dirty="0">
                <a:solidFill>
                  <a:schemeClr val="tx1"/>
                </a:solidFill>
              </a:rPr>
              <a:t>How were detections matched to ground truth at graph level?</a:t>
            </a:r>
            <a:endParaRPr lang="en-US" sz="1600" dirty="0"/>
          </a:p>
          <a:p>
            <a:pPr marL="342900" indent="-342900">
              <a:spcAft>
                <a:spcPts val="500"/>
              </a:spcAft>
              <a:buSzPct val="100000"/>
              <a:buFont typeface="+mj-lt"/>
              <a:buAutoNum type="arabicPeriod" startAt="1"/>
            </a:pPr>
            <a:r>
              <a:rPr lang="en-US" sz="1500" dirty="0">
                <a:solidFill>
                  <a:schemeClr val="tx1"/>
                </a:solidFill>
              </a:rPr>
              <a:t>What can these numbers not tell us?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1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do precision, recall and F1 mean for this detector?</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Precision is the share of detections that are real objects: TP / (TP + FP). Recall is the share of real objects that were found: TP / (TP + FN). F1 is their harmonic mean, 2PR / (P + R), which is low if either one is low.</a:t>
            </a:r>
            <a:endParaRPr lang="en-US" sz="1600" dirty="0"/>
          </a:p>
          <a:p>
            <a:pPr indent="0" marL="0">
              <a:spcAft>
                <a:spcPts val="1200"/>
              </a:spcAft>
              <a:buNone/>
            </a:pPr>
            <a:r>
              <a:rPr lang="en-US" sz="1600" dirty="0">
                <a:solidFill>
                  <a:schemeClr val="tx1"/>
                </a:solidFill>
              </a:rPr>
              <a:t>On the test split the detector reaches precision 0.994 and recall 0.987 at the best-F1 threshold. The weakest class for recall is arrowhead at 0.968.</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2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Why is there a confidence threshold, and why 0.40?</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Each detection carries a confidence score. The threshold decides which ones count. Lower thresholds find more objects and admit more false ones. Higher thresholds do the opposite. The curves on the Precision and recall card show this trade-off for every class.</a:t>
            </a:r>
            <a:endParaRPr lang="en-US" sz="1600" dirty="0"/>
          </a:p>
          <a:p>
            <a:pPr indent="0" marL="0">
              <a:spcAft>
                <a:spcPts val="1200"/>
              </a:spcAft>
              <a:buNone/>
            </a:pPr>
            <a:r>
              <a:rPr lang="en-US" sz="1600" dirty="0">
                <a:solidFill>
                  <a:schemeClr val="tx1"/>
                </a:solidFill>
              </a:rPr>
              <a:t>The pipeline uses 0.40. The Best F1 button finds the threshold that maximises the mean F1 across classes, which is 0.63 (F1 0.991) against 0.989 at 0.40. F1 stays between 0.985 and 0.991 from 0.20 to 0.70 and drops sharply between 0.80 and 0.90, so the exact choice matters little on this data.</a:t>
            </a:r>
            <a:endParaRPr lang="en-US" sz="1600" dirty="0"/>
          </a:p>
          <a:p>
            <a:pPr indent="0" marL="0">
              <a:spcAft>
                <a:spcPts val="1200"/>
              </a:spcAft>
              <a:buNone/>
            </a:pPr>
            <a:r>
              <a:rPr lang="en-US" sz="1600" dirty="0">
                <a:solidFill>
                  <a:schemeClr val="tx1"/>
                </a:solidFill>
              </a:rPr>
              <a:t>What a miss costs differs by class. A missed arrowhead makes the arrow direction uncertain, and the system flags that for review instead of guessing. A spurious extra arrow is filtered later by the overlap check in the stroke tracer.</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3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is the difference between mAP@50 and mAP@50-95?</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A detection counts as correct when its box overlaps the label by at least a given intersection over union, IoU = overlap area / union area. mAP@50 uses 0.50. mAP@50-95 averages ten thresholds from 0.50 to 0.95, so it rewards precise box placement.</a:t>
            </a:r>
            <a:endParaRPr lang="en-US" sz="1600" dirty="0"/>
          </a:p>
          <a:p>
            <a:pPr indent="0" marL="0">
              <a:spcAft>
                <a:spcPts val="1200"/>
              </a:spcAft>
              <a:buNone/>
            </a:pPr>
            <a:r>
              <a:rPr lang="en-US" sz="1600" dirty="0">
                <a:solidFill>
                  <a:schemeClr val="tx1"/>
                </a:solidFill>
              </a:rPr>
              <a:t>States and final states score 0.995 on both, because they are large and clean. Arrowheads drop from 0.982 to 0.832, because they are only a few pixels across, so a two-pixel shift already lowers the overlap a lot. Reading from the threshold side: the detector finds the arrowheads, but cannot place their boxes to the pixel.</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4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Why does a 0.99 detector give a 0.32 graph in the original pipeline?</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A box says where an arrow is, not where it starts, ends, or which way it points. The original pipeline linked each arrow end to the nearest state centre. That created fake self-loops, reversed arrows and wrong links when edges cross.</a:t>
            </a:r>
            <a:endParaRPr lang="en-US" sz="1600" dirty="0"/>
          </a:p>
          <a:p>
            <a:pPr indent="0" marL="0">
              <a:spcAft>
                <a:spcPts val="1200"/>
              </a:spcAft>
              <a:buNone/>
            </a:pPr>
            <a:r>
              <a:rPr lang="en-US" sz="1600" dirty="0">
                <a:solidFill>
                  <a:schemeClr val="tx1"/>
                </a:solidFill>
              </a:rPr>
              <a:t>Pipelines A and B share the same detector. Only the linking changed, and transition F1 rose from 0.320 to 0.585. Retraining the detector with arrowhead, initial-marker, final-state and label classes then raised it to 0.928.</a:t>
            </a:r>
            <a:endParaRPr lang="en-US" sz="1600" dirty="0"/>
          </a:p>
          <a:p>
            <a:pPr indent="0" marL="0">
              <a:spcAft>
                <a:spcPts val="1200"/>
              </a:spcAft>
              <a:buNone/>
            </a:pPr>
            <a:r>
              <a:rPr lang="en-US" sz="1600" dirty="0">
                <a:solidFill>
                  <a:schemeClr val="tx1"/>
                </a:solidFill>
              </a:rPr>
              <a:t>The lesson for evaluation: a component metric such as mAP can look saturated while the task metric still has most of its headroom. Measure the task.</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5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How do precision and recall differ at graph level?</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Pipeline A predicted 1,660 transitions for 1,268 real ones, so it over-predicted: precision 0.282, recall 0.370. Pipeline B was cautious and predicted 920: precision 0.696, recall 0.505. Pipeline C predicted 1,212 and got 1,151 right: precision 0.950, recall 0.908.</a:t>
            </a:r>
            <a:endParaRPr lang="en-US" sz="1600" dirty="0"/>
          </a:p>
          <a:p>
            <a:pPr indent="0" marL="0">
              <a:spcAft>
                <a:spcPts val="1200"/>
              </a:spcAft>
              <a:buNone/>
            </a:pPr>
            <a:r>
              <a:rPr lang="en-US" sz="1600" dirty="0">
                <a:solidFill>
                  <a:schemeClr val="tx1"/>
                </a:solidFill>
              </a:rPr>
              <a:t>The stacked bars on the Where the transitions went card show the same story as counts. In C, 36 transitions had the right pair of states but the wrong direction, 81 were missed or linked to the wrong states, and 25 were spurious.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6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Why report the test split and not the validation split?</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The validation split was used during training to decide when to stop and to tune the tracer thresholds (head ratio, direction margin, endpoint tolerance and others). Numbers measured on data that influenced those choices are optimistic. The 360 test diagrams were never used for either.</a:t>
            </a:r>
            <a:endParaRPr lang="en-US" sz="1600" dirty="0"/>
          </a:p>
          <a:p>
            <a:pPr indent="0" marL="0">
              <a:spcAft>
                <a:spcPts val="1200"/>
              </a:spcAft>
              <a:buNone/>
            </a:pPr>
            <a:r>
              <a:rPr lang="en-US" sz="1600" dirty="0">
                <a:solidFill>
                  <a:schemeClr val="tx1"/>
                </a:solidFill>
              </a:rPr>
              <a:t>The training card shows validation metrics per epoch. Those are for monitoring. The headline results come from the test split.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7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do the training curves tell us?</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For the new model, validation loss stays close to training loss and mAP climbs to a plateau, so there is no sign of overfitting. All 60 epochs ran, since the early-stopping patience of 15 epochs never triggered.</a:t>
            </a:r>
            <a:endParaRPr lang="en-US" sz="1600" dirty="0"/>
          </a:p>
          <a:p>
            <a:pPr indent="0" marL="0">
              <a:spcAft>
                <a:spcPts val="1200"/>
              </a:spcAft>
              <a:buNone/>
            </a:pPr>
            <a:r>
              <a:rPr lang="en-US" sz="1600" dirty="0">
                <a:solidFill>
                  <a:schemeClr val="tx1"/>
                </a:solidFill>
              </a:rPr>
              <a:t>The original two-class model starts at precision 0.024 with recall 0.984 in epoch 1: an untrained classifier labels almost everything as an object. It swings (0.663 and 0.377 in epoch 2) before settling. The new model starts from a better place, at 0.901 and 0.927, and is above 0.95 by epoch 3.</a:t>
            </a:r>
            <a:endParaRPr lang="en-US" sz="1600" dirty="0"/>
          </a:p>
          <a:p>
            <a:pPr indent="0" marL="0">
              <a:spcAft>
                <a:spcPts val="1200"/>
              </a:spcAft>
              <a:buNone/>
            </a:pPr>
            <a:r>
              <a:rPr lang="en-US" sz="1600" dirty="0">
                <a:solidFill>
                  <a:schemeClr val="tx1"/>
                </a:solidFill>
              </a:rPr>
              <a:t>The original model ran on a different machine, so its training times are not comparable to the new model's.</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8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does the confusion matrix show?</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It is nearly diagonal. The few errors make sense for line drawings: 14 initial markers were called arrows (both are short arrows), 9 arrows were called arrowheads, and 17 arrowheads and 4 arrows were missed.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9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Why is whole-graph accuracy with text only 0.269?</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That metric needs every state name, label, event and guard to be exact, on every transition of the diagram. A single wrong character fails the diagram. Structure alone, ignoring text, is right for 0.719 of diagrams.</a:t>
            </a:r>
            <a:endParaRPr lang="en-US" sz="1600" dirty="0"/>
          </a:p>
          <a:p>
            <a:pPr indent="0" marL="0">
              <a:spcAft>
                <a:spcPts val="1200"/>
              </a:spcAft>
              <a:buNone/>
            </a:pPr>
            <a:r>
              <a:rPr lang="en-US" sz="1600" dirty="0">
                <a:solidFill>
                  <a:schemeClr val="tx1"/>
                </a:solidFill>
              </a:rPr>
              <a:t>Text reading is the weakest stage. State names have a character error rate of 0.052. Transition labels are 0.228, because they are small, sit on or next to lines, and contain symbols such as brackets and slashes. That is why the editor flags uncertain text and lets a person correct it.</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10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How were detections matched to ground truth at graph level?</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Predicted states are paired with true states by box IoU of at least 0.5, using the Hungarian algorithm for the best one-to-one pairing. IDs are not used, because they only record detection order. Transitions are then compared through that pairing, and metrics are summed over all 360 diagrams before dividing (micro-averaged).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indent="0" marL="0">
              <a:buNone/>
            </a:pPr>
            <a:r>
              <a:rPr lang="en-US" sz="1300" b="1" spc="200" kern="0" dirty="0">
                <a:solidFill>
                  <a:schemeClr val="accent1"/>
                </a:solidFill>
              </a:rPr>
              <a:t>QUESTION 11 OF 11</a:t>
            </a:r>
            <a:endParaRPr lang="en-US" sz="1300" dirty="0"/>
          </a:p>
        </p:txBody>
      </p:sp>
      <p:sp>
        <p:nvSpPr>
          <p:cNvPr id="3" name="Text 0"/>
          <p:cNvSpPr/>
          <p:nvPr>
            <p:ph idx="101" type="title" hasCustomPrompt="1"/>
          </p:nvPr>
        </p:nvSpPr>
        <p:spPr>
          <a:xfrm>
            <a:off x="548640" y="685800"/>
            <a:ext cx="11091672" cy="1051560"/>
          </a:xfrm>
          <a:prstGeom prst="rect">
            <a:avLst/>
          </a:prstGeom>
          <a:noFill/>
          <a:ln/>
        </p:spPr>
        <p:txBody>
          <a:bodyPr wrap="square" lIns="0" tIns="0" rIns="0" bIns="0" rtlCol="0" anchor="t"/>
          <a:lstStyle/>
          <a:p>
            <a:pPr indent="0" marL="0">
              <a:buNone/>
            </a:pPr>
            <a:r>
              <a:rPr lang="en-US" sz="3400" b="1" dirty="0">
                <a:solidFill>
                  <a:schemeClr val="tx1"/>
                </a:solidFill>
              </a:rPr>
              <a:t>What can these numbers not tell us?</a:t>
            </a:r>
            <a:endParaRPr lang="en-US" sz="3400" dirty="0"/>
          </a:p>
        </p:txBody>
      </p:sp>
      <p:sp>
        <p:nvSpPr>
          <p:cNvPr id="4" name="Text 2"/>
          <p:cNvSpPr txBox="1"/>
          <p:nvPr/>
        </p:nvSpPr>
        <p:spPr>
          <a:xfrm>
            <a:off x="548640" y="1920240"/>
            <a:ext cx="11091672" cy="42976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Training and test images come from the same synthetic generator. The test split measures generalisation to new random diagrams, not to a new kind of image. Photos, hand drawing and unusual styles are not measured here, and the OCR stage is the one expected to degrade most.</a:t>
            </a:r>
            <a:endParaRPr lang="en-US" sz="1600" dirty="0"/>
          </a:p>
          <a:p>
            <a:pPr indent="0" marL="0">
              <a:spcAft>
                <a:spcPts val="1200"/>
              </a:spcAft>
              <a:buNone/>
            </a:pPr>
            <a:r>
              <a:rPr lang="en-US" sz="1600" dirty="0">
                <a:solidFill>
                  <a:schemeClr val="tx1"/>
                </a:solidFill>
              </a:rPr>
              <a:t>The correction loop in the editor is designed to collect real examples. No real corrections have been trained on yet, so no improvement from it is claimed.</a:t>
            </a:r>
            <a:endParaRPr lang="en-US" sz="1600" dirty="0"/>
          </a:p>
        </p:txBody>
      </p:sp>
      <p:sp>
        <p:nvSpPr>
          <p:cNvPr id="25" name="Slide Number Placeholder 0"/>
          <p:cNvSpPr>
            <a:spLocks noGrp="1"/>
          </p:cNvSpPr>
          <p:nvPr>
            <p:ph type="sldNum" sz="quarter" idx="4294967295"/>
          </p:nvPr>
        </p:nvSpPr>
        <p:spPr>
          <a:xfrm>
            <a:off x="11000232" y="6419088"/>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State Diagram to Code">
  <a:themeElements>
    <a:clrScheme name="State Diagram to Code">
      <a:dk1>
        <a:srgbClr val="0B0B0B"/>
      </a:dk1>
      <a:lt1>
        <a:srgbClr val="FFFFFF"/>
      </a:lt1>
      <a:dk2>
        <a:srgbClr val="14232F"/>
      </a:dk2>
      <a:lt2>
        <a:srgbClr val="F1F4F6"/>
      </a:lt2>
      <a:accent1>
        <a:srgbClr val="2A78D6"/>
      </a:accent1>
      <a:accent2>
        <a:srgbClr val="EB6834"/>
      </a:accent2>
      <a:accent3>
        <a:srgbClr val="1BAF7A"/>
      </a:accent3>
      <a:accent4>
        <a:srgbClr val="EDA100"/>
      </a:accent4>
      <a:accent5>
        <a:srgbClr val="E87BA4"/>
      </a:accent5>
      <a:accent6>
        <a:srgbClr val="5FD0C9"/>
      </a:accent6>
      <a:hlink>
        <a:srgbClr val="2A78D6"/>
      </a:hlink>
      <a:folHlink>
        <a:srgbClr val="52514E"/>
      </a:folHlink>
    </a:clrScheme>
    <a:fontScheme name="State Diagram to Co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State Diagram to Code</dc:title>
  <dc:subject>PptxGenJS Presentation</dc:subject>
  <dc:creator>statetocode</dc:creator>
  <cp:lastModifiedBy>statetocode</cp:lastModifiedBy>
  <cp:revision>1</cp:revision>
  <dcterms:created xsi:type="dcterms:W3CDTF">2026-10-15T10:59:56Z</dcterms:created>
  <dcterms:modified xsi:type="dcterms:W3CDTF">2026-10-15T10:59:56Z</dcterms:modified>
</cp:coreProperties>
</file>